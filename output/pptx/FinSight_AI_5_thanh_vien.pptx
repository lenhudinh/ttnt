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c41c045e484f77" /><Relationship Type="http://schemas.openxmlformats.org/officeDocument/2006/relationships/extended-properties" Target="/docProps/app.xml" Id="R06c79672033b4f26" /><Relationship Type="http://schemas.openxmlformats.org/officeDocument/2006/relationships/officeDocument" Target="/ppt/presentation.xml" Id="R1bca01c31b3846ea" /></Relationships>
</file>

<file path=ppt/presentation.xml><?xml version="1.0" encoding="utf-8"?>
<p:presentation xmlns:p="http://schemas.openxmlformats.org/presentationml/2006/main">
  <p:sldMasterIdLst>
    <p:sldMasterId xmlns:r="http://schemas.openxmlformats.org/officeDocument/2006/relationships" id="2147483648" r:id="Rb2d8347247724cb8"/>
  </p:sldMasterIdLst>
  <p:notesMasterIdLst>
    <p:notesMasterId xmlns:r="http://schemas.openxmlformats.org/officeDocument/2006/relationships" r:id="Rd876939724704f37"/>
  </p:notesMasterIdLst>
  <p:sldIdLst>
    <p:sldId xmlns:r="http://schemas.openxmlformats.org/officeDocument/2006/relationships" id="256" r:id="Re60df46604e04ad5"/>
    <p:sldId xmlns:r="http://schemas.openxmlformats.org/officeDocument/2006/relationships" id="257" r:id="R117ca8aef71f4194"/>
    <p:sldId xmlns:r="http://schemas.openxmlformats.org/officeDocument/2006/relationships" id="258" r:id="Rd16c51a4071140e2"/>
    <p:sldId xmlns:r="http://schemas.openxmlformats.org/officeDocument/2006/relationships" id="259" r:id="R2e4f68b04beb4267"/>
    <p:sldId xmlns:r="http://schemas.openxmlformats.org/officeDocument/2006/relationships" id="260" r:id="R71af63fe574a42a7"/>
    <p:sldId xmlns:r="http://schemas.openxmlformats.org/officeDocument/2006/relationships" id="261" r:id="R61615afacb834174"/>
    <p:sldId xmlns:r="http://schemas.openxmlformats.org/officeDocument/2006/relationships" id="262" r:id="R23410e4c09aa4f6c"/>
    <p:sldId xmlns:r="http://schemas.openxmlformats.org/officeDocument/2006/relationships" id="263" r:id="Rbadcc9b3dfb0415a"/>
    <p:sldId xmlns:r="http://schemas.openxmlformats.org/officeDocument/2006/relationships" id="264" r:id="R940647b21d344f2d"/>
    <p:sldId xmlns:r="http://schemas.openxmlformats.org/officeDocument/2006/relationships" id="265" r:id="R020f1e573fa24ab6"/>
    <p:sldId xmlns:r="http://schemas.openxmlformats.org/officeDocument/2006/relationships" id="266" r:id="Rdd831fc01ec24fcc"/>
    <p:sldId xmlns:r="http://schemas.openxmlformats.org/officeDocument/2006/relationships" id="267" r:id="Rcd886ae0167548a2"/>
    <p:sldId xmlns:r="http://schemas.openxmlformats.org/officeDocument/2006/relationships" id="268" r:id="Rd281def919424356"/>
    <p:sldId xmlns:r="http://schemas.openxmlformats.org/officeDocument/2006/relationships" id="269" r:id="R517c6665db594560"/>
    <p:sldId xmlns:r="http://schemas.openxmlformats.org/officeDocument/2006/relationships" id="270" r:id="Rbedb2bfff7e445b1"/>
    <p:sldId xmlns:r="http://schemas.openxmlformats.org/officeDocument/2006/relationships" id="271" r:id="Rdece961dc28942e9"/>
    <p:sldId xmlns:r="http://schemas.openxmlformats.org/officeDocument/2006/relationships" id="272" r:id="Rf1a969b40f934f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8f65b21caa437f" /><Relationship Type="http://schemas.openxmlformats.org/officeDocument/2006/relationships/slideMaster" Target="/ppt/slideMasters/slideMaster1.xml" Id="Rb2d8347247724cb8" /><Relationship Type="http://schemas.openxmlformats.org/officeDocument/2006/relationships/notesMaster" Target="/ppt/notesMasters/notesMaster1.xml" Id="Rd876939724704f37" /><Relationship Type="http://schemas.openxmlformats.org/officeDocument/2006/relationships/presProps" Target="/ppt/presProps.xml" Id="R77aaaf6cce7949c2" /><Relationship Type="http://schemas.openxmlformats.org/officeDocument/2006/relationships/tableStyles" Target="/ppt/tableStyles.xml" Id="R157cdce7ac714c13" /><Relationship Type="http://schemas.openxmlformats.org/officeDocument/2006/relationships/slide" Target="/ppt/slides/slide1.xml" Id="Re60df46604e04ad5" /><Relationship Type="http://schemas.openxmlformats.org/officeDocument/2006/relationships/slide" Target="/ppt/slides/slide2.xml" Id="R117ca8aef71f4194" /><Relationship Type="http://schemas.openxmlformats.org/officeDocument/2006/relationships/slide" Target="/ppt/slides/slide3.xml" Id="Rd16c51a4071140e2" /><Relationship Type="http://schemas.openxmlformats.org/officeDocument/2006/relationships/slide" Target="/ppt/slides/slide4.xml" Id="R2e4f68b04beb4267" /><Relationship Type="http://schemas.openxmlformats.org/officeDocument/2006/relationships/slide" Target="/ppt/slides/slide5.xml" Id="R71af63fe574a42a7" /><Relationship Type="http://schemas.openxmlformats.org/officeDocument/2006/relationships/slide" Target="/ppt/slides/slide6.xml" Id="R61615afacb834174" /><Relationship Type="http://schemas.openxmlformats.org/officeDocument/2006/relationships/slide" Target="/ppt/slides/slide7.xml" Id="R23410e4c09aa4f6c" /><Relationship Type="http://schemas.openxmlformats.org/officeDocument/2006/relationships/slide" Target="/ppt/slides/slide8.xml" Id="Rbadcc9b3dfb0415a" /><Relationship Type="http://schemas.openxmlformats.org/officeDocument/2006/relationships/slide" Target="/ppt/slides/slide9.xml" Id="R940647b21d344f2d" /><Relationship Type="http://schemas.openxmlformats.org/officeDocument/2006/relationships/slide" Target="/ppt/slides/slide10.xml" Id="R020f1e573fa24ab6" /><Relationship Type="http://schemas.openxmlformats.org/officeDocument/2006/relationships/slide" Target="/ppt/slides/slide11.xml" Id="Rdd831fc01ec24fcc" /><Relationship Type="http://schemas.openxmlformats.org/officeDocument/2006/relationships/slide" Target="/ppt/slides/slide12.xml" Id="Rcd886ae0167548a2" /><Relationship Type="http://schemas.openxmlformats.org/officeDocument/2006/relationships/slide" Target="/ppt/slides/slide13.xml" Id="Rd281def919424356" /><Relationship Type="http://schemas.openxmlformats.org/officeDocument/2006/relationships/slide" Target="/ppt/slides/slide14.xml" Id="R517c6665db594560" /><Relationship Type="http://schemas.openxmlformats.org/officeDocument/2006/relationships/slide" Target="/ppt/slides/slide15.xml" Id="Rbedb2bfff7e445b1" /><Relationship Type="http://schemas.openxmlformats.org/officeDocument/2006/relationships/slide" Target="/ppt/slides/slide16.xml" Id="Rdece961dc28942e9" /><Relationship Type="http://schemas.openxmlformats.org/officeDocument/2006/relationships/slide" Target="/ppt/slides/slide17.xml" Id="Rf1a969b40f934f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ed0816efa542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e06d0758364db3" /><Relationship Type="http://schemas.openxmlformats.org/officeDocument/2006/relationships/notesMaster" Target="/ppt/notesMasters/notesMaster1.xml" Id="Rc9e3536d33d843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3bfbe3a0b9427f" /><Relationship Type="http://schemas.openxmlformats.org/officeDocument/2006/relationships/notesMaster" Target="/ppt/notesMasters/notesMaster1.xml" Id="R45289c1f15cb43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7385e784ad4310" /><Relationship Type="http://schemas.openxmlformats.org/officeDocument/2006/relationships/notesMaster" Target="/ppt/notesMasters/notesMaster1.xml" Id="Rbf493e5c8ae042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611fb2e84e4d63" /><Relationship Type="http://schemas.openxmlformats.org/officeDocument/2006/relationships/notesMaster" Target="/ppt/notesMasters/notesMaster1.xml" Id="R314f2f87b8c949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6c6d4e048b43b3" /><Relationship Type="http://schemas.openxmlformats.org/officeDocument/2006/relationships/notesMaster" Target="/ppt/notesMasters/notesMaster1.xml" Id="R5d6f760df95e43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b09aaf5b0740a8" /><Relationship Type="http://schemas.openxmlformats.org/officeDocument/2006/relationships/notesMaster" Target="/ppt/notesMasters/notesMaster1.xml" Id="Rec985891644743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b90d74376e4086" /><Relationship Type="http://schemas.openxmlformats.org/officeDocument/2006/relationships/notesMaster" Target="/ppt/notesMasters/notesMaster1.xml" Id="Rb2b9f4175b694a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e90bff1e654e27" /><Relationship Type="http://schemas.openxmlformats.org/officeDocument/2006/relationships/notesMaster" Target="/ppt/notesMasters/notesMaster1.xml" Id="R5afcc5eeeb1642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8ae29bc5184283" /><Relationship Type="http://schemas.openxmlformats.org/officeDocument/2006/relationships/notesMaster" Target="/ppt/notesMasters/notesMaster1.xml" Id="R97d6125162194b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fa6c2896734d9b" /><Relationship Type="http://schemas.openxmlformats.org/officeDocument/2006/relationships/notesMaster" Target="/ppt/notesMasters/notesMaster1.xml" Id="Rb5bff69720994b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406550ec504270" /><Relationship Type="http://schemas.openxmlformats.org/officeDocument/2006/relationships/notesMaster" Target="/ppt/notesMasters/notesMaster1.xml" Id="R1cfced75f7a14b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5ea4489bdc49e2" /><Relationship Type="http://schemas.openxmlformats.org/officeDocument/2006/relationships/notesMaster" Target="/ppt/notesMasters/notesMaster1.xml" Id="R46fc4a54c05444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8e5327f0a64280" /><Relationship Type="http://schemas.openxmlformats.org/officeDocument/2006/relationships/notesMaster" Target="/ppt/notesMasters/notesMaster1.xml" Id="R7bac5f4ec77f42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7c65e6c5704c9a" /><Relationship Type="http://schemas.openxmlformats.org/officeDocument/2006/relationships/notesMaster" Target="/ppt/notesMasters/notesMaster1.xml" Id="Rade55b2a592a42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b67ec3b29c4969" /><Relationship Type="http://schemas.openxmlformats.org/officeDocument/2006/relationships/notesMaster" Target="/ppt/notesMasters/notesMaster1.xml" Id="Red4567d5481243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69434942a940e2" /><Relationship Type="http://schemas.openxmlformats.org/officeDocument/2006/relationships/notesMaster" Target="/ppt/notesMasters/notesMaster1.xml" Id="Raa09d5edab7a41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ef820adaa9416d" /><Relationship Type="http://schemas.openxmlformats.org/officeDocument/2006/relationships/notesMaster" Target="/ppt/notesMasters/notesMaster1.xml" Id="Rd74cf7ef66b749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Lê Như Đỉnh giới thiệu đề tài FinSight AI và mục tiêu hỗ trợ quản lý tài chính cá nhân. Đây là nguyên mẫu local phục vụ học tập. GVHD ThS. Nguyễn Đỗ Công Pháp. Nguồn nội bộ: README.md, docs/ARCHITECTURE.md, docs/DATABASE_DESIGN.md, docs/AI_MODEL_REPORT.md, docs/AI_CHAT.md, docs/TEST_RESULTS.md. Kết quả kiểm chứng 11/10/2026. Ảnh thật docs/test-results/dashboard-dark.png với tài khoản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tên vàMSSV từ ảnh do người dùng cung cấp. GVHDThS.NguyễnĐỗCôngPháp theo thôngtin người dùng xác nhận. Đây làslidegiới thiệu nhóm chung,ngoài3slide của mỗi thành viên.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các thao tác người dùng: nhiều ví, thu chi và chuyển ví, ngân sách, mục tiêu tiết kiệm, nhập CSV và xuất Excel/PDF. Dashboard tổng hợp theo kỳ, hiển thị dự báo và cảnh báo. Nguồn nội bộ: README.md, docs/ARCHITECTURE.md, docs/DATABASE_DESIGN.md, docs/AI_MODEL_REPORT.md, docs/AI_CHAT.md, docs/TEST_RESULTS.md. Kết quả kiểm chứng 11/10/2026. Ảnh docs/test-results/dashboard-1440.png.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tạo ví, ghi thu chi, đặt ngân sách và xem phân tích. Ảnh kiểm thử có ít giao dịch nên chưa đủ lịch sử dự báo. Cold start cần60ngày và30giao dịch chi. Nguồn nội bộ: README.md, docs/ARCHITECTURE.md, docs/DATABASE_DESIGN.md, docs/AI_MODEL_REPORT.md, docs/AI_CHAT.md, docs/TEST_RESULTS.md. Kết quả kiểm chứng 11/10/2026. Ảnh docs/test-results/dashboard-empty-desktop.png.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Nguyễn Đức Trí trình bày trách nhiệm từng lớp. React gọi Backend. Spring Boot phân quyền và quản lý nghiệp vụ, lưu dữ liệu MariaDB XAMPP. FastAPI phục vụ các mô hình ML và điều phối chat Ollama Qwen3. Frontend không gọi trực tiếp AI. Nguồn nội bộ: README.md, docs/ARCHITECTURE.md, docs/DATABASE_DESIGN.md, docs/AI_MODEL_REPORT.md, docs/AI_CHAT.md, docs/TEST_RESULTS.md. Kết quả kiểm chứng 11/10/2026. Hình minh họa tạo bằng Imagegen, prompt được lưu trong .cache/finsight-slides/assets.json.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finsight trên MariaDB XAMPP10.4.28 gồm21 bảng:16 bảng ban đầu,4 chat vàFlyway. DECIMAL19,2 và BigDecimal giữ số tiền chính xác. Transaction và khóa người dùng/ví bảo vệ cập nhật số dư. CSV lỗi rollback cả file. Owner lấy từ session. Nguồn nội bộ: README.md, docs/ARCHITECTURE.md, docs/DATABASE_DESIGN.md, docs/AI_MODEL_REPORT.md, docs/AI_CHAT.md, docs/TEST_RESULTS.md. Kết quả kiểm chứng 11/10/2026. Ảnh thật docs/test-results/dashboard-1024.png cắt vùng giao dịch và ngân sách.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cookie HttpOnly và CSRF bảo vệ thao tác ghi. Backend lấy owner từ phiên. Transaction và khóa user/ví ngăn mất cập nhật.2CSV đồng thời mỗi200dòng tạo400giao dịch, số dư4600từ5000. Nguồn nội bộ: README.md, docs/ARCHITECTURE.md, docs/DATABASE_DESIGN.md, docs/AI_MODEL_REPORT.md, docs/AI_CHAT.md, docs/TEST_RESULTS.md. Kết quả kiểm chứng 11/10/2026. Nguồn docs/test-results/xampp-csv-concurrency.json vàdocs/DATABASE_DESIGN.md. Số dư là dữ liệu ca kiểm thử.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Trần Minh Nhật mô tả dữ liệu tổng hợp20 tài khoản×365 ngày. Train tài khoản0–11, validation12–15, test16–19; dự báo còn tách theo thời gian. Validation quyết định mô hình, test đánh giá sau khi chọn. Huấn luyện offline, checksum và kích hoạt phiên bản rõ ràng, giữ bản cũ rollback. Nguồn nội bộ: README.md, docs/ARCHITECTURE.md, docs/DATABASE_DESIGN.md, docs/AI_MODEL_REPORT.md, docs/AI_CHAT.md, docs/TEST_RESULTS.md. Kết quả kiểm chứng 11/10/2026. Hình minh họa không phải ảnh dataset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 Forest100 cây độ sâu5 được chọn theo validationMAE. Đặc trưng lùi1/7/14/30 và trung bình7/30, lịch, khoản định kỳ. Đánh giá đệ quy30 ngày trên dữ liệu tổng hợp. MAE146242.47đ/ngày, XGBoost159906.23, movingaverage275038.86. Lỗi mỗi ngày không phải accuracy hoặc sai số tổng tháng. Nguồn nội bộ: README.md, docs/ARCHITECTURE.md, docs/DATABASE_DESIGN.md, docs/AI_MODEL_REPORT.md, docs/AI_CHAT.md, docs/TEST_RESULTS.md. Kết quả kiểm chứng 11/10/2026. Hình cây là minh họa nguyên lý. Biểu đồ native dùng các MAE thực đo chia1000.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chuỗi held-out30ngày trongforecast-backtest.png của model-d76481fea9c7. Đường chi tiêu tổng hợp và recursiveforecast. Môhình bỏ sótpeakngày28. Đây là ví dụ một chuỗi, không phải đường tổng hợp toàn tậptest. Nguồn nội bộ: README.md, docs/ARCHITECTURE.md, docs/DATABASE_DESIGN.md, docs/AI_MODEL_REPORT.md, docs/AI_CHAT.md, docs/TEST_RESULTS.md. Kết quả kiểm chứng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Lý Tú Nguyên giải thích điểm khác biệt thường được cô lập qua ít phép chia.200 cây, đặc trưng số tiền/thời gian/danh mục/lịch sử trước giao dịch. Precision0.5, recall0.6042,F10.5472,FPR0.0065. Score không phải xác suất. Một nửa cảnh báo test là báo nhầm, cần xác nhận. Nguồn nội bộ: README.md, docs/ARCHITECTURE.md, docs/DATABASE_DESIGN.md, docs/AI_MODEL_REPORT.md, docs/AI_CHAT.md, docs/TEST_RESULTS.md. Kết quả kiểm chứng 11/10/2026. Hình là minh họa nguyên lý, không phải dữ liệu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TF-IDF từ và bigram chuyển mô tả thành vector, LogisticRegression chọn8 nhóm.320 câu biên soạn chia192/64/64. Accuracy0.890625 và Macro-F10.893417 trên64câu riêng. C=1, từ vựng chỉ fittrain. Gợi ý cần người dùng duyệt, khôngtựlưu, từvựnglạtrảUNKNOWN. Nguồn nội bộ: README.md, docs/ARCHITECTURE.md, docs/DATABASE_DESIGN.md, docs/AI_MODEL_REPORT.md, docs/AI_CHAT.md, docs/TEST_RESULTS.md. Kết quả kiểm chứng 11/10/2026. Hình minh họa đa lớp được sửa bỏ công thức sigmoid nhị phân.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từ confusionmatrix64 câu test trongdocs/AI_MODEL_REPORT.md. Đường chéo8,8,8,7,6,7,6,7 trên8mẫu mỗi nhóm. Một lỗi giảm12.5điểmphầntrăm recall của nhóm. Chưa chứng minh hiệu quả trên corpus thực. Nguồn nội bộ: README.md, docs/ARCHITECTURE.md, docs/DATABASE_DESIGN.md, docs/AI_MODEL_REPORT.md, docs/AI_CHAT.md, docs/TEST_RESULTS.md. Kết quả kiểm chứng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Nguyễn Tùng Lâm trình bày chatprivate từng tài khoản. Backend tạo snapshot đúng quyền và kỳ. FastAPI kiểm tra factreferences và điền số liệuverified trước Backendlưu. Qwen3:1.7b pretrainedOllamalocal chưa fine-tune. Chat chỉ đọc và tư vấn,khôngghi tiền. Retry/cancel/feedbackhội thoạiriêng. Nguồn nội bộ: README.md, docs/ARCHITECTURE.md, docs/DATABASE_DESIGN.md, docs/AI_MODEL_REPORT.md, docs/AI_CHAT.md, docs/TEST_RESULTS.md. Kết quả kiểm chứng 11/10/2026. Ảnh thật docs/test-results/chat-desktop-light.png.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Câu hỏi minh họa từ ChromeE2E: tháng này chi nhiều nhất đâu? Tài khoản test ăn uống250000đ trong10/2026. Backend lấy snapshot đúng owner, FastAPI verifier kiểm tra fact và thay số,UIshownguồn/feedback/kỳ. Đây là số liệu demo, không phải dữ liệu người dùng hiện tại. Nguồn nội bộ: README.md, docs/ARCHITECTURE.md, docs/DATABASE_DESIGN.md, docs/AI_MODEL_REPORT.md, docs/AI_CHAT.md, docs/TEST_RESULTS.md. Kết quả kiểm chứng 11/10/2026. Ảnh docs/test-results/chat-desktop-dark.png.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Tổng76 ca đạt:29Backend13Frontend34Python.1workflowChromekhôngcộngvào76. Chat5widths. Giới hạn dữ liệu tổng hợp,corpusnhỏ,LLM chưa finetunechưabenchmarktưvấn. Kếhoạch thêmdatađượcđồngý,corpusViệtvàđánhgiáchấtlượngchat. Nguồn nội bộ: README.md, docs/ARCHITECTURE.md, docs/DATABASE_DESIGN.md, docs/AI_MODEL_REPORT.md, docs/AI_CHAT.md, docs/TEST_RESULTS.md. Kết quả kiểm chứng 11/10/2026. Ảnh thật docs/test-results/chat-mobile-light.png.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cảm ơn chung của nhóm để kết thúc và tiếp nhận câu hỏi.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a6651089445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884e6ce2e846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cc45ae15f849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2cade8433d42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2cbae956544d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b6e7a7d26645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19AADE-7049-4E2F-92BE-C98634435F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107053-D890-484A-A192-89423593C1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ED2F22-E217-4C12-97C3-6E206A84E9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806CFA-74F0-4BC9-A249-F399D88E00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E17636-4EAE-4A51-AFDD-B864F207D7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9EFA76-9A48-4A2D-9E53-1CA49940CB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1F24B3-FD66-48E4-AA77-0D5242642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944340-F726-4664-BCF3-04DCE34C5DD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210755-A9A2-44C1-907C-BD17EAF98F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FDBE86-C7AA-4167-8780-72C481DA1F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1d653d39d64f20" /><Relationship Type="http://schemas.openxmlformats.org/officeDocument/2006/relationships/slideLayout" Target="/ppt/slideLayouts/slideLayout1.xml" Id="Rf89cb0c93a764fc9" /><Relationship Type="http://schemas.openxmlformats.org/officeDocument/2006/relationships/slideLayout" Target="/ppt/slideLayouts/slideLayout2.xml" Id="Rc116c09b113040b3" /><Relationship Type="http://schemas.openxmlformats.org/officeDocument/2006/relationships/slideLayout" Target="/ppt/slideLayouts/slideLayout3.xml" Id="Rab9be1aba82e49d1" /><Relationship Type="http://schemas.openxmlformats.org/officeDocument/2006/relationships/slideLayout" Target="/ppt/slideLayouts/slideLayout4.xml" Id="Rf404d8355c034a82" /><Relationship Type="http://schemas.openxmlformats.org/officeDocument/2006/relationships/slideLayout" Target="/ppt/slideLayouts/slideLayout5.xml" Id="Re48c0a80815f4f36" /><Relationship Type="http://schemas.openxmlformats.org/officeDocument/2006/relationships/slideLayout" Target="/ppt/slideLayouts/slideLayout6.xml" Id="R0b42ebf847584c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9cb0c93a764fc9"/>
    <p:sldLayoutId xmlns:r="http://schemas.openxmlformats.org/officeDocument/2006/relationships" id="2147483650" r:id="Rc116c09b113040b3"/>
    <p:sldLayoutId xmlns:r="http://schemas.openxmlformats.org/officeDocument/2006/relationships" id="2147483651" r:id="Rab9be1aba82e49d1"/>
    <p:sldLayoutId xmlns:r="http://schemas.openxmlformats.org/officeDocument/2006/relationships" id="2147483652" r:id="Rf404d8355c034a82"/>
    <p:sldLayoutId xmlns:r="http://schemas.openxmlformats.org/officeDocument/2006/relationships" id="2147483653" r:id="Re48c0a80815f4f36"/>
    <p:sldLayoutId xmlns:r="http://schemas.openxmlformats.org/officeDocument/2006/relationships" id="2147483654" r:id="R0b42ebf847584c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3eed991cf24897" /><Relationship Type="http://schemas.openxmlformats.org/officeDocument/2006/relationships/image" Target="/ppt/media/image.png" Id="Rebc5e25da4e84c6d" /><Relationship Type="http://schemas.openxmlformats.org/officeDocument/2006/relationships/notesSlide" Target="/ppt/notesSlides/notesSlide1.xml" Id="Rfe70c0b4167648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22a7b463c042b7" /><Relationship Type="http://schemas.openxmlformats.org/officeDocument/2006/relationships/notesSlide" Target="/ppt/notesSlides/notesSlide2.xml" Id="R1f40fa64f8da4f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42b9f14a1c4125" /><Relationship Type="http://schemas.openxmlformats.org/officeDocument/2006/relationships/image" Target="/ppt/media/image2.png" Id="Rf0cd524f0f5b48a8" /><Relationship Type="http://schemas.openxmlformats.org/officeDocument/2006/relationships/notesSlide" Target="/ppt/notesSlides/notesSlide3.xml" Id="R734c4696bb7342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ca55b9489e040e8" /><Relationship Type="http://schemas.openxmlformats.org/officeDocument/2006/relationships/image" Target="/ppt/media/image3.png" Id="Raf030d72d4b44cd3" /><Relationship Type="http://schemas.openxmlformats.org/officeDocument/2006/relationships/notesSlide" Target="/ppt/notesSlides/notesSlide4.xml" Id="R01dfa3070a2446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2fa7d327fd4206" /><Relationship Type="http://schemas.openxmlformats.org/officeDocument/2006/relationships/image" Target="/ppt/media/image4.png" Id="R448783fee0f94956" /><Relationship Type="http://schemas.openxmlformats.org/officeDocument/2006/relationships/notesSlide" Target="/ppt/notesSlides/notesSlide5.xml" Id="Rc4585bdf083744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cba1a2b9e942d6" /><Relationship Type="http://schemas.openxmlformats.org/officeDocument/2006/relationships/image" Target="/ppt/media/image5.png" Id="Rbd5a300c8d3840fb" /><Relationship Type="http://schemas.openxmlformats.org/officeDocument/2006/relationships/notesSlide" Target="/ppt/notesSlides/notesSlide6.xml" Id="R298217b9559f4a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84854b68c44e3a" /><Relationship Type="http://schemas.openxmlformats.org/officeDocument/2006/relationships/chart" Target="/ppt/slides/charts/chart1.xml" Id="R5f48d98669cd4374" /><Relationship Type="http://schemas.openxmlformats.org/officeDocument/2006/relationships/notesSlide" Target="/ppt/notesSlides/notesSlide7.xml" Id="R6f21f34600c748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d04a20f1f94180" /><Relationship Type="http://schemas.openxmlformats.org/officeDocument/2006/relationships/image" Target="/ppt/media/image6.png" Id="R5b8440ee09514776" /><Relationship Type="http://schemas.openxmlformats.org/officeDocument/2006/relationships/notesSlide" Target="/ppt/notesSlides/notesSlide8.xml" Id="R35fc19d593114d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c99ef3a1a942b1" /><Relationship Type="http://schemas.openxmlformats.org/officeDocument/2006/relationships/image" Target="/ppt/media/image7.png" Id="R03c56e8d08f14100" /><Relationship Type="http://schemas.openxmlformats.org/officeDocument/2006/relationships/chart" Target="/ppt/slides/charts/chart2.xml" Id="Rb65ef1f0ff854b41" /><Relationship Type="http://schemas.openxmlformats.org/officeDocument/2006/relationships/notesSlide" Target="/ppt/notesSlides/notesSlide9.xml" Id="Rbda95c16e9394f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0235e411144960" /><Relationship Type="http://schemas.openxmlformats.org/officeDocument/2006/relationships/image" Target="/ppt/media/image8.png" Id="R0c15896e2f50436c" /><Relationship Type="http://schemas.openxmlformats.org/officeDocument/2006/relationships/notesSlide" Target="/ppt/notesSlides/notesSlide10.xml" Id="Rb7279cc6422542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8a774d07ac4df5" /><Relationship Type="http://schemas.openxmlformats.org/officeDocument/2006/relationships/image" Target="/ppt/media/image9.png" Id="Re299e169333649d2" /><Relationship Type="http://schemas.openxmlformats.org/officeDocument/2006/relationships/notesSlide" Target="/ppt/notesSlides/notesSlide11.xml" Id="R51eefc3ec6a34f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b44e88dec6e47d5" /><Relationship Type="http://schemas.openxmlformats.org/officeDocument/2006/relationships/image" Target="/ppt/media/image10.png" Id="Rbbda4ffeabfb45ec" /><Relationship Type="http://schemas.openxmlformats.org/officeDocument/2006/relationships/notesSlide" Target="/ppt/notesSlides/notesSlide12.xml" Id="R641f6725d66740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0aa870f6d84667" /><Relationship Type="http://schemas.openxmlformats.org/officeDocument/2006/relationships/chart" Target="/ppt/slides/charts/chart3.xml" Id="Rc12f2ac16ec2400a" /><Relationship Type="http://schemas.openxmlformats.org/officeDocument/2006/relationships/notesSlide" Target="/ppt/notesSlides/notesSlide13.xml" Id="Rb892a381799d44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2243a1aa0574064" /><Relationship Type="http://schemas.openxmlformats.org/officeDocument/2006/relationships/image" Target="/ppt/media/image11.png" Id="Rf091e45a0fd240bd" /><Relationship Type="http://schemas.openxmlformats.org/officeDocument/2006/relationships/notesSlide" Target="/ppt/notesSlides/notesSlide14.xml" Id="R0a31bd7b04154d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1c7bd6124ab4fcb" /><Relationship Type="http://schemas.openxmlformats.org/officeDocument/2006/relationships/image" Target="/ppt/media/image12.png" Id="R85e678ce86314f2c" /><Relationship Type="http://schemas.openxmlformats.org/officeDocument/2006/relationships/notesSlide" Target="/ppt/notesSlides/notesSlide15.xml" Id="Ref4c30f662b148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3f4c1c51f504231" /><Relationship Type="http://schemas.openxmlformats.org/officeDocument/2006/relationships/chart" Target="/ppt/slides/charts/chart4.xml" Id="R6ddbdae81a294364" /><Relationship Type="http://schemas.openxmlformats.org/officeDocument/2006/relationships/image" Target="/ppt/media/image13.png" Id="Ra0f42fbc778b4554" /><Relationship Type="http://schemas.openxmlformats.org/officeDocument/2006/relationships/notesSlide" Target="/ppt/notesSlides/notesSlide16.xml" Id="R23bddfb4a2074d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4881dc263954fb3" /><Relationship Type="http://schemas.openxmlformats.org/officeDocument/2006/relationships/notesSlide" Target="/ppt/notesSlides/notesSlide17.xml" Id="Rfef025cc5bce432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Số dư</c:v>
          </c:tx>
          <c:spPr>
            <a:solidFill xmlns:a="http://schemas.openxmlformats.org/drawingml/2006/main">
              <a:srgbClr val="008A63"/>
            </a:solidFill>
          </c:spPr>
          <c:invertIfNegative val="0"/>
          <c:dPt>
            <c:idx val="0"/>
            <c:invertIfNegative val="0"/>
            <c:spPr>
              <a:solidFill xmlns:a="http://schemas.openxmlformats.org/drawingml/2006/main">
                <a:srgbClr val="BCCBC5"/>
              </a:solidFill>
            </c:spPr>
          </c:dPt>
          <c:cat>
            <c:strRef>
              <c:f>'Chart Data'!$A$2:$A$3</c:f>
              <c:strCache>
                <c:ptCount val="2"/>
                <c:pt idx="0">
                  <c:v>Trước nhập</c:v>
                </c:pt>
                <c:pt idx="1">
                  <c:v>Sau nhập</c:v>
                </c:pt>
              </c:strCache>
            </c:strRef>
          </c:cat>
          <c:val>
            <c:numRef>
              <c:f>'Chart Data'!$B$2:$B$3</c:f>
              <c:numCache>
                <c:formatCode>General</c:formatCode>
                <c:ptCount val="2"/>
                <c:pt idx="0">
                  <c:v>5000</c:v>
                </c:pt>
                <c:pt idx="1">
                  <c:v>4600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092B3D"/>
                  </a:solidFill>
                  <a:latin typeface="Arial"/>
                  <a:ea typeface="Arial"/>
                  <a:cs typeface="Arial"/>
                </a:defRPr>
              </a:pPr>
            </a:p>
          </c:txPr>
          <c:dLblPos val="outEnd"/>
          <c:showLegendKey val="0"/>
          <c:showVal val="1"/>
          <c:showCatName val="0"/>
          <c:showSerName val="0"/>
          <c:showPercent val="0"/>
          <c:showBubbleSize val="0"/>
          <c:showLeaderLines val="0"/>
        </c:dLbls>
        <c:gapWidth val="13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092B3D"/>
                </a:solidFill>
                <a:latin typeface="Arial"/>
                <a:ea typeface="Arial"/>
                <a:cs typeface="Arial"/>
              </a:defRPr>
            </a:pPr>
          </a:p>
        </c:txPr>
        <c:crossAx val="48672768"/>
      </c:catAx>
      <c:valAx>
        <c:axId val="48672768"/>
        <c:scaling>
          <c:orientation val="minMax"/>
          <c:max val="6000"/>
          <c:min val="0"/>
        </c:scaling>
        <c:delete val="1"/>
        <c:axPos val="l"/>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MAE</c:v>
          </c:tx>
          <c:spPr>
            <a:solidFill xmlns:a="http://schemas.openxmlformats.org/drawingml/2006/main">
              <a:srgbClr val="008A63"/>
            </a:solidFill>
          </c:spPr>
          <c:invertIfNegative val="0"/>
          <c:dPt>
            <c:idx val="1"/>
            <c:invertIfNegative val="0"/>
            <c:spPr>
              <a:solidFill xmlns:a="http://schemas.openxmlformats.org/drawingml/2006/main">
                <a:srgbClr val="79BDA4"/>
              </a:solidFill>
            </c:spPr>
          </c:dPt>
          <c:dPt>
            <c:idx val="2"/>
            <c:invertIfNegative val="0"/>
            <c:spPr>
              <a:solidFill xmlns:a="http://schemas.openxmlformats.org/drawingml/2006/main">
                <a:srgbClr val="BCCBC5"/>
              </a:solidFill>
            </c:spPr>
          </c:dPt>
          <c:cat>
            <c:strRef>
              <c:f>'Chart Data'!$A$2:$A$4</c:f>
              <c:strCache>
                <c:ptCount val="3"/>
                <c:pt idx="0">
                  <c:v>Random Forest</c:v>
                </c:pt>
                <c:pt idx="1">
                  <c:v>XGBoost</c:v>
                </c:pt>
                <c:pt idx="2">
                  <c:v>Trung bình trượt</c:v>
                </c:pt>
              </c:strCache>
            </c:strRef>
          </c:cat>
          <c:val>
            <c:numRef>
              <c:f>'Chart Data'!$B$2:$B$4</c:f>
              <c:numCache>
                <c:formatCode>General</c:formatCode>
                <c:ptCount val="3"/>
                <c:pt idx="0">
                  <c:v>146.24</c:v>
                </c:pt>
                <c:pt idx="1">
                  <c:v>159.91</c:v>
                </c:pt>
                <c:pt idx="2">
                  <c:v>275.04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92B3D"/>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092B3D"/>
                </a:solidFill>
                <a:latin typeface="Arial"/>
                <a:ea typeface="Arial"/>
                <a:cs typeface="Arial"/>
              </a:defRPr>
            </a:pPr>
          </a:p>
        </c:txPr>
        <c:crossAx val="48672768"/>
      </c:catAx>
      <c:valAx>
        <c:axId val="48672768"/>
        <c:scaling>
          <c:orientation val="minMax"/>
          <c:max val="320"/>
          <c:min val="0"/>
        </c:scaling>
        <c:delete val="1"/>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Recall</c:v>
          </c:tx>
          <c:spPr>
            <a:solidFill xmlns:a="http://schemas.openxmlformats.org/drawingml/2006/main">
              <a:srgbClr val="008A63"/>
            </a:solidFill>
          </c:spPr>
          <c:invertIfNegative val="0"/>
          <c:dPt>
            <c:idx val="4"/>
            <c:invertIfNegative val="0"/>
            <c:spPr>
              <a:solidFill xmlns:a="http://schemas.openxmlformats.org/drawingml/2006/main">
                <a:srgbClr val="C88771"/>
              </a:solidFill>
            </c:spPr>
          </c:dPt>
          <c:dPt>
            <c:idx val="6"/>
            <c:invertIfNegative val="0"/>
            <c:spPr>
              <a:solidFill xmlns:a="http://schemas.openxmlformats.org/drawingml/2006/main">
                <a:srgbClr val="C88771"/>
              </a:solidFill>
            </c:spPr>
          </c:dPt>
          <c:cat>
            <c:strRef>
              <c:f>'Chart Data'!$A$2:$A$9</c:f>
              <c:strCache>
                <c:ptCount val="8"/>
                <c:pt idx="0">
                  <c:v>Giải trí</c:v>
                </c:pt>
                <c:pt idx="1">
                  <c:v>Hóa đơn</c:v>
                </c:pt>
                <c:pt idx="2">
                  <c:v>Học tập</c:v>
                </c:pt>
                <c:pt idx="3">
                  <c:v>Mua sắm</c:v>
                </c:pt>
                <c:pt idx="4">
                  <c:v>Nhà ở</c:v>
                </c:pt>
                <c:pt idx="5">
                  <c:v>Sức khỏe</c:v>
                </c:pt>
                <c:pt idx="6">
                  <c:v>Ăn uống</c:v>
                </c:pt>
                <c:pt idx="7">
                  <c:v>Đi lại</c:v>
                </c:pt>
              </c:strCache>
            </c:strRef>
          </c:cat>
          <c:val>
            <c:numRef>
              <c:f>'Chart Data'!$B$2:$B$9</c:f>
              <c:numCache>
                <c:formatCode>General</c:formatCode>
                <c:ptCount val="8"/>
                <c:pt idx="0">
                  <c:v>100</c:v>
                </c:pt>
                <c:pt idx="1">
                  <c:v>100</c:v>
                </c:pt>
                <c:pt idx="2">
                  <c:v>100</c:v>
                </c:pt>
                <c:pt idx="3">
                  <c:v>87.5</c:v>
                </c:pt>
                <c:pt idx="4">
                  <c:v>75</c:v>
                </c:pt>
                <c:pt idx="5">
                  <c:v>87.5</c:v>
                </c:pt>
                <c:pt idx="6">
                  <c:v>75</c:v>
                </c:pt>
                <c:pt idx="7">
                  <c:v>87.5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092B3D"/>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092B3D"/>
                </a:solidFill>
                <a:latin typeface="Arial"/>
                <a:ea typeface="Arial"/>
                <a:cs typeface="Arial"/>
              </a:defRPr>
            </a:pPr>
          </a:p>
        </c:txPr>
        <c:crossAx val="48672768"/>
      </c:catAx>
      <c:valAx>
        <c:axId val="48672768"/>
        <c:scaling>
          <c:orientation val="minMax"/>
          <c:max val="120"/>
          <c:min val="0"/>
        </c:scaling>
        <c:delete val="1"/>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Số ca đạt</c:v>
          </c:tx>
          <c:spPr>
            <a:solidFill xmlns:a="http://schemas.openxmlformats.org/drawingml/2006/main">
              <a:srgbClr val="52D5A1"/>
            </a:solidFill>
          </c:spPr>
          <c:invertIfNegative val="0"/>
          <c:cat>
            <c:strRef>
              <c:f>'Chart Data'!$A$2:$A$4</c:f>
              <c:strCache>
                <c:ptCount val="3"/>
                <c:pt idx="0">
                  <c:v>Backend</c:v>
                </c:pt>
                <c:pt idx="1">
                  <c:v>Frontend</c:v>
                </c:pt>
                <c:pt idx="2">
                  <c:v>Python</c:v>
                </c:pt>
              </c:strCache>
            </c:strRef>
          </c:cat>
          <c:val>
            <c:numRef>
              <c:f>'Chart Data'!$B$2:$B$4</c:f>
              <c:numCache>
                <c:formatCode>General</c:formatCode>
                <c:ptCount val="3"/>
                <c:pt idx="0">
                  <c:v>29</c:v>
                </c:pt>
                <c:pt idx="1">
                  <c:v>13</c:v>
                </c:pt>
                <c:pt idx="2">
                  <c:v>34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FFFFFF"/>
                </a:solidFill>
                <a:latin typeface="Arial"/>
                <a:ea typeface="Arial"/>
                <a:cs typeface="Arial"/>
              </a:defRPr>
            </a:pPr>
          </a:p>
        </c:txPr>
        <c:crossAx val="48672768"/>
      </c:catAx>
      <c:valAx>
        <c:axId val="48672768"/>
        <c:scaling>
          <c:orientation val="minMax"/>
          <c:max val="40"/>
          <c:min val="0"/>
        </c:scaling>
        <c:delete val="1"/>
        <c:axPos val="l"/>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072E37"/>
        </a:solidFill>
      </c:spPr>
    </c:plotArea>
    <c:plotVisOnly val="1"/>
  </c:chart>
  <c:spPr>
    <a:solidFill xmlns:a="http://schemas.openxmlformats.org/drawingml/2006/main">
      <a:srgbClr val="072E3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2E37"/>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DBCE52F7-1C1B-457B-9C7B-AEA6EBCA0686}"/>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FE7DA"/>
                </a:solidFill>
                <a:latin typeface="Arial"/>
                <a:ea typeface="Arial"/>
                <a:cs typeface="Arial"/>
              </a:defRPr>
            </a:defPPr>
          </a:lstStyle>
          <a:p xmlns:a="http://schemas.openxmlformats.org/drawingml/2006/main">
            <a:pPr algn="l">
              <a:defRPr sz="1500" b="0">
                <a:solidFill>
                  <a:srgbClr val="BFE7DA"/>
                </a:solidFill>
                <a:latin typeface="Arial"/>
                <a:ea typeface="Arial"/>
                <a:cs typeface="Arial"/>
              </a:defRPr>
            </a:pPr>
            <a:r>
              <a:rPr sz="1500" b="0">
                <a:solidFill>
                  <a:srgbClr val="BFE7DA"/>
                </a:solidFill>
                <a:latin typeface="Arial"/>
                <a:ea typeface="Arial"/>
                <a:cs typeface="Arial"/>
              </a:rPr>
              <a:t>Lê Như Đỉnh (24ITE125)</a:t>
            </a:r>
          </a:p>
        </p:txBody>
      </p:sp>
      <p:sp>
        <p:nvSpPr>
          <p:cNvPr id="2" name="text-2">
            <a:extLst xmlns:a="http://schemas.openxmlformats.org/drawingml/2006/main">
              <a:ext uri="{FF2B5EF4-FFF2-40B4-BE49-F238E27FC236}">
                <a16:creationId xmlns:a16="http://schemas.microsoft.com/office/drawing/2014/main" id="{DAB95187-B262-429D-9CC1-9B32E0796F30}"/>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FE7DA"/>
                </a:solidFill>
                <a:latin typeface="Arial"/>
                <a:ea typeface="Arial"/>
                <a:cs typeface="Arial"/>
              </a:defRPr>
            </a:defPPr>
          </a:lstStyle>
          <a:p xmlns:a="http://schemas.openxmlformats.org/drawingml/2006/main">
            <a:pPr algn="r">
              <a:defRPr sz="1500" b="0">
                <a:solidFill>
                  <a:srgbClr val="BFE7DA"/>
                </a:solidFill>
                <a:latin typeface="Arial"/>
                <a:ea typeface="Arial"/>
                <a:cs typeface="Arial"/>
              </a:defRPr>
            </a:pPr>
            <a:r>
              <a:rPr sz="1500" b="0">
                <a:solidFill>
                  <a:srgbClr val="BFE7DA"/>
                </a:solidFill>
                <a:latin typeface="Arial"/>
                <a:ea typeface="Arial"/>
                <a:cs typeface="Arial"/>
              </a:rPr>
              <a:t>01 / 17</a:t>
            </a:r>
          </a:p>
        </p:txBody>
      </p:sp>
      <p:sp>
        <p:nvSpPr>
          <p:cNvPr id="3" name="text-3">
            <a:extLst xmlns:a="http://schemas.openxmlformats.org/drawingml/2006/main">
              <a:ext uri="{FF2B5EF4-FFF2-40B4-BE49-F238E27FC236}">
                <a16:creationId xmlns:a16="http://schemas.microsoft.com/office/drawing/2014/main" id="{1ACE6E3C-A02C-4A33-B029-1CD8B5D760D3}"/>
              </a:ext>
            </a:extLst>
          </p:cNvPr>
          <p:cNvSpPr>
            <a:spLocks xmlns:a="http://schemas.openxmlformats.org/drawingml/2006/main" noGrp="1"/>
          </p:cNvSpPr>
          <p:nvPr/>
        </p:nvSpPr>
        <p:spPr>
          <a:xfrm xmlns:a="http://schemas.openxmlformats.org/drawingml/2006/main">
            <a:off x="609600" y="857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2D5A1"/>
                </a:solidFill>
                <a:latin typeface="Arial"/>
                <a:ea typeface="Arial"/>
                <a:cs typeface="Arial"/>
              </a:defRPr>
            </a:defPPr>
          </a:lstStyle>
          <a:p xmlns:a="http://schemas.openxmlformats.org/drawingml/2006/main">
            <a:pPr algn="l">
              <a:defRPr sz="1650" b="1">
                <a:solidFill>
                  <a:srgbClr val="52D5A1"/>
                </a:solidFill>
                <a:latin typeface="Arial"/>
                <a:ea typeface="Arial"/>
                <a:cs typeface="Arial"/>
              </a:defRPr>
            </a:pPr>
            <a:r>
              <a:rPr sz="1650" b="1">
                <a:solidFill>
                  <a:srgbClr val="52D5A1"/>
                </a:solidFill>
                <a:latin typeface="Arial"/>
                <a:ea typeface="Arial"/>
                <a:cs typeface="Arial"/>
              </a:rPr>
              <a:t>ĐỒ ÁN CƠ SỞ 2</a:t>
            </a:r>
          </a:p>
        </p:txBody>
      </p:sp>
      <p:sp>
        <p:nvSpPr>
          <p:cNvPr id="4" name="text-4">
            <a:extLst xmlns:a="http://schemas.openxmlformats.org/drawingml/2006/main">
              <a:ext uri="{FF2B5EF4-FFF2-40B4-BE49-F238E27FC236}">
                <a16:creationId xmlns:a16="http://schemas.microsoft.com/office/drawing/2014/main" id="{B167C6D1-071D-4724-B091-BA930EFBB498}"/>
              </a:ext>
            </a:extLst>
          </p:cNvPr>
          <p:cNvSpPr>
            <a:spLocks xmlns:a="http://schemas.openxmlformats.org/drawingml/2006/main" noGrp="1"/>
          </p:cNvSpPr>
          <p:nvPr/>
        </p:nvSpPr>
        <p:spPr>
          <a:xfrm xmlns:a="http://schemas.openxmlformats.org/drawingml/2006/main">
            <a:off x="609600" y="1581150"/>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FinSight AI</a:t>
            </a:r>
          </a:p>
        </p:txBody>
      </p:sp>
      <p:sp>
        <p:nvSpPr>
          <p:cNvPr id="5" name="text-5">
            <a:extLst xmlns:a="http://schemas.openxmlformats.org/drawingml/2006/main">
              <a:ext uri="{FF2B5EF4-FFF2-40B4-BE49-F238E27FC236}">
                <a16:creationId xmlns:a16="http://schemas.microsoft.com/office/drawing/2014/main" id="{6A57EC8C-D324-4BD6-8F18-DD4A439BD893}"/>
              </a:ext>
            </a:extLst>
          </p:cNvPr>
          <p:cNvSpPr>
            <a:spLocks xmlns:a="http://schemas.openxmlformats.org/drawingml/2006/main" noGrp="1"/>
          </p:cNvSpPr>
          <p:nvPr/>
        </p:nvSpPr>
        <p:spPr>
          <a:xfrm xmlns:a="http://schemas.openxmlformats.org/drawingml/2006/main">
            <a:off x="609600" y="27336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Arial"/>
                <a:ea typeface="Arial"/>
                <a:cs typeface="Arial"/>
              </a:defRPr>
            </a:defPPr>
          </a:lstStyle>
          <a:p xmlns:a="http://schemas.openxmlformats.org/drawingml/2006/main">
            <a:pPr algn="l">
              <a:defRPr sz="2925" b="1">
                <a:solidFill>
                  <a:srgbClr val="FFFFFF"/>
                </a:solidFill>
                <a:latin typeface="Arial"/>
                <a:ea typeface="Arial"/>
                <a:cs typeface="Arial"/>
              </a:defRPr>
            </a:pPr>
            <a:r>
              <a:rPr sz="2925" b="1">
                <a:solidFill>
                  <a:srgbClr val="FFFFFF"/>
                </a:solidFill>
                <a:latin typeface="Arial"/>
                <a:ea typeface="Arial"/>
                <a:cs typeface="Arial"/>
              </a:rPr>
              <a:t>Quản lý tài chính</a:t>
            </a:r>
          </a:p>
          <a:p xmlns:a="http://schemas.openxmlformats.org/drawingml/2006/main">
            <a:pPr algn="l">
              <a:defRPr sz="2925" b="1">
                <a:solidFill>
                  <a:srgbClr val="FFFFFF"/>
                </a:solidFill>
                <a:latin typeface="Arial"/>
                <a:ea typeface="Arial"/>
                <a:cs typeface="Arial"/>
              </a:defRPr>
            </a:pPr>
            <a:r>
              <a:rPr sz="2925" b="1">
                <a:solidFill>
                  <a:srgbClr val="FFFFFF"/>
                </a:solidFill>
                <a:latin typeface="Arial"/>
                <a:ea typeface="Arial"/>
                <a:cs typeface="Arial"/>
              </a:rPr>
              <a:t>cá nhân với AI</a:t>
            </a:r>
          </a:p>
        </p:txBody>
      </p:sp>
      <p:sp>
        <p:nvSpPr>
          <p:cNvPr id="6" name="text-6">
            <a:extLst xmlns:a="http://schemas.openxmlformats.org/drawingml/2006/main">
              <a:ext uri="{FF2B5EF4-FFF2-40B4-BE49-F238E27FC236}">
                <a16:creationId xmlns:a16="http://schemas.microsoft.com/office/drawing/2014/main" id="{50E40A19-EB07-4267-937D-512142C2AADF}"/>
              </a:ext>
            </a:extLst>
          </p:cNvPr>
          <p:cNvSpPr>
            <a:spLocks xmlns:a="http://schemas.openxmlformats.org/drawingml/2006/main" noGrp="1"/>
          </p:cNvSpPr>
          <p:nvPr/>
        </p:nvSpPr>
        <p:spPr>
          <a:xfrm xmlns:a="http://schemas.openxmlformats.org/drawingml/2006/main">
            <a:off x="609600" y="4305300"/>
            <a:ext cx="4524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CE5DD"/>
                </a:solidFill>
                <a:latin typeface="Arial"/>
                <a:ea typeface="Arial"/>
                <a:cs typeface="Arial"/>
              </a:defRPr>
            </a:defPPr>
          </a:lstStyle>
          <a:p xmlns:a="http://schemas.openxmlformats.org/drawingml/2006/main">
            <a:pPr algn="l">
              <a:defRPr sz="1875" b="0">
                <a:solidFill>
                  <a:srgbClr val="CCE5DD"/>
                </a:solidFill>
                <a:latin typeface="Arial"/>
                <a:ea typeface="Arial"/>
                <a:cs typeface="Arial"/>
              </a:defRPr>
            </a:pPr>
            <a:r>
              <a:rPr sz="1875" b="0">
                <a:solidFill>
                  <a:srgbClr val="CCE5DD"/>
                </a:solidFill>
                <a:latin typeface="Arial"/>
                <a:ea typeface="Arial"/>
                <a:cs typeface="Arial"/>
              </a:rPr>
              <a:t>Ứng dụng web và các mô hình</a:t>
            </a:r>
          </a:p>
          <a:p xmlns:a="http://schemas.openxmlformats.org/drawingml/2006/main">
            <a:pPr algn="l">
              <a:defRPr sz="1875" b="0">
                <a:solidFill>
                  <a:srgbClr val="CCE5DD"/>
                </a:solidFill>
                <a:latin typeface="Arial"/>
                <a:ea typeface="Arial"/>
                <a:cs typeface="Arial"/>
              </a:defRPr>
            </a:pPr>
            <a:r>
              <a:rPr sz="1875" b="0">
                <a:solidFill>
                  <a:srgbClr val="CCE5DD"/>
                </a:solidFill>
                <a:latin typeface="Arial"/>
                <a:ea typeface="Arial"/>
                <a:cs typeface="Arial"/>
              </a:rPr>
              <a:t>phân tích chi tiêu</a:t>
            </a:r>
          </a:p>
        </p:txBody>
      </p:sp>
      <p:sp>
        <p:nvSpPr>
          <p:cNvPr id="7" name="text-7">
            <a:extLst xmlns:a="http://schemas.openxmlformats.org/drawingml/2006/main">
              <a:ext uri="{FF2B5EF4-FFF2-40B4-BE49-F238E27FC236}">
                <a16:creationId xmlns:a16="http://schemas.microsoft.com/office/drawing/2014/main" id="{7C2C47B4-BD1B-4932-B4E8-0404A76E8A39}"/>
              </a:ext>
            </a:extLst>
          </p:cNvPr>
          <p:cNvSpPr>
            <a:spLocks xmlns:a="http://schemas.openxmlformats.org/drawingml/2006/main" noGrp="1"/>
          </p:cNvSpPr>
          <p:nvPr/>
        </p:nvSpPr>
        <p:spPr>
          <a:xfrm xmlns:a="http://schemas.openxmlformats.org/drawingml/2006/main">
            <a:off x="609600" y="5553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CE5DD"/>
                </a:solidFill>
                <a:latin typeface="Arial"/>
                <a:ea typeface="Arial"/>
                <a:cs typeface="Arial"/>
              </a:defRPr>
            </a:defPPr>
          </a:lstStyle>
          <a:p xmlns:a="http://schemas.openxmlformats.org/drawingml/2006/main">
            <a:pPr algn="l">
              <a:defRPr sz="1800" b="0">
                <a:solidFill>
                  <a:srgbClr val="CCE5DD"/>
                </a:solidFill>
                <a:latin typeface="Arial"/>
                <a:ea typeface="Arial"/>
                <a:cs typeface="Arial"/>
              </a:defRPr>
            </a:pPr>
            <a:r>
              <a:rPr sz="1800" b="0">
                <a:solidFill>
                  <a:srgbClr val="CCE5DD"/>
                </a:solidFill>
                <a:latin typeface="Arial"/>
                <a:ea typeface="Arial"/>
                <a:cs typeface="Arial"/>
              </a:rPr>
              <a:t>GVHD ThS. Nguyễn Đỗ Công Pháp</a:t>
            </a:r>
          </a:p>
        </p:txBody>
      </p:sp>
      <p:pic>
        <p:nvPicPr>
          <p:cNvPr id="8" name="">
            <a:extLst xmlns:a="http://schemas.openxmlformats.org/drawingml/2006/main">
              <a:ext uri="{FF2B5EF4-FFF2-40B4-BE49-F238E27FC236}">
                <a16:creationId xmlns:a16="http://schemas.microsoft.com/office/drawing/2014/main" id="{5EEFEC90-BE43-4336-BED5-E267D059195E}"/>
              </a:ext>
            </a:extLst>
          </p:cNvPr>
          <p:cNvPicPr>
            <a:picLocks xmlns:a="http://schemas.openxmlformats.org/drawingml/2006/main" noChangeAspect="1"/>
          </p:cNvPicPr>
          <p:nvPr/>
        </p:nvPicPr>
        <p:blipFill>
          <a:blip xmlns:r="http://schemas.openxmlformats.org/officeDocument/2006/relationships" xmlns:a="http://schemas.openxmlformats.org/drawingml/2006/main" r:embed="Rebc5e25da4e84c6d"/>
          <a:srcRect xmlns:a="http://schemas.openxmlformats.org/drawingml/2006/main" l="13500" t="4500" r="500" b="45000"/>
          <a:stretch xmlns:a="http://schemas.openxmlformats.org/drawingml/2006/main"/>
        </p:blipFill>
        <p:spPr>
          <a:xfrm xmlns:a="http://schemas.openxmlformats.org/drawingml/2006/main">
            <a:off x="5429250" y="1476375"/>
            <a:ext cx="6153150" cy="3810000"/>
          </a:xfrm>
          <a:prstGeom xmlns:a="http://schemas.openxmlformats.org/drawingml/2006/main" prst="rect">
            <a:avLst/>
          </a:prstGeom>
        </p:spPr>
      </p:pic>
    </p:spTree>
    <p:extLst>
      <p:ext uri="{BB962C8B-B14F-4D97-AF65-F5344CB8AC3E}">
        <p14:creationId xmlns:p14="http://schemas.microsoft.com/office/powerpoint/2010/main" val="5638775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8">
            <a:extLst xmlns:a="http://schemas.openxmlformats.org/drawingml/2006/main">
              <a:ext uri="{FF2B5EF4-FFF2-40B4-BE49-F238E27FC236}">
                <a16:creationId xmlns:a16="http://schemas.microsoft.com/office/drawing/2014/main" id="{58A9F910-1C2E-4558-B116-1B03B112EA4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Thành viên thực hiện</a:t>
            </a:r>
          </a:p>
        </p:txBody>
      </p:sp>
      <p:sp>
        <p:nvSpPr>
          <p:cNvPr id="2" name="text-9">
            <a:extLst xmlns:a="http://schemas.openxmlformats.org/drawingml/2006/main">
              <a:ext uri="{FF2B5EF4-FFF2-40B4-BE49-F238E27FC236}">
                <a16:creationId xmlns:a16="http://schemas.microsoft.com/office/drawing/2014/main" id="{2B27F947-13A2-4CF7-814D-0311EF026833}"/>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Nhóm thực hiện FinSight AI</a:t>
            </a:r>
          </a:p>
        </p:txBody>
      </p:sp>
      <p:sp>
        <p:nvSpPr>
          <p:cNvPr id="3" name="text-10">
            <a:extLst xmlns:a="http://schemas.openxmlformats.org/drawingml/2006/main">
              <a:ext uri="{FF2B5EF4-FFF2-40B4-BE49-F238E27FC236}">
                <a16:creationId xmlns:a16="http://schemas.microsoft.com/office/drawing/2014/main" id="{508A3340-3747-4802-8F43-B431629A59D6}"/>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02 / 17</a:t>
            </a:r>
          </a:p>
        </p:txBody>
      </p:sp>
      <p:sp>
        <p:nvSpPr>
          <p:cNvPr id="4" name="text-11">
            <a:extLst xmlns:a="http://schemas.openxmlformats.org/drawingml/2006/main">
              <a:ext uri="{FF2B5EF4-FFF2-40B4-BE49-F238E27FC236}">
                <a16:creationId xmlns:a16="http://schemas.microsoft.com/office/drawing/2014/main" id="{476C775D-E363-4DAE-8A41-1352826783CC}"/>
              </a:ext>
            </a:extLst>
          </p:cNvPr>
          <p:cNvSpPr>
            <a:spLocks xmlns:a="http://schemas.openxmlformats.org/drawingml/2006/main" noGrp="1"/>
          </p:cNvSpPr>
          <p:nvPr/>
        </p:nvSpPr>
        <p:spPr>
          <a:xfrm xmlns:a="http://schemas.openxmlformats.org/drawingml/2006/main">
            <a:off x="1219200" y="142875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B78"/>
                </a:solidFill>
                <a:latin typeface="Arial"/>
                <a:ea typeface="Arial"/>
                <a:cs typeface="Arial"/>
              </a:defRPr>
            </a:defPPr>
          </a:lstStyle>
          <a:p xmlns:a="http://schemas.openxmlformats.org/drawingml/2006/main">
            <a:pPr algn="l">
              <a:defRPr sz="2025" b="0">
                <a:solidFill>
                  <a:srgbClr val="526B78"/>
                </a:solidFill>
                <a:latin typeface="Arial"/>
                <a:ea typeface="Arial"/>
                <a:cs typeface="Arial"/>
              </a:defRPr>
            </a:pPr>
            <a:r>
              <a:rPr sz="2025" b="0">
                <a:solidFill>
                  <a:srgbClr val="526B78"/>
                </a:solidFill>
                <a:latin typeface="Arial"/>
                <a:ea typeface="Arial"/>
                <a:cs typeface="Arial"/>
              </a:rPr>
              <a:t>Lớp 24GITE</a:t>
            </a:r>
          </a:p>
        </p:txBody>
      </p:sp>
      <p:sp>
        <p:nvSpPr>
          <p:cNvPr id="5" name="text-12">
            <a:extLst xmlns:a="http://schemas.openxmlformats.org/drawingml/2006/main">
              <a:ext uri="{FF2B5EF4-FFF2-40B4-BE49-F238E27FC236}">
                <a16:creationId xmlns:a16="http://schemas.microsoft.com/office/drawing/2014/main" id="{7112CBDA-AFA2-498D-923A-44D0F64031B3}"/>
              </a:ext>
            </a:extLst>
          </p:cNvPr>
          <p:cNvSpPr>
            <a:spLocks xmlns:a="http://schemas.openxmlformats.org/drawingml/2006/main" noGrp="1"/>
          </p:cNvSpPr>
          <p:nvPr/>
        </p:nvSpPr>
        <p:spPr>
          <a:xfrm xmlns:a="http://schemas.openxmlformats.org/drawingml/2006/main">
            <a:off x="1219200" y="2124075"/>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B78"/>
                </a:solidFill>
                <a:latin typeface="Arial"/>
                <a:ea typeface="Arial"/>
                <a:cs typeface="Arial"/>
              </a:defRPr>
            </a:defPPr>
          </a:lstStyle>
          <a:p xmlns:a="http://schemas.openxmlformats.org/drawingml/2006/main">
            <a:pPr algn="l">
              <a:defRPr sz="1800" b="0">
                <a:solidFill>
                  <a:srgbClr val="526B78"/>
                </a:solidFill>
                <a:latin typeface="Arial"/>
                <a:ea typeface="Arial"/>
                <a:cs typeface="Arial"/>
              </a:defRPr>
            </a:pPr>
            <a:r>
              <a:rPr sz="1800" b="0">
                <a:solidFill>
                  <a:srgbClr val="526B78"/>
                </a:solidFill>
                <a:latin typeface="Arial"/>
                <a:ea typeface="Arial"/>
                <a:cs typeface="Arial"/>
              </a:rPr>
              <a:t>Sinh viên</a:t>
            </a:r>
          </a:p>
        </p:txBody>
      </p:sp>
      <p:sp>
        <p:nvSpPr>
          <p:cNvPr id="6" name="text-13">
            <a:extLst xmlns:a="http://schemas.openxmlformats.org/drawingml/2006/main">
              <a:ext uri="{FF2B5EF4-FFF2-40B4-BE49-F238E27FC236}">
                <a16:creationId xmlns:a16="http://schemas.microsoft.com/office/drawing/2014/main" id="{CBE08764-05AB-4DF9-96EE-904ECCBE03CA}"/>
              </a:ext>
            </a:extLst>
          </p:cNvPr>
          <p:cNvSpPr>
            <a:spLocks xmlns:a="http://schemas.openxmlformats.org/drawingml/2006/main" noGrp="1"/>
          </p:cNvSpPr>
          <p:nvPr/>
        </p:nvSpPr>
        <p:spPr>
          <a:xfrm xmlns:a="http://schemas.openxmlformats.org/drawingml/2006/main">
            <a:off x="8953500" y="2124075"/>
            <a:ext cx="2324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B78"/>
                </a:solidFill>
                <a:latin typeface="Arial"/>
                <a:ea typeface="Arial"/>
                <a:cs typeface="Arial"/>
              </a:defRPr>
            </a:defPPr>
          </a:lstStyle>
          <a:p xmlns:a="http://schemas.openxmlformats.org/drawingml/2006/main">
            <a:pPr algn="l">
              <a:defRPr sz="1800" b="0">
                <a:solidFill>
                  <a:srgbClr val="526B78"/>
                </a:solidFill>
                <a:latin typeface="Arial"/>
                <a:ea typeface="Arial"/>
                <a:cs typeface="Arial"/>
              </a:defRPr>
            </a:pPr>
            <a:r>
              <a:rPr sz="1800" b="0">
                <a:solidFill>
                  <a:srgbClr val="526B78"/>
                </a:solidFill>
                <a:latin typeface="Arial"/>
                <a:ea typeface="Arial"/>
                <a:cs typeface="Arial"/>
              </a:rPr>
              <a:t>MSSV</a:t>
            </a:r>
          </a:p>
        </p:txBody>
      </p:sp>
      <p:sp>
        <p:nvSpPr>
          <p:cNvPr id="7" name="text-14">
            <a:extLst xmlns:a="http://schemas.openxmlformats.org/drawingml/2006/main">
              <a:ext uri="{FF2B5EF4-FFF2-40B4-BE49-F238E27FC236}">
                <a16:creationId xmlns:a16="http://schemas.microsoft.com/office/drawing/2014/main" id="{E56BA582-419E-4B22-8F12-5A6ACED6972D}"/>
              </a:ext>
            </a:extLst>
          </p:cNvPr>
          <p:cNvSpPr>
            <a:spLocks xmlns:a="http://schemas.openxmlformats.org/drawingml/2006/main" noGrp="1"/>
          </p:cNvSpPr>
          <p:nvPr/>
        </p:nvSpPr>
        <p:spPr>
          <a:xfrm xmlns:a="http://schemas.openxmlformats.org/drawingml/2006/main">
            <a:off x="609600" y="26860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1</a:t>
            </a:r>
          </a:p>
        </p:txBody>
      </p:sp>
      <p:sp>
        <p:nvSpPr>
          <p:cNvPr id="8" name="text-15">
            <a:extLst xmlns:a="http://schemas.openxmlformats.org/drawingml/2006/main">
              <a:ext uri="{FF2B5EF4-FFF2-40B4-BE49-F238E27FC236}">
                <a16:creationId xmlns:a16="http://schemas.microsoft.com/office/drawing/2014/main" id="{AB47FA0A-5FBE-48B6-8BF2-D4B8B5C61FCD}"/>
              </a:ext>
            </a:extLst>
          </p:cNvPr>
          <p:cNvSpPr>
            <a:spLocks xmlns:a="http://schemas.openxmlformats.org/drawingml/2006/main" noGrp="1"/>
          </p:cNvSpPr>
          <p:nvPr/>
        </p:nvSpPr>
        <p:spPr>
          <a:xfrm xmlns:a="http://schemas.openxmlformats.org/drawingml/2006/main">
            <a:off x="1219200" y="2686050"/>
            <a:ext cx="695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2B3D"/>
                </a:solidFill>
                <a:latin typeface="Arial"/>
                <a:ea typeface="Arial"/>
                <a:cs typeface="Arial"/>
              </a:defRPr>
            </a:defPPr>
          </a:lstStyle>
          <a:p xmlns:a="http://schemas.openxmlformats.org/drawingml/2006/main">
            <a:pPr algn="l">
              <a:defRPr sz="2400" b="1">
                <a:solidFill>
                  <a:srgbClr val="092B3D"/>
                </a:solidFill>
                <a:latin typeface="Arial"/>
                <a:ea typeface="Arial"/>
                <a:cs typeface="Arial"/>
              </a:defRPr>
            </a:pPr>
            <a:r>
              <a:rPr sz="2400" b="1">
                <a:solidFill>
                  <a:srgbClr val="092B3D"/>
                </a:solidFill>
                <a:latin typeface="Arial"/>
                <a:ea typeface="Arial"/>
                <a:cs typeface="Arial"/>
              </a:rPr>
              <a:t>Lê Như Đỉnh</a:t>
            </a:r>
          </a:p>
        </p:txBody>
      </p:sp>
      <p:sp>
        <p:nvSpPr>
          <p:cNvPr id="9" name="text-16">
            <a:extLst xmlns:a="http://schemas.openxmlformats.org/drawingml/2006/main">
              <a:ext uri="{FF2B5EF4-FFF2-40B4-BE49-F238E27FC236}">
                <a16:creationId xmlns:a16="http://schemas.microsoft.com/office/drawing/2014/main" id="{4DC9E594-9092-43DC-AF17-5B976FB7F891}"/>
              </a:ext>
            </a:extLst>
          </p:cNvPr>
          <p:cNvSpPr>
            <a:spLocks xmlns:a="http://schemas.openxmlformats.org/drawingml/2006/main" noGrp="1"/>
          </p:cNvSpPr>
          <p:nvPr/>
        </p:nvSpPr>
        <p:spPr>
          <a:xfrm xmlns:a="http://schemas.openxmlformats.org/drawingml/2006/main">
            <a:off x="8953500" y="2686050"/>
            <a:ext cx="2324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24ITE125</a:t>
            </a:r>
          </a:p>
        </p:txBody>
      </p:sp>
      <p:sp>
        <p:nvSpPr>
          <p:cNvPr id="10" name="text-17">
            <a:extLst xmlns:a="http://schemas.openxmlformats.org/drawingml/2006/main">
              <a:ext uri="{FF2B5EF4-FFF2-40B4-BE49-F238E27FC236}">
                <a16:creationId xmlns:a16="http://schemas.microsoft.com/office/drawing/2014/main" id="{438656C5-6154-4A8A-A17B-20D5F230B72B}"/>
              </a:ext>
            </a:extLst>
          </p:cNvPr>
          <p:cNvSpPr>
            <a:spLocks xmlns:a="http://schemas.openxmlformats.org/drawingml/2006/main" noGrp="1"/>
          </p:cNvSpPr>
          <p:nvPr/>
        </p:nvSpPr>
        <p:spPr>
          <a:xfrm xmlns:a="http://schemas.openxmlformats.org/drawingml/2006/main">
            <a:off x="609600" y="32861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2</a:t>
            </a:r>
          </a:p>
        </p:txBody>
      </p:sp>
      <p:sp>
        <p:nvSpPr>
          <p:cNvPr id="11" name="text-18">
            <a:extLst xmlns:a="http://schemas.openxmlformats.org/drawingml/2006/main">
              <a:ext uri="{FF2B5EF4-FFF2-40B4-BE49-F238E27FC236}">
                <a16:creationId xmlns:a16="http://schemas.microsoft.com/office/drawing/2014/main" id="{E5848F29-FD6A-476B-85EA-18A04A47C857}"/>
              </a:ext>
            </a:extLst>
          </p:cNvPr>
          <p:cNvSpPr>
            <a:spLocks xmlns:a="http://schemas.openxmlformats.org/drawingml/2006/main" noGrp="1"/>
          </p:cNvSpPr>
          <p:nvPr/>
        </p:nvSpPr>
        <p:spPr>
          <a:xfrm xmlns:a="http://schemas.openxmlformats.org/drawingml/2006/main">
            <a:off x="1219200" y="3286125"/>
            <a:ext cx="695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2B3D"/>
                </a:solidFill>
                <a:latin typeface="Arial"/>
                <a:ea typeface="Arial"/>
                <a:cs typeface="Arial"/>
              </a:defRPr>
            </a:defPPr>
          </a:lstStyle>
          <a:p xmlns:a="http://schemas.openxmlformats.org/drawingml/2006/main">
            <a:pPr algn="l">
              <a:defRPr sz="2400" b="1">
                <a:solidFill>
                  <a:srgbClr val="092B3D"/>
                </a:solidFill>
                <a:latin typeface="Arial"/>
                <a:ea typeface="Arial"/>
                <a:cs typeface="Arial"/>
              </a:defRPr>
            </a:pPr>
            <a:r>
              <a:rPr sz="2400" b="1">
                <a:solidFill>
                  <a:srgbClr val="092B3D"/>
                </a:solidFill>
                <a:latin typeface="Arial"/>
                <a:ea typeface="Arial"/>
                <a:cs typeface="Arial"/>
              </a:rPr>
              <a:t>Nguyễn Đức Trí</a:t>
            </a:r>
          </a:p>
        </p:txBody>
      </p:sp>
      <p:sp>
        <p:nvSpPr>
          <p:cNvPr id="12" name="text-19">
            <a:extLst xmlns:a="http://schemas.openxmlformats.org/drawingml/2006/main">
              <a:ext uri="{FF2B5EF4-FFF2-40B4-BE49-F238E27FC236}">
                <a16:creationId xmlns:a16="http://schemas.microsoft.com/office/drawing/2014/main" id="{C4467F16-0F8B-49F7-9362-CD8237AE2F7E}"/>
              </a:ext>
            </a:extLst>
          </p:cNvPr>
          <p:cNvSpPr>
            <a:spLocks xmlns:a="http://schemas.openxmlformats.org/drawingml/2006/main" noGrp="1"/>
          </p:cNvSpPr>
          <p:nvPr/>
        </p:nvSpPr>
        <p:spPr>
          <a:xfrm xmlns:a="http://schemas.openxmlformats.org/drawingml/2006/main">
            <a:off x="8953500" y="3286125"/>
            <a:ext cx="2324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24ITE112</a:t>
            </a:r>
          </a:p>
        </p:txBody>
      </p:sp>
      <p:sp>
        <p:nvSpPr>
          <p:cNvPr id="13" name="text-20">
            <a:extLst xmlns:a="http://schemas.openxmlformats.org/drawingml/2006/main">
              <a:ext uri="{FF2B5EF4-FFF2-40B4-BE49-F238E27FC236}">
                <a16:creationId xmlns:a16="http://schemas.microsoft.com/office/drawing/2014/main" id="{D9A867FF-9E42-4237-BF4B-23D6C7FC26B2}"/>
              </a:ext>
            </a:extLst>
          </p:cNvPr>
          <p:cNvSpPr>
            <a:spLocks xmlns:a="http://schemas.openxmlformats.org/drawingml/2006/main" noGrp="1"/>
          </p:cNvSpPr>
          <p:nvPr/>
        </p:nvSpPr>
        <p:spPr>
          <a:xfrm xmlns:a="http://schemas.openxmlformats.org/drawingml/2006/main">
            <a:off x="609600" y="38862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3</a:t>
            </a:r>
          </a:p>
        </p:txBody>
      </p:sp>
      <p:sp>
        <p:nvSpPr>
          <p:cNvPr id="14" name="text-21">
            <a:extLst xmlns:a="http://schemas.openxmlformats.org/drawingml/2006/main">
              <a:ext uri="{FF2B5EF4-FFF2-40B4-BE49-F238E27FC236}">
                <a16:creationId xmlns:a16="http://schemas.microsoft.com/office/drawing/2014/main" id="{BA2E10BD-4FEA-41E5-A95B-CCA26D040CA6}"/>
              </a:ext>
            </a:extLst>
          </p:cNvPr>
          <p:cNvSpPr>
            <a:spLocks xmlns:a="http://schemas.openxmlformats.org/drawingml/2006/main" noGrp="1"/>
          </p:cNvSpPr>
          <p:nvPr/>
        </p:nvSpPr>
        <p:spPr>
          <a:xfrm xmlns:a="http://schemas.openxmlformats.org/drawingml/2006/main">
            <a:off x="1219200" y="3886200"/>
            <a:ext cx="695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2B3D"/>
                </a:solidFill>
                <a:latin typeface="Arial"/>
                <a:ea typeface="Arial"/>
                <a:cs typeface="Arial"/>
              </a:defRPr>
            </a:defPPr>
          </a:lstStyle>
          <a:p xmlns:a="http://schemas.openxmlformats.org/drawingml/2006/main">
            <a:pPr algn="l">
              <a:defRPr sz="2400" b="1">
                <a:solidFill>
                  <a:srgbClr val="092B3D"/>
                </a:solidFill>
                <a:latin typeface="Arial"/>
                <a:ea typeface="Arial"/>
                <a:cs typeface="Arial"/>
              </a:defRPr>
            </a:pPr>
            <a:r>
              <a:rPr sz="2400" b="1">
                <a:solidFill>
                  <a:srgbClr val="092B3D"/>
                </a:solidFill>
                <a:latin typeface="Arial"/>
                <a:ea typeface="Arial"/>
                <a:cs typeface="Arial"/>
              </a:rPr>
              <a:t>Trần Minh Nhật</a:t>
            </a:r>
          </a:p>
        </p:txBody>
      </p:sp>
      <p:sp>
        <p:nvSpPr>
          <p:cNvPr id="15" name="text-22">
            <a:extLst xmlns:a="http://schemas.openxmlformats.org/drawingml/2006/main">
              <a:ext uri="{FF2B5EF4-FFF2-40B4-BE49-F238E27FC236}">
                <a16:creationId xmlns:a16="http://schemas.microsoft.com/office/drawing/2014/main" id="{6E51806A-21D4-484E-83BA-75BF6464C50F}"/>
              </a:ext>
            </a:extLst>
          </p:cNvPr>
          <p:cNvSpPr>
            <a:spLocks xmlns:a="http://schemas.openxmlformats.org/drawingml/2006/main" noGrp="1"/>
          </p:cNvSpPr>
          <p:nvPr/>
        </p:nvSpPr>
        <p:spPr>
          <a:xfrm xmlns:a="http://schemas.openxmlformats.org/drawingml/2006/main">
            <a:off x="8953500" y="3886200"/>
            <a:ext cx="2324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24ITE071</a:t>
            </a:r>
          </a:p>
        </p:txBody>
      </p:sp>
      <p:sp>
        <p:nvSpPr>
          <p:cNvPr id="16" name="text-23">
            <a:extLst xmlns:a="http://schemas.openxmlformats.org/drawingml/2006/main">
              <a:ext uri="{FF2B5EF4-FFF2-40B4-BE49-F238E27FC236}">
                <a16:creationId xmlns:a16="http://schemas.microsoft.com/office/drawing/2014/main" id="{AB6F3C61-9223-435E-B735-512C6A5349D0}"/>
              </a:ext>
            </a:extLst>
          </p:cNvPr>
          <p:cNvSpPr>
            <a:spLocks xmlns:a="http://schemas.openxmlformats.org/drawingml/2006/main" noGrp="1"/>
          </p:cNvSpPr>
          <p:nvPr/>
        </p:nvSpPr>
        <p:spPr>
          <a:xfrm xmlns:a="http://schemas.openxmlformats.org/drawingml/2006/main">
            <a:off x="609600" y="44862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4</a:t>
            </a:r>
          </a:p>
        </p:txBody>
      </p:sp>
      <p:sp>
        <p:nvSpPr>
          <p:cNvPr id="17" name="text-24">
            <a:extLst xmlns:a="http://schemas.openxmlformats.org/drawingml/2006/main">
              <a:ext uri="{FF2B5EF4-FFF2-40B4-BE49-F238E27FC236}">
                <a16:creationId xmlns:a16="http://schemas.microsoft.com/office/drawing/2014/main" id="{9B2899BF-D86B-4A59-BCA3-8B40119517E0}"/>
              </a:ext>
            </a:extLst>
          </p:cNvPr>
          <p:cNvSpPr>
            <a:spLocks xmlns:a="http://schemas.openxmlformats.org/drawingml/2006/main" noGrp="1"/>
          </p:cNvSpPr>
          <p:nvPr/>
        </p:nvSpPr>
        <p:spPr>
          <a:xfrm xmlns:a="http://schemas.openxmlformats.org/drawingml/2006/main">
            <a:off x="1219200" y="4486275"/>
            <a:ext cx="695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2B3D"/>
                </a:solidFill>
                <a:latin typeface="Arial"/>
                <a:ea typeface="Arial"/>
                <a:cs typeface="Arial"/>
              </a:defRPr>
            </a:defPPr>
          </a:lstStyle>
          <a:p xmlns:a="http://schemas.openxmlformats.org/drawingml/2006/main">
            <a:pPr algn="l">
              <a:defRPr sz="2400" b="1">
                <a:solidFill>
                  <a:srgbClr val="092B3D"/>
                </a:solidFill>
                <a:latin typeface="Arial"/>
                <a:ea typeface="Arial"/>
                <a:cs typeface="Arial"/>
              </a:defRPr>
            </a:pPr>
            <a:r>
              <a:rPr sz="2400" b="1">
                <a:solidFill>
                  <a:srgbClr val="092B3D"/>
                </a:solidFill>
                <a:latin typeface="Arial"/>
                <a:ea typeface="Arial"/>
                <a:cs typeface="Arial"/>
              </a:rPr>
              <a:t>Lý Tú Nguyên</a:t>
            </a:r>
          </a:p>
        </p:txBody>
      </p:sp>
      <p:sp>
        <p:nvSpPr>
          <p:cNvPr id="18" name="text-25">
            <a:extLst xmlns:a="http://schemas.openxmlformats.org/drawingml/2006/main">
              <a:ext uri="{FF2B5EF4-FFF2-40B4-BE49-F238E27FC236}">
                <a16:creationId xmlns:a16="http://schemas.microsoft.com/office/drawing/2014/main" id="{A07029B7-8F1C-4E3A-B2AF-F220F0FEAEDE}"/>
              </a:ext>
            </a:extLst>
          </p:cNvPr>
          <p:cNvSpPr>
            <a:spLocks xmlns:a="http://schemas.openxmlformats.org/drawingml/2006/main" noGrp="1"/>
          </p:cNvSpPr>
          <p:nvPr/>
        </p:nvSpPr>
        <p:spPr>
          <a:xfrm xmlns:a="http://schemas.openxmlformats.org/drawingml/2006/main">
            <a:off x="8953500" y="4486275"/>
            <a:ext cx="2324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24ITE067</a:t>
            </a:r>
          </a:p>
        </p:txBody>
      </p:sp>
      <p:sp>
        <p:nvSpPr>
          <p:cNvPr id="19" name="text-26">
            <a:extLst xmlns:a="http://schemas.openxmlformats.org/drawingml/2006/main">
              <a:ext uri="{FF2B5EF4-FFF2-40B4-BE49-F238E27FC236}">
                <a16:creationId xmlns:a16="http://schemas.microsoft.com/office/drawing/2014/main" id="{4FAD6648-035D-43A5-8390-B59B9E61B286}"/>
              </a:ext>
            </a:extLst>
          </p:cNvPr>
          <p:cNvSpPr>
            <a:spLocks xmlns:a="http://schemas.openxmlformats.org/drawingml/2006/main" noGrp="1"/>
          </p:cNvSpPr>
          <p:nvPr/>
        </p:nvSpPr>
        <p:spPr>
          <a:xfrm xmlns:a="http://schemas.openxmlformats.org/drawingml/2006/main">
            <a:off x="609600" y="50863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5</a:t>
            </a:r>
          </a:p>
        </p:txBody>
      </p:sp>
      <p:sp>
        <p:nvSpPr>
          <p:cNvPr id="20" name="text-27">
            <a:extLst xmlns:a="http://schemas.openxmlformats.org/drawingml/2006/main">
              <a:ext uri="{FF2B5EF4-FFF2-40B4-BE49-F238E27FC236}">
                <a16:creationId xmlns:a16="http://schemas.microsoft.com/office/drawing/2014/main" id="{AE23A2F2-EA41-42C1-8695-2F14C2AEEB1A}"/>
              </a:ext>
            </a:extLst>
          </p:cNvPr>
          <p:cNvSpPr>
            <a:spLocks xmlns:a="http://schemas.openxmlformats.org/drawingml/2006/main" noGrp="1"/>
          </p:cNvSpPr>
          <p:nvPr/>
        </p:nvSpPr>
        <p:spPr>
          <a:xfrm xmlns:a="http://schemas.openxmlformats.org/drawingml/2006/main">
            <a:off x="1219200" y="5086350"/>
            <a:ext cx="695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2B3D"/>
                </a:solidFill>
                <a:latin typeface="Arial"/>
                <a:ea typeface="Arial"/>
                <a:cs typeface="Arial"/>
              </a:defRPr>
            </a:defPPr>
          </a:lstStyle>
          <a:p xmlns:a="http://schemas.openxmlformats.org/drawingml/2006/main">
            <a:pPr algn="l">
              <a:defRPr sz="2400" b="1">
                <a:solidFill>
                  <a:srgbClr val="092B3D"/>
                </a:solidFill>
                <a:latin typeface="Arial"/>
                <a:ea typeface="Arial"/>
                <a:cs typeface="Arial"/>
              </a:defRPr>
            </a:pPr>
            <a:r>
              <a:rPr sz="2400" b="1">
                <a:solidFill>
                  <a:srgbClr val="092B3D"/>
                </a:solidFill>
                <a:latin typeface="Arial"/>
                <a:ea typeface="Arial"/>
                <a:cs typeface="Arial"/>
              </a:rPr>
              <a:t>Nguyễn Tùng Lâm</a:t>
            </a:r>
          </a:p>
        </p:txBody>
      </p:sp>
      <p:sp>
        <p:nvSpPr>
          <p:cNvPr id="21" name="text-28">
            <a:extLst xmlns:a="http://schemas.openxmlformats.org/drawingml/2006/main">
              <a:ext uri="{FF2B5EF4-FFF2-40B4-BE49-F238E27FC236}">
                <a16:creationId xmlns:a16="http://schemas.microsoft.com/office/drawing/2014/main" id="{5EAD6CCB-631B-4097-8460-930A64AF1C67}"/>
              </a:ext>
            </a:extLst>
          </p:cNvPr>
          <p:cNvSpPr>
            <a:spLocks xmlns:a="http://schemas.openxmlformats.org/drawingml/2006/main" noGrp="1"/>
          </p:cNvSpPr>
          <p:nvPr/>
        </p:nvSpPr>
        <p:spPr>
          <a:xfrm xmlns:a="http://schemas.openxmlformats.org/drawingml/2006/main">
            <a:off x="8953500" y="5086350"/>
            <a:ext cx="2324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24ITE055</a:t>
            </a:r>
          </a:p>
        </p:txBody>
      </p:sp>
      <p:sp>
        <p:nvSpPr>
          <p:cNvPr id="22" name="text-29">
            <a:extLst xmlns:a="http://schemas.openxmlformats.org/drawingml/2006/main">
              <a:ext uri="{FF2B5EF4-FFF2-40B4-BE49-F238E27FC236}">
                <a16:creationId xmlns:a16="http://schemas.microsoft.com/office/drawing/2014/main" id="{099780FA-109A-4CEA-B88B-485B7A2E35B8}"/>
              </a:ext>
            </a:extLst>
          </p:cNvPr>
          <p:cNvSpPr>
            <a:spLocks xmlns:a="http://schemas.openxmlformats.org/drawingml/2006/main" noGrp="1"/>
          </p:cNvSpPr>
          <p:nvPr/>
        </p:nvSpPr>
        <p:spPr>
          <a:xfrm xmlns:a="http://schemas.openxmlformats.org/drawingml/2006/main">
            <a:off x="1219200" y="581025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GVHD ThS. Nguyễn Đỗ Công Pháp</a:t>
            </a:r>
          </a:p>
        </p:txBody>
      </p:sp>
    </p:spTree>
    <p:extLst>
      <p:ext uri="{BB962C8B-B14F-4D97-AF65-F5344CB8AC3E}">
        <p14:creationId xmlns:p14="http://schemas.microsoft.com/office/powerpoint/2010/main" val="10970639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30">
            <a:extLst xmlns:a="http://schemas.openxmlformats.org/drawingml/2006/main">
              <a:ext uri="{FF2B5EF4-FFF2-40B4-BE49-F238E27FC236}">
                <a16:creationId xmlns:a16="http://schemas.microsoft.com/office/drawing/2014/main" id="{2CF2EC3F-1679-426B-91E0-F48D408B6E0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Chức năng chính của FinSight</a:t>
            </a:r>
          </a:p>
        </p:txBody>
      </p:sp>
      <p:sp>
        <p:nvSpPr>
          <p:cNvPr id="2" name="text-31">
            <a:extLst xmlns:a="http://schemas.openxmlformats.org/drawingml/2006/main">
              <a:ext uri="{FF2B5EF4-FFF2-40B4-BE49-F238E27FC236}">
                <a16:creationId xmlns:a16="http://schemas.microsoft.com/office/drawing/2014/main" id="{E1094026-47D0-406E-AD68-3ECAEAF76ECD}"/>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Lê Như Đỉnh (24ITE125)</a:t>
            </a:r>
          </a:p>
        </p:txBody>
      </p:sp>
      <p:sp>
        <p:nvSpPr>
          <p:cNvPr id="3" name="text-32">
            <a:extLst xmlns:a="http://schemas.openxmlformats.org/drawingml/2006/main">
              <a:ext uri="{FF2B5EF4-FFF2-40B4-BE49-F238E27FC236}">
                <a16:creationId xmlns:a16="http://schemas.microsoft.com/office/drawing/2014/main" id="{AD931414-72E5-441A-909A-8F417606B617}"/>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03 / 17</a:t>
            </a:r>
          </a:p>
        </p:txBody>
      </p:sp>
      <p:sp>
        <p:nvSpPr>
          <p:cNvPr id="4" name="text-33">
            <a:extLst xmlns:a="http://schemas.openxmlformats.org/drawingml/2006/main">
              <a:ext uri="{FF2B5EF4-FFF2-40B4-BE49-F238E27FC236}">
                <a16:creationId xmlns:a16="http://schemas.microsoft.com/office/drawing/2014/main" id="{E2441A58-ED9C-41AA-9D57-3E20D5FD7EC2}"/>
              </a:ext>
            </a:extLst>
          </p:cNvPr>
          <p:cNvSpPr>
            <a:spLocks xmlns:a="http://schemas.openxmlformats.org/drawingml/2006/main" noGrp="1"/>
          </p:cNvSpPr>
          <p:nvPr/>
        </p:nvSpPr>
        <p:spPr>
          <a:xfrm xmlns:a="http://schemas.openxmlformats.org/drawingml/2006/main">
            <a:off x="609600" y="1600200"/>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Quản lý thu chi</a:t>
            </a:r>
          </a:p>
        </p:txBody>
      </p:sp>
      <p:sp>
        <p:nvSpPr>
          <p:cNvPr id="5" name="text-34">
            <a:extLst xmlns:a="http://schemas.openxmlformats.org/drawingml/2006/main">
              <a:ext uri="{FF2B5EF4-FFF2-40B4-BE49-F238E27FC236}">
                <a16:creationId xmlns:a16="http://schemas.microsoft.com/office/drawing/2014/main" id="{72E64F5F-7F38-431A-A98D-8C999623A09E}"/>
              </a:ext>
            </a:extLst>
          </p:cNvPr>
          <p:cNvSpPr>
            <a:spLocks xmlns:a="http://schemas.openxmlformats.org/drawingml/2006/main" noGrp="1"/>
          </p:cNvSpPr>
          <p:nvPr/>
        </p:nvSpPr>
        <p:spPr>
          <a:xfrm xmlns:a="http://schemas.openxmlformats.org/drawingml/2006/main">
            <a:off x="609600" y="207645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92B3D"/>
                </a:solidFill>
                <a:latin typeface="Arial"/>
                <a:ea typeface="Arial"/>
                <a:cs typeface="Arial"/>
              </a:defRPr>
            </a:defPPr>
          </a:lstStyle>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Ví, giao dịch và chuyển tiền</a:t>
            </a:r>
          </a:p>
        </p:txBody>
      </p:sp>
      <p:sp>
        <p:nvSpPr>
          <p:cNvPr id="6" name="text-35">
            <a:extLst xmlns:a="http://schemas.openxmlformats.org/drawingml/2006/main">
              <a:ext uri="{FF2B5EF4-FFF2-40B4-BE49-F238E27FC236}">
                <a16:creationId xmlns:a16="http://schemas.microsoft.com/office/drawing/2014/main" id="{74307C9A-72A4-4629-B21C-628010622B5B}"/>
              </a:ext>
            </a:extLst>
          </p:cNvPr>
          <p:cNvSpPr>
            <a:spLocks xmlns:a="http://schemas.openxmlformats.org/drawingml/2006/main" noGrp="1"/>
          </p:cNvSpPr>
          <p:nvPr/>
        </p:nvSpPr>
        <p:spPr>
          <a:xfrm xmlns:a="http://schemas.openxmlformats.org/drawingml/2006/main">
            <a:off x="609600" y="31051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Lập kế hoạch</a:t>
            </a:r>
          </a:p>
        </p:txBody>
      </p:sp>
      <p:sp>
        <p:nvSpPr>
          <p:cNvPr id="7" name="text-36">
            <a:extLst xmlns:a="http://schemas.openxmlformats.org/drawingml/2006/main">
              <a:ext uri="{FF2B5EF4-FFF2-40B4-BE49-F238E27FC236}">
                <a16:creationId xmlns:a16="http://schemas.microsoft.com/office/drawing/2014/main" id="{1C4A7B8C-E4D4-4980-B9BE-6B6C63C3C9C5}"/>
              </a:ext>
            </a:extLst>
          </p:cNvPr>
          <p:cNvSpPr>
            <a:spLocks xmlns:a="http://schemas.openxmlformats.org/drawingml/2006/main" noGrp="1"/>
          </p:cNvSpPr>
          <p:nvPr/>
        </p:nvSpPr>
        <p:spPr>
          <a:xfrm xmlns:a="http://schemas.openxmlformats.org/drawingml/2006/main">
            <a:off x="609600" y="35909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92B3D"/>
                </a:solidFill>
                <a:latin typeface="Arial"/>
                <a:ea typeface="Arial"/>
                <a:cs typeface="Arial"/>
              </a:defRPr>
            </a:defPPr>
          </a:lstStyle>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Ngân sách tháng</a:t>
            </a:r>
          </a:p>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Mục tiêu tiết kiệm</a:t>
            </a:r>
          </a:p>
        </p:txBody>
      </p:sp>
      <p:sp>
        <p:nvSpPr>
          <p:cNvPr id="8" name="text-37">
            <a:extLst xmlns:a="http://schemas.openxmlformats.org/drawingml/2006/main">
              <a:ext uri="{FF2B5EF4-FFF2-40B4-BE49-F238E27FC236}">
                <a16:creationId xmlns:a16="http://schemas.microsoft.com/office/drawing/2014/main" id="{BDFFB9EB-3845-49F3-879B-37E7249EA22A}"/>
              </a:ext>
            </a:extLst>
          </p:cNvPr>
          <p:cNvSpPr>
            <a:spLocks xmlns:a="http://schemas.openxmlformats.org/drawingml/2006/main" noGrp="1"/>
          </p:cNvSpPr>
          <p:nvPr/>
        </p:nvSpPr>
        <p:spPr>
          <a:xfrm xmlns:a="http://schemas.openxmlformats.org/drawingml/2006/main">
            <a:off x="609600" y="4714875"/>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Phân tích bằng AI</a:t>
            </a:r>
          </a:p>
        </p:txBody>
      </p:sp>
      <p:sp>
        <p:nvSpPr>
          <p:cNvPr id="9" name="text-38">
            <a:extLst xmlns:a="http://schemas.openxmlformats.org/drawingml/2006/main">
              <a:ext uri="{FF2B5EF4-FFF2-40B4-BE49-F238E27FC236}">
                <a16:creationId xmlns:a16="http://schemas.microsoft.com/office/drawing/2014/main" id="{489D14F8-375F-4BF2-923C-081CA8230011}"/>
              </a:ext>
            </a:extLst>
          </p:cNvPr>
          <p:cNvSpPr>
            <a:spLocks xmlns:a="http://schemas.openxmlformats.org/drawingml/2006/main" noGrp="1"/>
          </p:cNvSpPr>
          <p:nvPr/>
        </p:nvSpPr>
        <p:spPr>
          <a:xfrm xmlns:a="http://schemas.openxmlformats.org/drawingml/2006/main">
            <a:off x="609600" y="521970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92B3D"/>
                </a:solidFill>
                <a:latin typeface="Arial"/>
                <a:ea typeface="Arial"/>
                <a:cs typeface="Arial"/>
              </a:defRPr>
            </a:defPPr>
          </a:lstStyle>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Dự báo, cảnh báo và chat riêng</a:t>
            </a:r>
          </a:p>
        </p:txBody>
      </p:sp>
      <p:pic>
        <p:nvPicPr>
          <p:cNvPr id="10" name="">
            <a:extLst xmlns:a="http://schemas.openxmlformats.org/drawingml/2006/main">
              <a:ext uri="{FF2B5EF4-FFF2-40B4-BE49-F238E27FC236}">
                <a16:creationId xmlns:a16="http://schemas.microsoft.com/office/drawing/2014/main" id="{B1773CA9-DDE3-488B-BEBB-39B53DDC64BF}"/>
              </a:ext>
            </a:extLst>
          </p:cNvPr>
          <p:cNvPicPr>
            <a:picLocks xmlns:a="http://schemas.openxmlformats.org/drawingml/2006/main" noChangeAspect="1"/>
          </p:cNvPicPr>
          <p:nvPr/>
        </p:nvPicPr>
        <p:blipFill>
          <a:blip xmlns:r="http://schemas.openxmlformats.org/officeDocument/2006/relationships" xmlns:a="http://schemas.openxmlformats.org/drawingml/2006/main" r:embed="Rf0cd524f0f5b48a8"/>
          <a:srcRect xmlns:a="http://schemas.openxmlformats.org/drawingml/2006/main" l="18500" t="5200" r="1700" b="51500"/>
          <a:stretch xmlns:a="http://schemas.openxmlformats.org/drawingml/2006/main"/>
        </p:blipFill>
        <p:spPr>
          <a:xfrm xmlns:a="http://schemas.openxmlformats.org/drawingml/2006/main">
            <a:off x="4171950" y="1571625"/>
            <a:ext cx="7410450" cy="4371975"/>
          </a:xfrm>
          <a:prstGeom xmlns:a="http://schemas.openxmlformats.org/drawingml/2006/main" prst="rect">
            <a:avLst/>
          </a:prstGeom>
        </p:spPr>
      </p:pic>
    </p:spTree>
    <p:extLst>
      <p:ext uri="{BB962C8B-B14F-4D97-AF65-F5344CB8AC3E}">
        <p14:creationId xmlns:p14="http://schemas.microsoft.com/office/powerpoint/2010/main" val="21187162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39">
            <a:extLst xmlns:a="http://schemas.openxmlformats.org/drawingml/2006/main">
              <a:ext uri="{FF2B5EF4-FFF2-40B4-BE49-F238E27FC236}">
                <a16:creationId xmlns:a16="http://schemas.microsoft.com/office/drawing/2014/main" id="{AE0891CD-13F6-4B69-AE13-F980B2AA5CE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Luồng sử dụng và dữ liệu đầu vào</a:t>
            </a:r>
          </a:p>
        </p:txBody>
      </p:sp>
      <p:sp>
        <p:nvSpPr>
          <p:cNvPr id="2" name="text-40">
            <a:extLst xmlns:a="http://schemas.openxmlformats.org/drawingml/2006/main">
              <a:ext uri="{FF2B5EF4-FFF2-40B4-BE49-F238E27FC236}">
                <a16:creationId xmlns:a16="http://schemas.microsoft.com/office/drawing/2014/main" id="{6974D2AB-3AED-4E80-8276-51EBD7CB998A}"/>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Lê Như Đỉnh (24ITE125)</a:t>
            </a:r>
          </a:p>
        </p:txBody>
      </p:sp>
      <p:sp>
        <p:nvSpPr>
          <p:cNvPr id="3" name="text-41">
            <a:extLst xmlns:a="http://schemas.openxmlformats.org/drawingml/2006/main">
              <a:ext uri="{FF2B5EF4-FFF2-40B4-BE49-F238E27FC236}">
                <a16:creationId xmlns:a16="http://schemas.microsoft.com/office/drawing/2014/main" id="{3F2D19AD-7D30-4ACE-988E-0A974E0E958C}"/>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04 / 17</a:t>
            </a:r>
          </a:p>
        </p:txBody>
      </p:sp>
      <p:sp>
        <p:nvSpPr>
          <p:cNvPr id="4" name="text-42">
            <a:extLst xmlns:a="http://schemas.openxmlformats.org/drawingml/2006/main">
              <a:ext uri="{FF2B5EF4-FFF2-40B4-BE49-F238E27FC236}">
                <a16:creationId xmlns:a16="http://schemas.microsoft.com/office/drawing/2014/main" id="{2A3100B2-1843-481C-8CA8-1011C0820D5E}"/>
              </a:ext>
            </a:extLst>
          </p:cNvPr>
          <p:cNvSpPr>
            <a:spLocks xmlns:a="http://schemas.openxmlformats.org/drawingml/2006/main" noGrp="1"/>
          </p:cNvSpPr>
          <p:nvPr/>
        </p:nvSpPr>
        <p:spPr>
          <a:xfrm xmlns:a="http://schemas.openxmlformats.org/drawingml/2006/main">
            <a:off x="609600" y="1600200"/>
            <a:ext cx="3676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A63"/>
                </a:solidFill>
                <a:latin typeface="Arial"/>
                <a:ea typeface="Arial"/>
                <a:cs typeface="Arial"/>
              </a:defRPr>
            </a:defPPr>
          </a:lstStyle>
          <a:p xmlns:a="http://schemas.openxmlformats.org/drawingml/2006/main">
            <a:pPr algn="l">
              <a:defRPr sz="2025" b="1">
                <a:solidFill>
                  <a:srgbClr val="008A63"/>
                </a:solidFill>
                <a:latin typeface="Arial"/>
                <a:ea typeface="Arial"/>
                <a:cs typeface="Arial"/>
              </a:defRPr>
            </a:pPr>
            <a:r>
              <a:rPr sz="2025" b="1">
                <a:solidFill>
                  <a:srgbClr val="008A63"/>
                </a:solidFill>
                <a:latin typeface="Arial"/>
                <a:ea typeface="Arial"/>
                <a:cs typeface="Arial"/>
              </a:rPr>
              <a:t>01  Tạo ví và số dư ban đầu</a:t>
            </a:r>
          </a:p>
        </p:txBody>
      </p:sp>
      <p:sp>
        <p:nvSpPr>
          <p:cNvPr id="5" name="text-43">
            <a:extLst xmlns:a="http://schemas.openxmlformats.org/drawingml/2006/main">
              <a:ext uri="{FF2B5EF4-FFF2-40B4-BE49-F238E27FC236}">
                <a16:creationId xmlns:a16="http://schemas.microsoft.com/office/drawing/2014/main" id="{C8E2EB40-C216-4313-BF9F-D282F42A76C8}"/>
              </a:ext>
            </a:extLst>
          </p:cNvPr>
          <p:cNvSpPr>
            <a:spLocks xmlns:a="http://schemas.openxmlformats.org/drawingml/2006/main" noGrp="1"/>
          </p:cNvSpPr>
          <p:nvPr/>
        </p:nvSpPr>
        <p:spPr>
          <a:xfrm xmlns:a="http://schemas.openxmlformats.org/drawingml/2006/main">
            <a:off x="609600" y="2647950"/>
            <a:ext cx="3676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A63"/>
                </a:solidFill>
                <a:latin typeface="Arial"/>
                <a:ea typeface="Arial"/>
                <a:cs typeface="Arial"/>
              </a:defRPr>
            </a:defPPr>
          </a:lstStyle>
          <a:p xmlns:a="http://schemas.openxmlformats.org/drawingml/2006/main">
            <a:pPr algn="l">
              <a:defRPr sz="2025" b="1">
                <a:solidFill>
                  <a:srgbClr val="008A63"/>
                </a:solidFill>
                <a:latin typeface="Arial"/>
                <a:ea typeface="Arial"/>
                <a:cs typeface="Arial"/>
              </a:defRPr>
            </a:pPr>
            <a:r>
              <a:rPr sz="2025" b="1">
                <a:solidFill>
                  <a:srgbClr val="008A63"/>
                </a:solidFill>
                <a:latin typeface="Arial"/>
                <a:ea typeface="Arial"/>
                <a:cs typeface="Arial"/>
              </a:rPr>
              <a:t>02  Ghi nhận thu chi</a:t>
            </a:r>
          </a:p>
        </p:txBody>
      </p:sp>
      <p:sp>
        <p:nvSpPr>
          <p:cNvPr id="6" name="text-44">
            <a:extLst xmlns:a="http://schemas.openxmlformats.org/drawingml/2006/main">
              <a:ext uri="{FF2B5EF4-FFF2-40B4-BE49-F238E27FC236}">
                <a16:creationId xmlns:a16="http://schemas.microsoft.com/office/drawing/2014/main" id="{CDCBEA97-F09B-48ED-A4A9-9F230E6BE967}"/>
              </a:ext>
            </a:extLst>
          </p:cNvPr>
          <p:cNvSpPr>
            <a:spLocks xmlns:a="http://schemas.openxmlformats.org/drawingml/2006/main" noGrp="1"/>
          </p:cNvSpPr>
          <p:nvPr/>
        </p:nvSpPr>
        <p:spPr>
          <a:xfrm xmlns:a="http://schemas.openxmlformats.org/drawingml/2006/main">
            <a:off x="609600" y="3676650"/>
            <a:ext cx="3676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A63"/>
                </a:solidFill>
                <a:latin typeface="Arial"/>
                <a:ea typeface="Arial"/>
                <a:cs typeface="Arial"/>
              </a:defRPr>
            </a:defPPr>
          </a:lstStyle>
          <a:p xmlns:a="http://schemas.openxmlformats.org/drawingml/2006/main">
            <a:pPr algn="l">
              <a:defRPr sz="2025" b="1">
                <a:solidFill>
                  <a:srgbClr val="008A63"/>
                </a:solidFill>
                <a:latin typeface="Arial"/>
                <a:ea typeface="Arial"/>
                <a:cs typeface="Arial"/>
              </a:defRPr>
            </a:pPr>
            <a:r>
              <a:rPr sz="2025" b="1">
                <a:solidFill>
                  <a:srgbClr val="008A63"/>
                </a:solidFill>
                <a:latin typeface="Arial"/>
                <a:ea typeface="Arial"/>
                <a:cs typeface="Arial"/>
              </a:rPr>
              <a:t>03  Đặt ngân sách tháng</a:t>
            </a:r>
          </a:p>
        </p:txBody>
      </p:sp>
      <p:sp>
        <p:nvSpPr>
          <p:cNvPr id="7" name="text-45">
            <a:extLst xmlns:a="http://schemas.openxmlformats.org/drawingml/2006/main">
              <a:ext uri="{FF2B5EF4-FFF2-40B4-BE49-F238E27FC236}">
                <a16:creationId xmlns:a16="http://schemas.microsoft.com/office/drawing/2014/main" id="{14AA402F-146E-4D9F-A174-6B9ECE0146D4}"/>
              </a:ext>
            </a:extLst>
          </p:cNvPr>
          <p:cNvSpPr>
            <a:spLocks xmlns:a="http://schemas.openxmlformats.org/drawingml/2006/main" noGrp="1"/>
          </p:cNvSpPr>
          <p:nvPr/>
        </p:nvSpPr>
        <p:spPr>
          <a:xfrm xmlns:a="http://schemas.openxmlformats.org/drawingml/2006/main">
            <a:off x="609600" y="4695825"/>
            <a:ext cx="3676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A63"/>
                </a:solidFill>
                <a:latin typeface="Arial"/>
                <a:ea typeface="Arial"/>
                <a:cs typeface="Arial"/>
              </a:defRPr>
            </a:defPPr>
          </a:lstStyle>
          <a:p xmlns:a="http://schemas.openxmlformats.org/drawingml/2006/main">
            <a:pPr algn="l">
              <a:defRPr sz="2025" b="1">
                <a:solidFill>
                  <a:srgbClr val="008A63"/>
                </a:solidFill>
                <a:latin typeface="Arial"/>
                <a:ea typeface="Arial"/>
                <a:cs typeface="Arial"/>
              </a:defRPr>
            </a:pPr>
            <a:r>
              <a:rPr sz="2025" b="1">
                <a:solidFill>
                  <a:srgbClr val="008A63"/>
                </a:solidFill>
                <a:latin typeface="Arial"/>
                <a:ea typeface="Arial"/>
                <a:cs typeface="Arial"/>
              </a:rPr>
              <a:t>04  Xem báo cáo và phân tích</a:t>
            </a:r>
          </a:p>
        </p:txBody>
      </p:sp>
      <p:pic>
        <p:nvPicPr>
          <p:cNvPr id="8" name="">
            <a:extLst xmlns:a="http://schemas.openxmlformats.org/drawingml/2006/main">
              <a:ext uri="{FF2B5EF4-FFF2-40B4-BE49-F238E27FC236}">
                <a16:creationId xmlns:a16="http://schemas.microsoft.com/office/drawing/2014/main" id="{8B342660-D468-4389-9DD6-C33570FD23C3}"/>
              </a:ext>
            </a:extLst>
          </p:cNvPr>
          <p:cNvPicPr>
            <a:picLocks xmlns:a="http://schemas.openxmlformats.org/drawingml/2006/main" noChangeAspect="1"/>
          </p:cNvPicPr>
          <p:nvPr/>
        </p:nvPicPr>
        <p:blipFill>
          <a:blip xmlns:r="http://schemas.openxmlformats.org/officeDocument/2006/relationships" xmlns:a="http://schemas.openxmlformats.org/drawingml/2006/main" r:embed="Raf030d72d4b44cd3"/>
          <a:srcRect xmlns:a="http://schemas.openxmlformats.org/drawingml/2006/main" l="21300" t="58000" r="2800" b="23900"/>
          <a:stretch xmlns:a="http://schemas.openxmlformats.org/drawingml/2006/main"/>
        </p:blipFill>
        <p:spPr>
          <a:xfrm xmlns:a="http://schemas.openxmlformats.org/drawingml/2006/main">
            <a:off x="4572000" y="1714500"/>
            <a:ext cx="7010400" cy="2333625"/>
          </a:xfrm>
          <a:prstGeom xmlns:a="http://schemas.openxmlformats.org/drawingml/2006/main" prst="rect">
            <a:avLst/>
          </a:prstGeom>
        </p:spPr>
      </p:pic>
      <p:sp>
        <p:nvSpPr>
          <p:cNvPr id="9" name="text-46">
            <a:extLst xmlns:a="http://schemas.openxmlformats.org/drawingml/2006/main">
              <a:ext uri="{FF2B5EF4-FFF2-40B4-BE49-F238E27FC236}">
                <a16:creationId xmlns:a16="http://schemas.microsoft.com/office/drawing/2014/main" id="{6F600BB0-9297-4E09-A4DA-2552418508E0}"/>
              </a:ext>
            </a:extLst>
          </p:cNvPr>
          <p:cNvSpPr>
            <a:spLocks xmlns:a="http://schemas.openxmlformats.org/drawingml/2006/main" noGrp="1"/>
          </p:cNvSpPr>
          <p:nvPr/>
        </p:nvSpPr>
        <p:spPr>
          <a:xfrm xmlns:a="http://schemas.openxmlformats.org/drawingml/2006/main">
            <a:off x="4572000" y="4200525"/>
            <a:ext cx="701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92B3D"/>
                </a:solidFill>
                <a:latin typeface="Arial"/>
                <a:ea typeface="Arial"/>
                <a:cs typeface="Arial"/>
              </a:defRPr>
            </a:defPPr>
          </a:lstStyle>
          <a:p xmlns:a="http://schemas.openxmlformats.org/drawingml/2006/main">
            <a:pPr algn="l">
              <a:defRPr sz="2325" b="1">
                <a:solidFill>
                  <a:srgbClr val="092B3D"/>
                </a:solidFill>
                <a:latin typeface="Arial"/>
                <a:ea typeface="Arial"/>
                <a:cs typeface="Arial"/>
              </a:defRPr>
            </a:pPr>
            <a:r>
              <a:rPr sz="2325" b="1">
                <a:solidFill>
                  <a:srgbClr val="092B3D"/>
                </a:solidFill>
                <a:latin typeface="Arial"/>
                <a:ea typeface="Arial"/>
                <a:cs typeface="Arial"/>
              </a:rPr>
              <a:t>Tài khoản ít lịch sử</a:t>
            </a:r>
          </a:p>
        </p:txBody>
      </p:sp>
      <p:sp>
        <p:nvSpPr>
          <p:cNvPr id="10" name="text-47">
            <a:extLst xmlns:a="http://schemas.openxmlformats.org/drawingml/2006/main">
              <a:ext uri="{FF2B5EF4-FFF2-40B4-BE49-F238E27FC236}">
                <a16:creationId xmlns:a16="http://schemas.microsoft.com/office/drawing/2014/main" id="{128A0963-B06B-4E97-8B69-08423832AD9C}"/>
              </a:ext>
            </a:extLst>
          </p:cNvPr>
          <p:cNvSpPr>
            <a:spLocks xmlns:a="http://schemas.openxmlformats.org/drawingml/2006/main" noGrp="1"/>
          </p:cNvSpPr>
          <p:nvPr/>
        </p:nvSpPr>
        <p:spPr>
          <a:xfrm xmlns:a="http://schemas.openxmlformats.org/drawingml/2006/main">
            <a:off x="4572000" y="4733925"/>
            <a:ext cx="701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92B3D"/>
                </a:solidFill>
                <a:latin typeface="Arial"/>
                <a:ea typeface="Arial"/>
                <a:cs typeface="Arial"/>
              </a:defRPr>
            </a:defPPr>
          </a:lstStyle>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AI thông báo chưa đủ dữ liệu để dự báo</a:t>
            </a:r>
          </a:p>
        </p:txBody>
      </p:sp>
      <p:sp>
        <p:nvSpPr>
          <p:cNvPr id="11" name="text-48">
            <a:extLst xmlns:a="http://schemas.openxmlformats.org/drawingml/2006/main">
              <a:ext uri="{FF2B5EF4-FFF2-40B4-BE49-F238E27FC236}">
                <a16:creationId xmlns:a16="http://schemas.microsoft.com/office/drawing/2014/main" id="{2770C571-842A-46CE-A2E3-0AAC83FB85D6}"/>
              </a:ext>
            </a:extLst>
          </p:cNvPr>
          <p:cNvSpPr>
            <a:spLocks xmlns:a="http://schemas.openxmlformats.org/drawingml/2006/main" noGrp="1"/>
          </p:cNvSpPr>
          <p:nvPr/>
        </p:nvSpPr>
        <p:spPr>
          <a:xfrm xmlns:a="http://schemas.openxmlformats.org/drawingml/2006/main">
            <a:off x="4572000" y="5619750"/>
            <a:ext cx="701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Cần 60 ngày lịch sử và 30 giao dịch chi</a:t>
            </a:r>
          </a:p>
        </p:txBody>
      </p:sp>
    </p:spTree>
    <p:extLst>
      <p:ext uri="{BB962C8B-B14F-4D97-AF65-F5344CB8AC3E}">
        <p14:creationId xmlns:p14="http://schemas.microsoft.com/office/powerpoint/2010/main" val="15750179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9">
            <a:extLst xmlns:a="http://schemas.openxmlformats.org/drawingml/2006/main">
              <a:ext uri="{FF2B5EF4-FFF2-40B4-BE49-F238E27FC236}">
                <a16:creationId xmlns:a16="http://schemas.microsoft.com/office/drawing/2014/main" id="{B9A9B0EA-0943-4DBE-B577-75DAF5982C8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Kiến trúc hệ thống</a:t>
            </a:r>
          </a:p>
        </p:txBody>
      </p:sp>
      <p:sp>
        <p:nvSpPr>
          <p:cNvPr id="2" name="text-50">
            <a:extLst xmlns:a="http://schemas.openxmlformats.org/drawingml/2006/main">
              <a:ext uri="{FF2B5EF4-FFF2-40B4-BE49-F238E27FC236}">
                <a16:creationId xmlns:a16="http://schemas.microsoft.com/office/drawing/2014/main" id="{2CCFC0CA-E9AD-4144-9E33-7A8DC9DBF144}"/>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Nguyễn Đức Trí (24ITE112)</a:t>
            </a:r>
          </a:p>
        </p:txBody>
      </p:sp>
      <p:sp>
        <p:nvSpPr>
          <p:cNvPr id="3" name="text-51">
            <a:extLst xmlns:a="http://schemas.openxmlformats.org/drawingml/2006/main">
              <a:ext uri="{FF2B5EF4-FFF2-40B4-BE49-F238E27FC236}">
                <a16:creationId xmlns:a16="http://schemas.microsoft.com/office/drawing/2014/main" id="{85D4B13A-7FD4-4872-B664-8C5FE7E18B1E}"/>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05 / 17</a:t>
            </a:r>
          </a:p>
        </p:txBody>
      </p:sp>
      <p:sp>
        <p:nvSpPr>
          <p:cNvPr id="4" name="text-52">
            <a:extLst xmlns:a="http://schemas.openxmlformats.org/drawingml/2006/main">
              <a:ext uri="{FF2B5EF4-FFF2-40B4-BE49-F238E27FC236}">
                <a16:creationId xmlns:a16="http://schemas.microsoft.com/office/drawing/2014/main" id="{30938026-8109-44A4-AEE6-91A1E38C94B5}"/>
              </a:ext>
            </a:extLst>
          </p:cNvPr>
          <p:cNvSpPr>
            <a:spLocks xmlns:a="http://schemas.openxmlformats.org/drawingml/2006/main" noGrp="1"/>
          </p:cNvSpPr>
          <p:nvPr/>
        </p:nvSpPr>
        <p:spPr>
          <a:xfrm xmlns:a="http://schemas.openxmlformats.org/drawingml/2006/main">
            <a:off x="609600" y="14668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B78"/>
                </a:solidFill>
                <a:latin typeface="Arial"/>
                <a:ea typeface="Arial"/>
                <a:cs typeface="Arial"/>
              </a:defRPr>
            </a:defPPr>
          </a:lstStyle>
          <a:p xmlns:a="http://schemas.openxmlformats.org/drawingml/2006/main">
            <a:pPr algn="l">
              <a:defRPr sz="2100" b="0">
                <a:solidFill>
                  <a:srgbClr val="526B78"/>
                </a:solidFill>
                <a:latin typeface="Arial"/>
                <a:ea typeface="Arial"/>
                <a:cs typeface="Arial"/>
              </a:defRPr>
            </a:pPr>
            <a:r>
              <a:rPr sz="2100" b="0">
                <a:solidFill>
                  <a:srgbClr val="526B78"/>
                </a:solidFill>
                <a:latin typeface="Arial"/>
                <a:ea typeface="Arial"/>
                <a:cs typeface="Arial"/>
              </a:rPr>
              <a:t>Backend quản lý nghiệp vụ và quyền truy cập dữ liệu</a:t>
            </a:r>
          </a:p>
        </p:txBody>
      </p:sp>
      <p:pic>
        <p:nvPicPr>
          <p:cNvPr id="5" name="">
            <a:extLst xmlns:a="http://schemas.openxmlformats.org/drawingml/2006/main">
              <a:ext uri="{FF2B5EF4-FFF2-40B4-BE49-F238E27FC236}">
                <a16:creationId xmlns:a16="http://schemas.microsoft.com/office/drawing/2014/main" id="{196C73A3-FF25-4FD1-8768-2567CB1C81D9}"/>
              </a:ext>
            </a:extLst>
          </p:cNvPr>
          <p:cNvPicPr>
            <a:picLocks xmlns:a="http://schemas.openxmlformats.org/drawingml/2006/main" noChangeAspect="1"/>
          </p:cNvPicPr>
          <p:nvPr/>
        </p:nvPicPr>
        <p:blipFill>
          <a:blip xmlns:r="http://schemas.openxmlformats.org/officeDocument/2006/relationships" xmlns:a="http://schemas.openxmlformats.org/drawingml/2006/main" r:embed="R448783fee0f94956"/>
          <a:stretch xmlns:a="http://schemas.openxmlformats.org/drawingml/2006/main"/>
        </p:blipFill>
        <p:spPr>
          <a:xfrm xmlns:a="http://schemas.openxmlformats.org/drawingml/2006/main">
            <a:off x="1320390" y="2124075"/>
            <a:ext cx="9551221" cy="3819525"/>
          </a:xfrm>
          <a:prstGeom xmlns:a="http://schemas.openxmlformats.org/drawingml/2006/main" prst="rect">
            <a:avLst/>
          </a:prstGeom>
        </p:spPr>
      </p:pic>
    </p:spTree>
    <p:extLst>
      <p:ext uri="{BB962C8B-B14F-4D97-AF65-F5344CB8AC3E}">
        <p14:creationId xmlns:p14="http://schemas.microsoft.com/office/powerpoint/2010/main" val="12656534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53">
            <a:extLst xmlns:a="http://schemas.openxmlformats.org/drawingml/2006/main">
              <a:ext uri="{FF2B5EF4-FFF2-40B4-BE49-F238E27FC236}">
                <a16:creationId xmlns:a16="http://schemas.microsoft.com/office/drawing/2014/main" id="{F6227FA6-3FDF-4900-87CF-00C8B802913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Database và tính đúng đắn của số tiền</a:t>
            </a:r>
          </a:p>
        </p:txBody>
      </p:sp>
      <p:sp>
        <p:nvSpPr>
          <p:cNvPr id="2" name="text-54">
            <a:extLst xmlns:a="http://schemas.openxmlformats.org/drawingml/2006/main">
              <a:ext uri="{FF2B5EF4-FFF2-40B4-BE49-F238E27FC236}">
                <a16:creationId xmlns:a16="http://schemas.microsoft.com/office/drawing/2014/main" id="{15671934-381D-40B2-954C-4B94C8AE891D}"/>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Nguyễn Đức Trí (24ITE112)</a:t>
            </a:r>
          </a:p>
        </p:txBody>
      </p:sp>
      <p:sp>
        <p:nvSpPr>
          <p:cNvPr id="3" name="text-55">
            <a:extLst xmlns:a="http://schemas.openxmlformats.org/drawingml/2006/main">
              <a:ext uri="{FF2B5EF4-FFF2-40B4-BE49-F238E27FC236}">
                <a16:creationId xmlns:a16="http://schemas.microsoft.com/office/drawing/2014/main" id="{07B22846-4618-4D40-A8A8-E12886E11565}"/>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06 / 17</a:t>
            </a:r>
          </a:p>
        </p:txBody>
      </p:sp>
      <p:sp>
        <p:nvSpPr>
          <p:cNvPr id="4" name="text-56">
            <a:extLst xmlns:a="http://schemas.openxmlformats.org/drawingml/2006/main">
              <a:ext uri="{FF2B5EF4-FFF2-40B4-BE49-F238E27FC236}">
                <a16:creationId xmlns:a16="http://schemas.microsoft.com/office/drawing/2014/main" id="{3A717B37-28D7-4F28-8FE6-7E41A0C865E4}"/>
              </a:ext>
            </a:extLst>
          </p:cNvPr>
          <p:cNvSpPr>
            <a:spLocks xmlns:a="http://schemas.openxmlformats.org/drawingml/2006/main" noGrp="1"/>
          </p:cNvSpPr>
          <p:nvPr/>
        </p:nvSpPr>
        <p:spPr>
          <a:xfrm xmlns:a="http://schemas.openxmlformats.org/drawingml/2006/main">
            <a:off x="609600" y="1590675"/>
            <a:ext cx="1714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008A63"/>
                </a:solidFill>
                <a:latin typeface="Arial"/>
                <a:ea typeface="Arial"/>
                <a:cs typeface="Arial"/>
              </a:defRPr>
            </a:defPPr>
          </a:lstStyle>
          <a:p xmlns:a="http://schemas.openxmlformats.org/drawingml/2006/main">
            <a:pPr algn="l">
              <a:defRPr sz="5700" b="1">
                <a:solidFill>
                  <a:srgbClr val="008A63"/>
                </a:solidFill>
                <a:latin typeface="Arial"/>
                <a:ea typeface="Arial"/>
                <a:cs typeface="Arial"/>
              </a:defRPr>
            </a:pPr>
            <a:r>
              <a:rPr sz="5700" b="1">
                <a:solidFill>
                  <a:srgbClr val="008A63"/>
                </a:solidFill>
                <a:latin typeface="Arial"/>
                <a:ea typeface="Arial"/>
                <a:cs typeface="Arial"/>
              </a:rPr>
              <a:t>21</a:t>
            </a:r>
          </a:p>
        </p:txBody>
      </p:sp>
      <p:sp>
        <p:nvSpPr>
          <p:cNvPr id="5" name="text-57">
            <a:extLst xmlns:a="http://schemas.openxmlformats.org/drawingml/2006/main">
              <a:ext uri="{FF2B5EF4-FFF2-40B4-BE49-F238E27FC236}">
                <a16:creationId xmlns:a16="http://schemas.microsoft.com/office/drawing/2014/main" id="{2F7DB1A9-A527-4B73-AB9A-8D93FCE711C7}"/>
              </a:ext>
            </a:extLst>
          </p:cNvPr>
          <p:cNvSpPr>
            <a:spLocks xmlns:a="http://schemas.openxmlformats.org/drawingml/2006/main" noGrp="1"/>
          </p:cNvSpPr>
          <p:nvPr/>
        </p:nvSpPr>
        <p:spPr>
          <a:xfrm xmlns:a="http://schemas.openxmlformats.org/drawingml/2006/main">
            <a:off x="609600" y="2476500"/>
            <a:ext cx="4019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92B3D"/>
                </a:solidFill>
                <a:latin typeface="Arial"/>
                <a:ea typeface="Arial"/>
                <a:cs typeface="Arial"/>
              </a:defRPr>
            </a:defPPr>
          </a:lstStyle>
          <a:p xmlns:a="http://schemas.openxmlformats.org/drawingml/2006/main">
            <a:pPr algn="l">
              <a:defRPr sz="2100" b="1">
                <a:solidFill>
                  <a:srgbClr val="092B3D"/>
                </a:solidFill>
                <a:latin typeface="Arial"/>
                <a:ea typeface="Arial"/>
                <a:cs typeface="Arial"/>
              </a:defRPr>
            </a:pPr>
            <a:r>
              <a:rPr sz="2100" b="1">
                <a:solidFill>
                  <a:srgbClr val="092B3D"/>
                </a:solidFill>
                <a:latin typeface="Arial"/>
                <a:ea typeface="Arial"/>
                <a:cs typeface="Arial"/>
              </a:rPr>
              <a:t>bảng trong schema finsight</a:t>
            </a:r>
          </a:p>
        </p:txBody>
      </p:sp>
      <p:sp>
        <p:nvSpPr>
          <p:cNvPr id="6" name="text-58">
            <a:extLst xmlns:a="http://schemas.openxmlformats.org/drawingml/2006/main">
              <a:ext uri="{FF2B5EF4-FFF2-40B4-BE49-F238E27FC236}">
                <a16:creationId xmlns:a16="http://schemas.microsoft.com/office/drawing/2014/main" id="{2854A2D0-980C-4E01-A962-49445A3A244D}"/>
              </a:ext>
            </a:extLst>
          </p:cNvPr>
          <p:cNvSpPr>
            <a:spLocks xmlns:a="http://schemas.openxmlformats.org/drawingml/2006/main" noGrp="1"/>
          </p:cNvSpPr>
          <p:nvPr/>
        </p:nvSpPr>
        <p:spPr>
          <a:xfrm xmlns:a="http://schemas.openxmlformats.org/drawingml/2006/main">
            <a:off x="609600" y="33242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MariaDB XAMPP</a:t>
            </a:r>
          </a:p>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Tiền dùng DECIMAL(19,2)</a:t>
            </a:r>
          </a:p>
        </p:txBody>
      </p:sp>
      <p:sp>
        <p:nvSpPr>
          <p:cNvPr id="7" name="text-59">
            <a:extLst xmlns:a="http://schemas.openxmlformats.org/drawingml/2006/main">
              <a:ext uri="{FF2B5EF4-FFF2-40B4-BE49-F238E27FC236}">
                <a16:creationId xmlns:a16="http://schemas.microsoft.com/office/drawing/2014/main" id="{6D6D23AF-EC42-4FCC-B8DB-CA0FBB81F6C0}"/>
              </a:ext>
            </a:extLst>
          </p:cNvPr>
          <p:cNvSpPr>
            <a:spLocks xmlns:a="http://schemas.openxmlformats.org/drawingml/2006/main" noGrp="1"/>
          </p:cNvSpPr>
          <p:nvPr/>
        </p:nvSpPr>
        <p:spPr>
          <a:xfrm xmlns:a="http://schemas.openxmlformats.org/drawingml/2006/main">
            <a:off x="609600" y="46863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Transaction bảo toàn số dư</a:t>
            </a:r>
          </a:p>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Dữ liệu riêng theo tài khoản</a:t>
            </a:r>
          </a:p>
        </p:txBody>
      </p:sp>
      <p:pic>
        <p:nvPicPr>
          <p:cNvPr id="8" name="">
            <a:extLst xmlns:a="http://schemas.openxmlformats.org/drawingml/2006/main">
              <a:ext uri="{FF2B5EF4-FFF2-40B4-BE49-F238E27FC236}">
                <a16:creationId xmlns:a16="http://schemas.microsoft.com/office/drawing/2014/main" id="{1CAC792C-9D6D-4626-930E-F34794B5A925}"/>
              </a:ext>
            </a:extLst>
          </p:cNvPr>
          <p:cNvPicPr>
            <a:picLocks xmlns:a="http://schemas.openxmlformats.org/drawingml/2006/main" noChangeAspect="1"/>
          </p:cNvPicPr>
          <p:nvPr/>
        </p:nvPicPr>
        <p:blipFill>
          <a:blip xmlns:r="http://schemas.openxmlformats.org/officeDocument/2006/relationships" xmlns:a="http://schemas.openxmlformats.org/drawingml/2006/main" r:embed="Rbd5a300c8d3840fb"/>
          <a:srcRect xmlns:a="http://schemas.openxmlformats.org/drawingml/2006/main" l="8400" t="69200" r="2000" b="4500"/>
          <a:stretch xmlns:a="http://schemas.openxmlformats.org/drawingml/2006/main"/>
        </p:blipFill>
        <p:spPr>
          <a:xfrm xmlns:a="http://schemas.openxmlformats.org/drawingml/2006/main">
            <a:off x="4876800" y="1933575"/>
            <a:ext cx="6705600" cy="3838575"/>
          </a:xfrm>
          <a:prstGeom xmlns:a="http://schemas.openxmlformats.org/drawingml/2006/main" prst="rect">
            <a:avLst/>
          </a:prstGeom>
        </p:spPr>
      </p:pic>
    </p:spTree>
    <p:extLst>
      <p:ext uri="{BB962C8B-B14F-4D97-AF65-F5344CB8AC3E}">
        <p14:creationId xmlns:p14="http://schemas.microsoft.com/office/powerpoint/2010/main" val="10439793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60">
            <a:extLst xmlns:a="http://schemas.openxmlformats.org/drawingml/2006/main">
              <a:ext uri="{FF2B5EF4-FFF2-40B4-BE49-F238E27FC236}">
                <a16:creationId xmlns:a16="http://schemas.microsoft.com/office/drawing/2014/main" id="{5FB48495-7D60-450D-AE50-2E3C58818A7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Bảo vệ dữ liệu và xử lý đồng thời</a:t>
            </a:r>
          </a:p>
        </p:txBody>
      </p:sp>
      <p:sp>
        <p:nvSpPr>
          <p:cNvPr id="2" name="text-61">
            <a:extLst xmlns:a="http://schemas.openxmlformats.org/drawingml/2006/main">
              <a:ext uri="{FF2B5EF4-FFF2-40B4-BE49-F238E27FC236}">
                <a16:creationId xmlns:a16="http://schemas.microsoft.com/office/drawing/2014/main" id="{0A0CC85C-5D12-4143-9AE6-45C68FC0D4B4}"/>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Nguyễn Đức Trí (24ITE112)</a:t>
            </a:r>
          </a:p>
        </p:txBody>
      </p:sp>
      <p:sp>
        <p:nvSpPr>
          <p:cNvPr id="3" name="text-62">
            <a:extLst xmlns:a="http://schemas.openxmlformats.org/drawingml/2006/main">
              <a:ext uri="{FF2B5EF4-FFF2-40B4-BE49-F238E27FC236}">
                <a16:creationId xmlns:a16="http://schemas.microsoft.com/office/drawing/2014/main" id="{7FF4C381-E2E7-48D9-AA8A-E37DE8612DD8}"/>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07 / 17</a:t>
            </a:r>
          </a:p>
        </p:txBody>
      </p:sp>
      <p:sp>
        <p:nvSpPr>
          <p:cNvPr id="4" name="text-63">
            <a:extLst xmlns:a="http://schemas.openxmlformats.org/drawingml/2006/main">
              <a:ext uri="{FF2B5EF4-FFF2-40B4-BE49-F238E27FC236}">
                <a16:creationId xmlns:a16="http://schemas.microsoft.com/office/drawing/2014/main" id="{21082E17-92C5-441D-A21C-1A082D926AAB}"/>
              </a:ext>
            </a:extLst>
          </p:cNvPr>
          <p:cNvSpPr>
            <a:spLocks xmlns:a="http://schemas.openxmlformats.org/drawingml/2006/main" noGrp="1"/>
          </p:cNvSpPr>
          <p:nvPr/>
        </p:nvSpPr>
        <p:spPr>
          <a:xfrm xmlns:a="http://schemas.openxmlformats.org/drawingml/2006/main">
            <a:off x="609600" y="1590675"/>
            <a:ext cx="5467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A63"/>
                </a:solidFill>
                <a:latin typeface="Arial"/>
                <a:ea typeface="Arial"/>
                <a:cs typeface="Arial"/>
              </a:defRPr>
            </a:defPPr>
          </a:lstStyle>
          <a:p xmlns:a="http://schemas.openxmlformats.org/drawingml/2006/main">
            <a:pPr algn="l">
              <a:defRPr sz="2325" b="1">
                <a:solidFill>
                  <a:srgbClr val="008A63"/>
                </a:solidFill>
                <a:latin typeface="Arial"/>
                <a:ea typeface="Arial"/>
                <a:cs typeface="Arial"/>
              </a:defRPr>
            </a:pPr>
            <a:r>
              <a:rPr sz="2325" b="1">
                <a:solidFill>
                  <a:srgbClr val="008A63"/>
                </a:solidFill>
                <a:latin typeface="Arial"/>
                <a:ea typeface="Arial"/>
                <a:cs typeface="Arial"/>
              </a:rPr>
              <a:t>Phân quyền và phiên đăng nhập</a:t>
            </a:r>
          </a:p>
        </p:txBody>
      </p:sp>
      <p:sp>
        <p:nvSpPr>
          <p:cNvPr id="5" name="text-64">
            <a:extLst xmlns:a="http://schemas.openxmlformats.org/drawingml/2006/main">
              <a:ext uri="{FF2B5EF4-FFF2-40B4-BE49-F238E27FC236}">
                <a16:creationId xmlns:a16="http://schemas.microsoft.com/office/drawing/2014/main" id="{BDDC0BC3-0474-4D33-A4AE-F813B4E77467}"/>
              </a:ext>
            </a:extLst>
          </p:cNvPr>
          <p:cNvSpPr>
            <a:spLocks xmlns:a="http://schemas.openxmlformats.org/drawingml/2006/main" noGrp="1"/>
          </p:cNvSpPr>
          <p:nvPr/>
        </p:nvSpPr>
        <p:spPr>
          <a:xfrm xmlns:a="http://schemas.openxmlformats.org/drawingml/2006/main">
            <a:off x="609600" y="2466975"/>
            <a:ext cx="5334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92B3D"/>
                </a:solidFill>
                <a:latin typeface="Arial"/>
                <a:ea typeface="Arial"/>
                <a:cs typeface="Arial"/>
              </a:defRPr>
            </a:defPPr>
          </a:lstStyle>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Session cookie HttpOnly</a:t>
            </a:r>
          </a:p>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CSRF cho thao tác ghi</a:t>
            </a:r>
          </a:p>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Chủ sở hữu lấy từ phiên</a:t>
            </a:r>
          </a:p>
        </p:txBody>
      </p:sp>
      <p:sp>
        <p:nvSpPr>
          <p:cNvPr id="6" name="text-65">
            <a:extLst xmlns:a="http://schemas.openxmlformats.org/drawingml/2006/main">
              <a:ext uri="{FF2B5EF4-FFF2-40B4-BE49-F238E27FC236}">
                <a16:creationId xmlns:a16="http://schemas.microsoft.com/office/drawing/2014/main" id="{23F584F7-1A60-4393-8680-7187BED1BB21}"/>
              </a:ext>
            </a:extLst>
          </p:cNvPr>
          <p:cNvSpPr>
            <a:spLocks xmlns:a="http://schemas.openxmlformats.org/drawingml/2006/main" noGrp="1"/>
          </p:cNvSpPr>
          <p:nvPr/>
        </p:nvSpPr>
        <p:spPr>
          <a:xfrm xmlns:a="http://schemas.openxmlformats.org/drawingml/2006/main">
            <a:off x="609600" y="4143375"/>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Transaction và khóa bản ghi</a:t>
            </a:r>
          </a:p>
        </p:txBody>
      </p:sp>
      <p:sp>
        <p:nvSpPr>
          <p:cNvPr id="7" name="text-66">
            <a:extLst xmlns:a="http://schemas.openxmlformats.org/drawingml/2006/main">
              <a:ext uri="{FF2B5EF4-FFF2-40B4-BE49-F238E27FC236}">
                <a16:creationId xmlns:a16="http://schemas.microsoft.com/office/drawing/2014/main" id="{44F6DDBA-93C8-4124-AABC-2AC0669BD8EA}"/>
              </a:ext>
            </a:extLst>
          </p:cNvPr>
          <p:cNvSpPr>
            <a:spLocks xmlns:a="http://schemas.openxmlformats.org/drawingml/2006/main" noGrp="1"/>
          </p:cNvSpPr>
          <p:nvPr/>
        </p:nvSpPr>
        <p:spPr>
          <a:xfrm xmlns:a="http://schemas.openxmlformats.org/drawingml/2006/main">
            <a:off x="609600" y="483870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92B3D"/>
                </a:solidFill>
                <a:latin typeface="Arial"/>
                <a:ea typeface="Arial"/>
                <a:cs typeface="Arial"/>
              </a:defRPr>
            </a:defPPr>
          </a:lstStyle>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Chuyển ví bảo toàn số dư</a:t>
            </a:r>
          </a:p>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CSV lỗi rollback toàn bộ file</a:t>
            </a:r>
          </a:p>
        </p:txBody>
      </p:sp>
      <p:sp>
        <p:nvSpPr>
          <p:cNvPr id="8" name="text-67">
            <a:extLst xmlns:a="http://schemas.openxmlformats.org/drawingml/2006/main">
              <a:ext uri="{FF2B5EF4-FFF2-40B4-BE49-F238E27FC236}">
                <a16:creationId xmlns:a16="http://schemas.microsoft.com/office/drawing/2014/main" id="{45D3B4BE-A22B-40A8-9188-AEE3078A76E5}"/>
              </a:ext>
            </a:extLst>
          </p:cNvPr>
          <p:cNvSpPr>
            <a:spLocks xmlns:a="http://schemas.openxmlformats.org/drawingml/2006/main" noGrp="1"/>
          </p:cNvSpPr>
          <p:nvPr/>
        </p:nvSpPr>
        <p:spPr>
          <a:xfrm xmlns:a="http://schemas.openxmlformats.org/drawingml/2006/main">
            <a:off x="6477000" y="1590675"/>
            <a:ext cx="5105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92B3D"/>
                </a:solidFill>
                <a:latin typeface="Arial"/>
                <a:ea typeface="Arial"/>
                <a:cs typeface="Arial"/>
              </a:defRPr>
            </a:defPPr>
          </a:lstStyle>
          <a:p xmlns:a="http://schemas.openxmlformats.org/drawingml/2006/main">
            <a:pPr algn="l">
              <a:defRPr sz="2100" b="1">
                <a:solidFill>
                  <a:srgbClr val="092B3D"/>
                </a:solidFill>
                <a:latin typeface="Arial"/>
                <a:ea typeface="Arial"/>
                <a:cs typeface="Arial"/>
              </a:defRPr>
            </a:pPr>
            <a:r>
              <a:rPr sz="2100" b="1">
                <a:solidFill>
                  <a:srgbClr val="092B3D"/>
                </a:solidFill>
                <a:latin typeface="Arial"/>
                <a:ea typeface="Arial"/>
                <a:cs typeface="Arial"/>
              </a:rPr>
              <a:t>Số dư trong ca kiểm thử</a:t>
            </a:r>
          </a:p>
        </p:txBody>
      </p:sp>
      <p:graphicFrame>
        <p:nvGraphicFramePr>
          <p:cNvPr id="9" name="Chart">
            <a:extLst xmlns:a="http://schemas.openxmlformats.org/drawingml/2006/main">
              <a:ext uri="{FF2B5EF4-FFF2-40B4-BE49-F238E27FC236}">
                <a16:creationId xmlns:a16="http://schemas.microsoft.com/office/drawing/2014/main" id="{2293D212-BC5A-45C3-B0FB-9F71299B70ED}"/>
              </a:ext>
            </a:extLst>
          </p:cNvPr>
          <p:cNvGraphicFramePr/>
          <p:nvPr/>
        </p:nvGraphicFramePr>
        <p:xfrm>
          <a:off xmlns:a="http://schemas.openxmlformats.org/drawingml/2006/main" x="6477000" y="2238375"/>
          <a:ext xmlns:a="http://schemas.openxmlformats.org/drawingml/2006/main" cx="5105400" cy="3114675"/>
        </p:xfrm>
        <a:graphic xmlns:a="http://schemas.openxmlformats.org/drawingml/2006/main">
          <a:graphicData uri="http://schemas.openxmlformats.org/drawingml/2006/chart">
            <c:chart xmlns:r="http://schemas.openxmlformats.org/officeDocument/2006/relationships" xmlns:c="http://schemas.openxmlformats.org/drawingml/2006/chart" r:id="R5f48d98669cd4374"/>
          </a:graphicData>
        </a:graphic>
      </p:graphicFrame>
      <p:sp>
        <p:nvSpPr>
          <p:cNvPr id="10" name="text-68">
            <a:extLst xmlns:a="http://schemas.openxmlformats.org/drawingml/2006/main">
              <a:ext uri="{FF2B5EF4-FFF2-40B4-BE49-F238E27FC236}">
                <a16:creationId xmlns:a16="http://schemas.microsoft.com/office/drawing/2014/main" id="{0DBE0CD2-04ED-40CB-B1F1-837F22B003AA}"/>
              </a:ext>
            </a:extLst>
          </p:cNvPr>
          <p:cNvSpPr>
            <a:spLocks xmlns:a="http://schemas.openxmlformats.org/drawingml/2006/main" noGrp="1"/>
          </p:cNvSpPr>
          <p:nvPr/>
        </p:nvSpPr>
        <p:spPr>
          <a:xfrm xmlns:a="http://schemas.openxmlformats.org/drawingml/2006/main">
            <a:off x="6477000" y="5715000"/>
            <a:ext cx="5105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8A63"/>
                </a:solidFill>
                <a:latin typeface="Arial"/>
                <a:ea typeface="Arial"/>
                <a:cs typeface="Arial"/>
              </a:defRPr>
            </a:defPPr>
          </a:lstStyle>
          <a:p xmlns:a="http://schemas.openxmlformats.org/drawingml/2006/main">
            <a:pPr algn="l">
              <a:defRPr sz="1875" b="1">
                <a:solidFill>
                  <a:srgbClr val="008A63"/>
                </a:solidFill>
                <a:latin typeface="Arial"/>
                <a:ea typeface="Arial"/>
                <a:cs typeface="Arial"/>
              </a:defRPr>
            </a:pPr>
            <a:r>
              <a:rPr sz="1875" b="1">
                <a:solidFill>
                  <a:srgbClr val="008A63"/>
                </a:solidFill>
                <a:latin typeface="Arial"/>
                <a:ea typeface="Arial"/>
                <a:cs typeface="Arial"/>
              </a:rPr>
              <a:t>2 file × 200 dòng, đủ 400 giao dịch</a:t>
            </a:r>
          </a:p>
        </p:txBody>
      </p:sp>
    </p:spTree>
    <p:extLst>
      <p:ext uri="{BB962C8B-B14F-4D97-AF65-F5344CB8AC3E}">
        <p14:creationId xmlns:p14="http://schemas.microsoft.com/office/powerpoint/2010/main" val="7028195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69">
            <a:extLst xmlns:a="http://schemas.openxmlformats.org/drawingml/2006/main">
              <a:ext uri="{FF2B5EF4-FFF2-40B4-BE49-F238E27FC236}">
                <a16:creationId xmlns:a16="http://schemas.microsoft.com/office/drawing/2014/main" id="{3F5CB43D-5B6C-4DBC-B68C-3D12F0259DE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Huấn luyện và kiểm chứng mô hình</a:t>
            </a:r>
          </a:p>
        </p:txBody>
      </p:sp>
      <p:sp>
        <p:nvSpPr>
          <p:cNvPr id="2" name="text-70">
            <a:extLst xmlns:a="http://schemas.openxmlformats.org/drawingml/2006/main">
              <a:ext uri="{FF2B5EF4-FFF2-40B4-BE49-F238E27FC236}">
                <a16:creationId xmlns:a16="http://schemas.microsoft.com/office/drawing/2014/main" id="{934527CF-5A71-4DF9-9DEB-6EAC8FE4898F}"/>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Trần Minh Nhật (24ITE071)</a:t>
            </a:r>
          </a:p>
        </p:txBody>
      </p:sp>
      <p:sp>
        <p:nvSpPr>
          <p:cNvPr id="3" name="text-71">
            <a:extLst xmlns:a="http://schemas.openxmlformats.org/drawingml/2006/main">
              <a:ext uri="{FF2B5EF4-FFF2-40B4-BE49-F238E27FC236}">
                <a16:creationId xmlns:a16="http://schemas.microsoft.com/office/drawing/2014/main" id="{F3EBD5A1-8066-4435-9D2B-9266280EFE40}"/>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08 / 17</a:t>
            </a:r>
          </a:p>
        </p:txBody>
      </p:sp>
      <p:sp>
        <p:nvSpPr>
          <p:cNvPr id="4" name="text-72">
            <a:extLst xmlns:a="http://schemas.openxmlformats.org/drawingml/2006/main">
              <a:ext uri="{FF2B5EF4-FFF2-40B4-BE49-F238E27FC236}">
                <a16:creationId xmlns:a16="http://schemas.microsoft.com/office/drawing/2014/main" id="{23FC0DA5-BA8B-4834-920A-6918331F928B}"/>
              </a:ext>
            </a:extLst>
          </p:cNvPr>
          <p:cNvSpPr>
            <a:spLocks xmlns:a="http://schemas.openxmlformats.org/drawingml/2006/main" noGrp="1"/>
          </p:cNvSpPr>
          <p:nvPr/>
        </p:nvSpPr>
        <p:spPr>
          <a:xfrm xmlns:a="http://schemas.openxmlformats.org/drawingml/2006/main">
            <a:off x="609600" y="14192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B78"/>
                </a:solidFill>
                <a:latin typeface="Arial"/>
                <a:ea typeface="Arial"/>
                <a:cs typeface="Arial"/>
              </a:defRPr>
            </a:defPPr>
          </a:lstStyle>
          <a:p xmlns:a="http://schemas.openxmlformats.org/drawingml/2006/main">
            <a:pPr algn="l">
              <a:defRPr sz="2100" b="0">
                <a:solidFill>
                  <a:srgbClr val="526B78"/>
                </a:solidFill>
                <a:latin typeface="Arial"/>
                <a:ea typeface="Arial"/>
                <a:cs typeface="Arial"/>
              </a:defRPr>
            </a:pPr>
            <a:r>
              <a:rPr sz="2100" b="0">
                <a:solidFill>
                  <a:srgbClr val="526B78"/>
                </a:solidFill>
                <a:latin typeface="Arial"/>
                <a:ea typeface="Arial"/>
                <a:cs typeface="Arial"/>
              </a:rPr>
              <a:t>Dữ liệu tài chính tổng hợp: 20 tài khoản × 365 ngày</a:t>
            </a:r>
          </a:p>
        </p:txBody>
      </p:sp>
      <p:pic>
        <p:nvPicPr>
          <p:cNvPr id="5" name="">
            <a:extLst xmlns:a="http://schemas.openxmlformats.org/drawingml/2006/main">
              <a:ext uri="{FF2B5EF4-FFF2-40B4-BE49-F238E27FC236}">
                <a16:creationId xmlns:a16="http://schemas.microsoft.com/office/drawing/2014/main" id="{BF3C5FF0-3167-4A8C-BEB2-6398090F36D9}"/>
              </a:ext>
            </a:extLst>
          </p:cNvPr>
          <p:cNvPicPr>
            <a:picLocks xmlns:a="http://schemas.openxmlformats.org/drawingml/2006/main" noChangeAspect="1"/>
          </p:cNvPicPr>
          <p:nvPr/>
        </p:nvPicPr>
        <p:blipFill>
          <a:blip xmlns:r="http://schemas.openxmlformats.org/officeDocument/2006/relationships" xmlns:a="http://schemas.openxmlformats.org/drawingml/2006/main" r:embed="R5b8440ee09514776"/>
          <a:srcRect xmlns:a="http://schemas.openxmlformats.org/drawingml/2006/main" l="1500" t="8000" r="500" b="8500"/>
          <a:stretch xmlns:a="http://schemas.openxmlformats.org/drawingml/2006/main"/>
        </p:blipFill>
        <p:spPr>
          <a:xfrm xmlns:a="http://schemas.openxmlformats.org/drawingml/2006/main">
            <a:off x="1676400" y="1866900"/>
            <a:ext cx="8839200" cy="3781425"/>
          </a:xfrm>
          <a:prstGeom xmlns:a="http://schemas.openxmlformats.org/drawingml/2006/main" prst="rect">
            <a:avLst/>
          </a:prstGeom>
        </p:spPr>
      </p:pic>
      <p:sp>
        <p:nvSpPr>
          <p:cNvPr id="6" name="text-73">
            <a:extLst xmlns:a="http://schemas.openxmlformats.org/drawingml/2006/main">
              <a:ext uri="{FF2B5EF4-FFF2-40B4-BE49-F238E27FC236}">
                <a16:creationId xmlns:a16="http://schemas.microsoft.com/office/drawing/2014/main" id="{D3377F29-B479-4D80-8423-18D08678AD69}"/>
              </a:ext>
            </a:extLst>
          </p:cNvPr>
          <p:cNvSpPr>
            <a:spLocks xmlns:a="http://schemas.openxmlformats.org/drawingml/2006/main" noGrp="1"/>
          </p:cNvSpPr>
          <p:nvPr/>
        </p:nvSpPr>
        <p:spPr>
          <a:xfrm xmlns:a="http://schemas.openxmlformats.org/drawingml/2006/main">
            <a:off x="609600" y="5753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8A63"/>
                </a:solidFill>
                <a:latin typeface="Arial"/>
                <a:ea typeface="Arial"/>
                <a:cs typeface="Arial"/>
              </a:defRPr>
            </a:defPPr>
          </a:lstStyle>
          <a:p xmlns:a="http://schemas.openxmlformats.org/drawingml/2006/main">
            <a:pPr algn="l">
              <a:defRPr sz="1875" b="1">
                <a:solidFill>
                  <a:srgbClr val="008A63"/>
                </a:solidFill>
                <a:latin typeface="Arial"/>
                <a:ea typeface="Arial"/>
                <a:cs typeface="Arial"/>
              </a:defRPr>
            </a:pPr>
            <a:r>
              <a:rPr sz="1875" b="1">
                <a:solidFill>
                  <a:srgbClr val="008A63"/>
                </a:solidFill>
                <a:latin typeface="Arial"/>
                <a:ea typeface="Arial"/>
                <a:cs typeface="Arial"/>
              </a:rPr>
              <a:t>Chọn mô hình bằng validation, báo cáo test sau khi chọn</a:t>
            </a:r>
          </a:p>
        </p:txBody>
      </p:sp>
    </p:spTree>
    <p:extLst>
      <p:ext uri="{BB962C8B-B14F-4D97-AF65-F5344CB8AC3E}">
        <p14:creationId xmlns:p14="http://schemas.microsoft.com/office/powerpoint/2010/main" val="2211177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74">
            <a:extLst xmlns:a="http://schemas.openxmlformats.org/drawingml/2006/main">
              <a:ext uri="{FF2B5EF4-FFF2-40B4-BE49-F238E27FC236}">
                <a16:creationId xmlns:a16="http://schemas.microsoft.com/office/drawing/2014/main" id="{4C1C2A68-494B-48FE-9537-114DE2C1A79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Random Forest dự báo chi tiêu</a:t>
            </a:r>
          </a:p>
        </p:txBody>
      </p:sp>
      <p:sp>
        <p:nvSpPr>
          <p:cNvPr id="2" name="text-75">
            <a:extLst xmlns:a="http://schemas.openxmlformats.org/drawingml/2006/main">
              <a:ext uri="{FF2B5EF4-FFF2-40B4-BE49-F238E27FC236}">
                <a16:creationId xmlns:a16="http://schemas.microsoft.com/office/drawing/2014/main" id="{8A50359E-C165-482B-B798-74E47EE34A63}"/>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Trần Minh Nhật (24ITE071)</a:t>
            </a:r>
          </a:p>
        </p:txBody>
      </p:sp>
      <p:sp>
        <p:nvSpPr>
          <p:cNvPr id="3" name="text-76">
            <a:extLst xmlns:a="http://schemas.openxmlformats.org/drawingml/2006/main">
              <a:ext uri="{FF2B5EF4-FFF2-40B4-BE49-F238E27FC236}">
                <a16:creationId xmlns:a16="http://schemas.microsoft.com/office/drawing/2014/main" id="{E6AB26A1-9811-43CB-93D7-F4CE56F32A47}"/>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09 / 17</a:t>
            </a:r>
          </a:p>
        </p:txBody>
      </p:sp>
      <p:pic>
        <p:nvPicPr>
          <p:cNvPr id="4" name="">
            <a:extLst xmlns:a="http://schemas.openxmlformats.org/drawingml/2006/main">
              <a:ext uri="{FF2B5EF4-FFF2-40B4-BE49-F238E27FC236}">
                <a16:creationId xmlns:a16="http://schemas.microsoft.com/office/drawing/2014/main" id="{131C1D8B-B10F-4F9F-A9BF-2359AD86A9CD}"/>
              </a:ext>
            </a:extLst>
          </p:cNvPr>
          <p:cNvPicPr>
            <a:picLocks xmlns:a="http://schemas.openxmlformats.org/drawingml/2006/main" noChangeAspect="1"/>
          </p:cNvPicPr>
          <p:nvPr/>
        </p:nvPicPr>
        <p:blipFill>
          <a:blip xmlns:r="http://schemas.openxmlformats.org/officeDocument/2006/relationships" xmlns:a="http://schemas.openxmlformats.org/drawingml/2006/main" r:embed="R03c56e8d08f14100"/>
          <a:stretch xmlns:a="http://schemas.openxmlformats.org/drawingml/2006/main"/>
        </p:blipFill>
        <p:spPr>
          <a:xfrm xmlns:a="http://schemas.openxmlformats.org/drawingml/2006/main">
            <a:off x="609600" y="1745488"/>
            <a:ext cx="5762625" cy="3243200"/>
          </a:xfrm>
          <a:prstGeom xmlns:a="http://schemas.openxmlformats.org/drawingml/2006/main" prst="rect">
            <a:avLst/>
          </a:prstGeom>
        </p:spPr>
      </p:pic>
      <p:sp>
        <p:nvSpPr>
          <p:cNvPr id="5" name="text-77">
            <a:extLst xmlns:a="http://schemas.openxmlformats.org/drawingml/2006/main">
              <a:ext uri="{FF2B5EF4-FFF2-40B4-BE49-F238E27FC236}">
                <a16:creationId xmlns:a16="http://schemas.microsoft.com/office/drawing/2014/main" id="{C9BB9CD3-A11C-4974-8E17-1E8A4EF41955}"/>
              </a:ext>
            </a:extLst>
          </p:cNvPr>
          <p:cNvSpPr>
            <a:spLocks xmlns:a="http://schemas.openxmlformats.org/drawingml/2006/main" noGrp="1"/>
          </p:cNvSpPr>
          <p:nvPr/>
        </p:nvSpPr>
        <p:spPr>
          <a:xfrm xmlns:a="http://schemas.openxmlformats.org/drawingml/2006/main">
            <a:off x="609600" y="5238750"/>
            <a:ext cx="576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8A63"/>
                </a:solidFill>
                <a:latin typeface="Arial"/>
                <a:ea typeface="Arial"/>
                <a:cs typeface="Arial"/>
              </a:defRPr>
            </a:defPPr>
          </a:lstStyle>
          <a:p xmlns:a="http://schemas.openxmlformats.org/drawingml/2006/main">
            <a:pPr algn="l">
              <a:defRPr sz="2100" b="1">
                <a:solidFill>
                  <a:srgbClr val="008A63"/>
                </a:solidFill>
                <a:latin typeface="Arial"/>
                <a:ea typeface="Arial"/>
                <a:cs typeface="Arial"/>
              </a:defRPr>
            </a:pPr>
            <a:r>
              <a:rPr sz="2100" b="1">
                <a:solidFill>
                  <a:srgbClr val="008A63"/>
                </a:solidFill>
                <a:latin typeface="Arial"/>
                <a:ea typeface="Arial"/>
                <a:cs typeface="Arial"/>
              </a:rPr>
              <a:t>100 cây, độ sâu 5</a:t>
            </a:r>
          </a:p>
        </p:txBody>
      </p:sp>
      <p:sp>
        <p:nvSpPr>
          <p:cNvPr id="6" name="text-78">
            <a:extLst xmlns:a="http://schemas.openxmlformats.org/drawingml/2006/main">
              <a:ext uri="{FF2B5EF4-FFF2-40B4-BE49-F238E27FC236}">
                <a16:creationId xmlns:a16="http://schemas.microsoft.com/office/drawing/2014/main" id="{93B7807E-A858-4EAA-BE0E-54675341DD76}"/>
              </a:ext>
            </a:extLst>
          </p:cNvPr>
          <p:cNvSpPr>
            <a:spLocks xmlns:a="http://schemas.openxmlformats.org/drawingml/2006/main" noGrp="1"/>
          </p:cNvSpPr>
          <p:nvPr/>
        </p:nvSpPr>
        <p:spPr>
          <a:xfrm xmlns:a="http://schemas.openxmlformats.org/drawingml/2006/main">
            <a:off x="609600" y="5667375"/>
            <a:ext cx="576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92B3D"/>
                </a:solidFill>
                <a:latin typeface="Arial"/>
                <a:ea typeface="Arial"/>
                <a:cs typeface="Arial"/>
              </a:defRPr>
            </a:defPPr>
          </a:lstStyle>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Kết hợp dự đoán của nhiều cây</a:t>
            </a:r>
          </a:p>
        </p:txBody>
      </p:sp>
      <p:sp>
        <p:nvSpPr>
          <p:cNvPr id="7" name="text-79">
            <a:extLst xmlns:a="http://schemas.openxmlformats.org/drawingml/2006/main">
              <a:ext uri="{FF2B5EF4-FFF2-40B4-BE49-F238E27FC236}">
                <a16:creationId xmlns:a16="http://schemas.microsoft.com/office/drawing/2014/main" id="{113659EA-2449-4AA7-A4A1-B824BC526698}"/>
              </a:ext>
            </a:extLst>
          </p:cNvPr>
          <p:cNvSpPr>
            <a:spLocks xmlns:a="http://schemas.openxmlformats.org/drawingml/2006/main" noGrp="1"/>
          </p:cNvSpPr>
          <p:nvPr/>
        </p:nvSpPr>
        <p:spPr>
          <a:xfrm xmlns:a="http://schemas.openxmlformats.org/drawingml/2006/main">
            <a:off x="6715125" y="1600200"/>
            <a:ext cx="486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92B3D"/>
                </a:solidFill>
                <a:latin typeface="Arial"/>
                <a:ea typeface="Arial"/>
                <a:cs typeface="Arial"/>
              </a:defRPr>
            </a:defPPr>
          </a:lstStyle>
          <a:p xmlns:a="http://schemas.openxmlformats.org/drawingml/2006/main">
            <a:pPr algn="l">
              <a:defRPr sz="2025" b="1">
                <a:solidFill>
                  <a:srgbClr val="092B3D"/>
                </a:solidFill>
                <a:latin typeface="Arial"/>
                <a:ea typeface="Arial"/>
                <a:cs typeface="Arial"/>
              </a:defRPr>
            </a:pPr>
            <a:r>
              <a:rPr sz="2025" b="1">
                <a:solidFill>
                  <a:srgbClr val="092B3D"/>
                </a:solidFill>
                <a:latin typeface="Arial"/>
                <a:ea typeface="Arial"/>
                <a:cs typeface="Arial"/>
              </a:rPr>
              <a:t>MAE trong đánh giá 30 ngày</a:t>
            </a:r>
          </a:p>
        </p:txBody>
      </p:sp>
      <p:sp>
        <p:nvSpPr>
          <p:cNvPr id="8" name="text-80">
            <a:extLst xmlns:a="http://schemas.openxmlformats.org/drawingml/2006/main">
              <a:ext uri="{FF2B5EF4-FFF2-40B4-BE49-F238E27FC236}">
                <a16:creationId xmlns:a16="http://schemas.microsoft.com/office/drawing/2014/main" id="{068C25B9-2AAA-4036-A95D-4C871F780E5B}"/>
              </a:ext>
            </a:extLst>
          </p:cNvPr>
          <p:cNvSpPr>
            <a:spLocks xmlns:a="http://schemas.openxmlformats.org/drawingml/2006/main" noGrp="1"/>
          </p:cNvSpPr>
          <p:nvPr/>
        </p:nvSpPr>
        <p:spPr>
          <a:xfrm xmlns:a="http://schemas.openxmlformats.org/drawingml/2006/main">
            <a:off x="6715125" y="2057400"/>
            <a:ext cx="4867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B78"/>
                </a:solidFill>
                <a:latin typeface="Arial"/>
                <a:ea typeface="Arial"/>
                <a:cs typeface="Arial"/>
              </a:defRPr>
            </a:defPPr>
          </a:lstStyle>
          <a:p xmlns:a="http://schemas.openxmlformats.org/drawingml/2006/main">
            <a:pPr algn="l">
              <a:defRPr sz="1650" b="0">
                <a:solidFill>
                  <a:srgbClr val="526B78"/>
                </a:solidFill>
                <a:latin typeface="Arial"/>
                <a:ea typeface="Arial"/>
                <a:cs typeface="Arial"/>
              </a:defRPr>
            </a:pPr>
            <a:r>
              <a:rPr sz="1650" b="0">
                <a:solidFill>
                  <a:srgbClr val="526B78"/>
                </a:solidFill>
                <a:latin typeface="Arial"/>
                <a:ea typeface="Arial"/>
                <a:cs typeface="Arial"/>
              </a:rPr>
              <a:t>nghìn đồng/ngày, thấp hơn là tốt hơn</a:t>
            </a:r>
          </a:p>
        </p:txBody>
      </p:sp>
      <p:graphicFrame>
        <p:nvGraphicFramePr>
          <p:cNvPr id="9" name="Chart">
            <a:extLst xmlns:a="http://schemas.openxmlformats.org/drawingml/2006/main">
              <a:ext uri="{FF2B5EF4-FFF2-40B4-BE49-F238E27FC236}">
                <a16:creationId xmlns:a16="http://schemas.microsoft.com/office/drawing/2014/main" id="{C588647D-1221-4BE6-A39F-C2311F890B3F}"/>
              </a:ext>
            </a:extLst>
          </p:cNvPr>
          <p:cNvGraphicFramePr/>
          <p:nvPr/>
        </p:nvGraphicFramePr>
        <p:xfrm>
          <a:off xmlns:a="http://schemas.openxmlformats.org/drawingml/2006/main" x="6715125" y="2714625"/>
          <a:ext xmlns:a="http://schemas.openxmlformats.org/drawingml/2006/main" cx="4867275" cy="2724150"/>
        </p:xfrm>
        <a:graphic xmlns:a="http://schemas.openxmlformats.org/drawingml/2006/main">
          <a:graphicData uri="http://schemas.openxmlformats.org/drawingml/2006/chart">
            <c:chart xmlns:r="http://schemas.openxmlformats.org/officeDocument/2006/relationships" xmlns:c="http://schemas.openxmlformats.org/drawingml/2006/chart" r:id="Rb65ef1f0ff854b41"/>
          </a:graphicData>
        </a:graphic>
      </p:graphicFrame>
      <p:sp>
        <p:nvSpPr>
          <p:cNvPr id="10" name="text-81">
            <a:extLst xmlns:a="http://schemas.openxmlformats.org/drawingml/2006/main">
              <a:ext uri="{FF2B5EF4-FFF2-40B4-BE49-F238E27FC236}">
                <a16:creationId xmlns:a16="http://schemas.microsoft.com/office/drawing/2014/main" id="{1182317E-7196-4FA7-8B5F-AC9599239628}"/>
              </a:ext>
            </a:extLst>
          </p:cNvPr>
          <p:cNvSpPr>
            <a:spLocks xmlns:a="http://schemas.openxmlformats.org/drawingml/2006/main" noGrp="1"/>
          </p:cNvSpPr>
          <p:nvPr/>
        </p:nvSpPr>
        <p:spPr>
          <a:xfrm xmlns:a="http://schemas.openxmlformats.org/drawingml/2006/main">
            <a:off x="6715125" y="5676900"/>
            <a:ext cx="4867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B78"/>
                </a:solidFill>
                <a:latin typeface="Arial"/>
                <a:ea typeface="Arial"/>
                <a:cs typeface="Arial"/>
              </a:defRPr>
            </a:defPPr>
          </a:lstStyle>
          <a:p xmlns:a="http://schemas.openxmlformats.org/drawingml/2006/main">
            <a:pPr algn="l">
              <a:defRPr sz="1650" b="0">
                <a:solidFill>
                  <a:srgbClr val="526B78"/>
                </a:solidFill>
                <a:latin typeface="Arial"/>
                <a:ea typeface="Arial"/>
                <a:cs typeface="Arial"/>
              </a:defRPr>
            </a:pPr>
            <a:r>
              <a:rPr sz="1650" b="0">
                <a:solidFill>
                  <a:srgbClr val="526B78"/>
                </a:solidFill>
                <a:latin typeface="Arial"/>
                <a:ea typeface="Arial"/>
                <a:cs typeface="Arial"/>
              </a:rPr>
              <a:t>Benchmark tổng hợp v2</a:t>
            </a:r>
          </a:p>
        </p:txBody>
      </p:sp>
    </p:spTree>
    <p:extLst>
      <p:ext uri="{BB962C8B-B14F-4D97-AF65-F5344CB8AC3E}">
        <p14:creationId xmlns:p14="http://schemas.microsoft.com/office/powerpoint/2010/main" val="9044040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82">
            <a:extLst xmlns:a="http://schemas.openxmlformats.org/drawingml/2006/main">
              <a:ext uri="{FF2B5EF4-FFF2-40B4-BE49-F238E27FC236}">
                <a16:creationId xmlns:a16="http://schemas.microsoft.com/office/drawing/2014/main" id="{8455CF0E-0172-455A-8C66-C2EDC5A1C689}"/>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Đánh giá dự báo trên dữ liệu tổng hợp</a:t>
            </a:r>
          </a:p>
        </p:txBody>
      </p:sp>
      <p:sp>
        <p:nvSpPr>
          <p:cNvPr id="2" name="text-83">
            <a:extLst xmlns:a="http://schemas.openxmlformats.org/drawingml/2006/main">
              <a:ext uri="{FF2B5EF4-FFF2-40B4-BE49-F238E27FC236}">
                <a16:creationId xmlns:a16="http://schemas.microsoft.com/office/drawing/2014/main" id="{F247D701-7680-4FD3-91D9-F6280A33450B}"/>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Trần Minh Nhật (24ITE071)</a:t>
            </a:r>
          </a:p>
        </p:txBody>
      </p:sp>
      <p:sp>
        <p:nvSpPr>
          <p:cNvPr id="3" name="text-84">
            <a:extLst xmlns:a="http://schemas.openxmlformats.org/drawingml/2006/main">
              <a:ext uri="{FF2B5EF4-FFF2-40B4-BE49-F238E27FC236}">
                <a16:creationId xmlns:a16="http://schemas.microsoft.com/office/drawing/2014/main" id="{981E023F-A3ED-41C9-AF79-86DB840D9EC5}"/>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10 / 17</a:t>
            </a:r>
          </a:p>
        </p:txBody>
      </p:sp>
      <p:sp>
        <p:nvSpPr>
          <p:cNvPr id="4" name="text-85">
            <a:extLst xmlns:a="http://schemas.openxmlformats.org/drawingml/2006/main">
              <a:ext uri="{FF2B5EF4-FFF2-40B4-BE49-F238E27FC236}">
                <a16:creationId xmlns:a16="http://schemas.microsoft.com/office/drawing/2014/main" id="{C9A61A65-4F7B-4B12-A0B3-C311CB763C5A}"/>
              </a:ext>
            </a:extLst>
          </p:cNvPr>
          <p:cNvSpPr>
            <a:spLocks xmlns:a="http://schemas.openxmlformats.org/drawingml/2006/main" noGrp="1"/>
          </p:cNvSpPr>
          <p:nvPr/>
        </p:nvSpPr>
        <p:spPr>
          <a:xfrm xmlns:a="http://schemas.openxmlformats.org/drawingml/2006/main">
            <a:off x="609600" y="14382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B78"/>
                </a:solidFill>
                <a:latin typeface="Arial"/>
                <a:ea typeface="Arial"/>
                <a:cs typeface="Arial"/>
              </a:defRPr>
            </a:defPPr>
          </a:lstStyle>
          <a:p xmlns:a="http://schemas.openxmlformats.org/drawingml/2006/main">
            <a:pPr algn="l">
              <a:defRPr sz="2100" b="0">
                <a:solidFill>
                  <a:srgbClr val="526B78"/>
                </a:solidFill>
                <a:latin typeface="Arial"/>
                <a:ea typeface="Arial"/>
                <a:cs typeface="Arial"/>
              </a:defRPr>
            </a:pPr>
            <a:r>
              <a:rPr sz="2100" b="0">
                <a:solidFill>
                  <a:srgbClr val="526B78"/>
                </a:solidFill>
                <a:latin typeface="Arial"/>
                <a:ea typeface="Arial"/>
                <a:cs typeface="Arial"/>
              </a:rPr>
              <a:t>Ví dụ một chuỗi test 30 ngày</a:t>
            </a:r>
          </a:p>
        </p:txBody>
      </p:sp>
      <p:pic>
        <p:nvPicPr>
          <p:cNvPr id="5" name="">
            <a:extLst xmlns:a="http://schemas.openxmlformats.org/drawingml/2006/main">
              <a:ext uri="{FF2B5EF4-FFF2-40B4-BE49-F238E27FC236}">
                <a16:creationId xmlns:a16="http://schemas.microsoft.com/office/drawing/2014/main" id="{E8E15FFC-A396-4BD6-B11B-BFE145D66FED}"/>
              </a:ext>
            </a:extLst>
          </p:cNvPr>
          <p:cNvPicPr>
            <a:picLocks xmlns:a="http://schemas.openxmlformats.org/drawingml/2006/main" noChangeAspect="1"/>
          </p:cNvPicPr>
          <p:nvPr/>
        </p:nvPicPr>
        <p:blipFill>
          <a:blip xmlns:r="http://schemas.openxmlformats.org/officeDocument/2006/relationships" xmlns:a="http://schemas.openxmlformats.org/drawingml/2006/main" r:embed="R0c15896e2f50436c"/>
          <a:stretch xmlns:a="http://schemas.openxmlformats.org/drawingml/2006/main"/>
        </p:blipFill>
        <p:spPr>
          <a:xfrm xmlns:a="http://schemas.openxmlformats.org/drawingml/2006/main">
            <a:off x="1038225" y="2038350"/>
            <a:ext cx="10115550" cy="3371850"/>
          </a:xfrm>
          <a:prstGeom xmlns:a="http://schemas.openxmlformats.org/drawingml/2006/main" prst="rect">
            <a:avLst/>
          </a:prstGeom>
        </p:spPr>
      </p:pic>
      <p:sp>
        <p:nvSpPr>
          <p:cNvPr id="6" name="text-86">
            <a:extLst xmlns:a="http://schemas.openxmlformats.org/drawingml/2006/main">
              <a:ext uri="{FF2B5EF4-FFF2-40B4-BE49-F238E27FC236}">
                <a16:creationId xmlns:a16="http://schemas.microsoft.com/office/drawing/2014/main" id="{C5043C96-4CA2-448D-A977-A3DB962E819C}"/>
              </a:ext>
            </a:extLst>
          </p:cNvPr>
          <p:cNvSpPr>
            <a:spLocks xmlns:a="http://schemas.openxmlformats.org/drawingml/2006/main" noGrp="1"/>
          </p:cNvSpPr>
          <p:nvPr/>
        </p:nvSpPr>
        <p:spPr>
          <a:xfrm xmlns:a="http://schemas.openxmlformats.org/drawingml/2006/main">
            <a:off x="609600" y="5610225"/>
            <a:ext cx="5429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A63"/>
                </a:solidFill>
                <a:latin typeface="Arial"/>
                <a:ea typeface="Arial"/>
                <a:cs typeface="Arial"/>
              </a:defRPr>
            </a:defPPr>
          </a:lstStyle>
          <a:p xmlns:a="http://schemas.openxmlformats.org/drawingml/2006/main">
            <a:pPr algn="l">
              <a:defRPr sz="1950" b="1">
                <a:solidFill>
                  <a:srgbClr val="008A63"/>
                </a:solidFill>
                <a:latin typeface="Arial"/>
                <a:ea typeface="Arial"/>
                <a:cs typeface="Arial"/>
              </a:defRPr>
            </a:pPr>
            <a:r>
              <a:rPr sz="1950" b="1">
                <a:solidFill>
                  <a:srgbClr val="008A63"/>
                </a:solidFill>
                <a:latin typeface="Arial"/>
                <a:ea typeface="Arial"/>
                <a:cs typeface="Arial"/>
              </a:rPr>
              <a:t>Bám xu hướng chi tiêu thường ngày</a:t>
            </a:r>
          </a:p>
        </p:txBody>
      </p:sp>
      <p:sp>
        <p:nvSpPr>
          <p:cNvPr id="7" name="text-87">
            <a:extLst xmlns:a="http://schemas.openxmlformats.org/drawingml/2006/main">
              <a:ext uri="{FF2B5EF4-FFF2-40B4-BE49-F238E27FC236}">
                <a16:creationId xmlns:a16="http://schemas.microsoft.com/office/drawing/2014/main" id="{A9CC8D9C-521B-45FB-8576-822D6B018976}"/>
              </a:ext>
            </a:extLst>
          </p:cNvPr>
          <p:cNvSpPr>
            <a:spLocks xmlns:a="http://schemas.openxmlformats.org/drawingml/2006/main" noGrp="1"/>
          </p:cNvSpPr>
          <p:nvPr/>
        </p:nvSpPr>
        <p:spPr>
          <a:xfrm xmlns:a="http://schemas.openxmlformats.org/drawingml/2006/main">
            <a:off x="6191250" y="5610225"/>
            <a:ext cx="539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Còn bỏ sót một số đợt tăng chi</a:t>
            </a:r>
          </a:p>
        </p:txBody>
      </p:sp>
    </p:spTree>
    <p:extLst>
      <p:ext uri="{BB962C8B-B14F-4D97-AF65-F5344CB8AC3E}">
        <p14:creationId xmlns:p14="http://schemas.microsoft.com/office/powerpoint/2010/main" val="9739205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88">
            <a:extLst xmlns:a="http://schemas.openxmlformats.org/drawingml/2006/main">
              <a:ext uri="{FF2B5EF4-FFF2-40B4-BE49-F238E27FC236}">
                <a16:creationId xmlns:a16="http://schemas.microsoft.com/office/drawing/2014/main" id="{57F6083F-6B9C-4026-9C0E-FB70FB7D692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Isolation Forest phát hiện bất thường</a:t>
            </a:r>
          </a:p>
        </p:txBody>
      </p:sp>
      <p:sp>
        <p:nvSpPr>
          <p:cNvPr id="2" name="text-89">
            <a:extLst xmlns:a="http://schemas.openxmlformats.org/drawingml/2006/main">
              <a:ext uri="{FF2B5EF4-FFF2-40B4-BE49-F238E27FC236}">
                <a16:creationId xmlns:a16="http://schemas.microsoft.com/office/drawing/2014/main" id="{956C5B07-95C0-4A2C-8E5A-42234B5A790C}"/>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Lý Tú Nguyên (24ITE067)</a:t>
            </a:r>
          </a:p>
        </p:txBody>
      </p:sp>
      <p:sp>
        <p:nvSpPr>
          <p:cNvPr id="3" name="text-90">
            <a:extLst xmlns:a="http://schemas.openxmlformats.org/drawingml/2006/main">
              <a:ext uri="{FF2B5EF4-FFF2-40B4-BE49-F238E27FC236}">
                <a16:creationId xmlns:a16="http://schemas.microsoft.com/office/drawing/2014/main" id="{5FC8113A-7CCF-48D6-9F83-7E554C16947E}"/>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11 / 17</a:t>
            </a:r>
          </a:p>
        </p:txBody>
      </p:sp>
      <p:sp>
        <p:nvSpPr>
          <p:cNvPr id="4" name="text-91">
            <a:extLst xmlns:a="http://schemas.openxmlformats.org/drawingml/2006/main">
              <a:ext uri="{FF2B5EF4-FFF2-40B4-BE49-F238E27FC236}">
                <a16:creationId xmlns:a16="http://schemas.microsoft.com/office/drawing/2014/main" id="{3F5B0AC1-9810-4446-A3CE-96F696D078DA}"/>
              </a:ext>
            </a:extLst>
          </p:cNvPr>
          <p:cNvSpPr>
            <a:spLocks xmlns:a="http://schemas.openxmlformats.org/drawingml/2006/main" noGrp="1"/>
          </p:cNvSpPr>
          <p:nvPr/>
        </p:nvSpPr>
        <p:spPr>
          <a:xfrm xmlns:a="http://schemas.openxmlformats.org/drawingml/2006/main">
            <a:off x="609600" y="1619250"/>
            <a:ext cx="428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92B3D"/>
                </a:solidFill>
                <a:latin typeface="Arial"/>
                <a:ea typeface="Arial"/>
                <a:cs typeface="Arial"/>
              </a:defRPr>
            </a:defPPr>
          </a:lstStyle>
          <a:p xmlns:a="http://schemas.openxmlformats.org/drawingml/2006/main">
            <a:pPr algn="l">
              <a:defRPr sz="2325" b="1">
                <a:solidFill>
                  <a:srgbClr val="092B3D"/>
                </a:solidFill>
                <a:latin typeface="Arial"/>
                <a:ea typeface="Arial"/>
                <a:cs typeface="Arial"/>
              </a:defRPr>
            </a:pPr>
            <a:r>
              <a:rPr sz="2325" b="1">
                <a:solidFill>
                  <a:srgbClr val="092B3D"/>
                </a:solidFill>
                <a:latin typeface="Arial"/>
                <a:ea typeface="Arial"/>
                <a:cs typeface="Arial"/>
              </a:rPr>
              <a:t>Cô lập điểm khác biệt</a:t>
            </a:r>
          </a:p>
          <a:p xmlns:a="http://schemas.openxmlformats.org/drawingml/2006/main">
            <a:pPr algn="l">
              <a:defRPr sz="2325" b="1">
                <a:solidFill>
                  <a:srgbClr val="092B3D"/>
                </a:solidFill>
                <a:latin typeface="Arial"/>
                <a:ea typeface="Arial"/>
                <a:cs typeface="Arial"/>
              </a:defRPr>
            </a:pPr>
            <a:r>
              <a:rPr sz="2325" b="1">
                <a:solidFill>
                  <a:srgbClr val="092B3D"/>
                </a:solidFill>
                <a:latin typeface="Arial"/>
                <a:ea typeface="Arial"/>
                <a:cs typeface="Arial"/>
              </a:rPr>
              <a:t>bằng ít phép chia</a:t>
            </a:r>
          </a:p>
        </p:txBody>
      </p:sp>
      <p:sp>
        <p:nvSpPr>
          <p:cNvPr id="5" name="text-92">
            <a:extLst xmlns:a="http://schemas.openxmlformats.org/drawingml/2006/main">
              <a:ext uri="{FF2B5EF4-FFF2-40B4-BE49-F238E27FC236}">
                <a16:creationId xmlns:a16="http://schemas.microsoft.com/office/drawing/2014/main" id="{72574643-11AC-4C88-A0E9-16D2C22E6F72}"/>
              </a:ext>
            </a:extLst>
          </p:cNvPr>
          <p:cNvSpPr>
            <a:spLocks xmlns:a="http://schemas.openxmlformats.org/drawingml/2006/main" noGrp="1"/>
          </p:cNvSpPr>
          <p:nvPr/>
        </p:nvSpPr>
        <p:spPr>
          <a:xfrm xmlns:a="http://schemas.openxmlformats.org/drawingml/2006/main">
            <a:off x="609600" y="28575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B78"/>
                </a:solidFill>
                <a:latin typeface="Arial"/>
                <a:ea typeface="Arial"/>
                <a:cs typeface="Arial"/>
              </a:defRPr>
            </a:defPPr>
          </a:lstStyle>
          <a:p xmlns:a="http://schemas.openxmlformats.org/drawingml/2006/main">
            <a:pPr algn="l">
              <a:defRPr sz="2025" b="0">
                <a:solidFill>
                  <a:srgbClr val="526B78"/>
                </a:solidFill>
                <a:latin typeface="Arial"/>
                <a:ea typeface="Arial"/>
                <a:cs typeface="Arial"/>
              </a:defRPr>
            </a:pPr>
            <a:r>
              <a:rPr sz="2025" b="0">
                <a:solidFill>
                  <a:srgbClr val="526B78"/>
                </a:solidFill>
                <a:latin typeface="Arial"/>
                <a:ea typeface="Arial"/>
                <a:cs typeface="Arial"/>
              </a:rPr>
              <a:t>200 cây Isolation Forest</a:t>
            </a:r>
          </a:p>
        </p:txBody>
      </p:sp>
      <p:sp>
        <p:nvSpPr>
          <p:cNvPr id="6" name="text-93">
            <a:extLst xmlns:a="http://schemas.openxmlformats.org/drawingml/2006/main">
              <a:ext uri="{FF2B5EF4-FFF2-40B4-BE49-F238E27FC236}">
                <a16:creationId xmlns:a16="http://schemas.microsoft.com/office/drawing/2014/main" id="{EAA04A5A-3500-4455-82B5-51136CE5D828}"/>
              </a:ext>
            </a:extLst>
          </p:cNvPr>
          <p:cNvSpPr>
            <a:spLocks xmlns:a="http://schemas.openxmlformats.org/drawingml/2006/main" noGrp="1"/>
          </p:cNvSpPr>
          <p:nvPr/>
        </p:nvSpPr>
        <p:spPr>
          <a:xfrm xmlns:a="http://schemas.openxmlformats.org/drawingml/2006/main">
            <a:off x="609600" y="3733800"/>
            <a:ext cx="4286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008A63"/>
                </a:solidFill>
                <a:latin typeface="Arial"/>
                <a:ea typeface="Arial"/>
                <a:cs typeface="Arial"/>
              </a:defRPr>
            </a:defPPr>
          </a:lstStyle>
          <a:p xmlns:a="http://schemas.openxmlformats.org/drawingml/2006/main">
            <a:pPr algn="l">
              <a:defRPr sz="5025" b="1">
                <a:solidFill>
                  <a:srgbClr val="008A63"/>
                </a:solidFill>
                <a:latin typeface="Arial"/>
                <a:ea typeface="Arial"/>
                <a:cs typeface="Arial"/>
              </a:defRPr>
            </a:pPr>
            <a:r>
              <a:rPr sz="5025" b="1">
                <a:solidFill>
                  <a:srgbClr val="008A63"/>
                </a:solidFill>
                <a:latin typeface="Arial"/>
                <a:ea typeface="Arial"/>
                <a:cs typeface="Arial"/>
              </a:rPr>
              <a:t>50,00%</a:t>
            </a:r>
          </a:p>
        </p:txBody>
      </p:sp>
      <p:sp>
        <p:nvSpPr>
          <p:cNvPr id="7" name="text-94">
            <a:extLst xmlns:a="http://schemas.openxmlformats.org/drawingml/2006/main">
              <a:ext uri="{FF2B5EF4-FFF2-40B4-BE49-F238E27FC236}">
                <a16:creationId xmlns:a16="http://schemas.microsoft.com/office/drawing/2014/main" id="{EDEF6E6E-CE73-4B5B-AF58-E4BC27F3987E}"/>
              </a:ext>
            </a:extLst>
          </p:cNvPr>
          <p:cNvSpPr>
            <a:spLocks xmlns:a="http://schemas.openxmlformats.org/drawingml/2006/main" noGrp="1"/>
          </p:cNvSpPr>
          <p:nvPr/>
        </p:nvSpPr>
        <p:spPr>
          <a:xfrm xmlns:a="http://schemas.openxmlformats.org/drawingml/2006/main">
            <a:off x="609600" y="46482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92B3D"/>
                </a:solidFill>
                <a:latin typeface="Arial"/>
                <a:ea typeface="Arial"/>
                <a:cs typeface="Arial"/>
              </a:defRPr>
            </a:defPPr>
          </a:lstStyle>
          <a:p xmlns:a="http://schemas.openxmlformats.org/drawingml/2006/main">
            <a:pPr algn="l">
              <a:defRPr sz="1800" b="0">
                <a:solidFill>
                  <a:srgbClr val="092B3D"/>
                </a:solidFill>
                <a:latin typeface="Arial"/>
                <a:ea typeface="Arial"/>
                <a:cs typeface="Arial"/>
              </a:defRPr>
            </a:pPr>
            <a:r>
              <a:rPr sz="1800" b="0">
                <a:solidFill>
                  <a:srgbClr val="092B3D"/>
                </a:solidFill>
                <a:latin typeface="Arial"/>
                <a:ea typeface="Arial"/>
                <a:cs typeface="Arial"/>
              </a:rPr>
              <a:t>Precision trên tập test tổng hợp</a:t>
            </a:r>
          </a:p>
        </p:txBody>
      </p:sp>
      <p:sp>
        <p:nvSpPr>
          <p:cNvPr id="8" name="text-95">
            <a:extLst xmlns:a="http://schemas.openxmlformats.org/drawingml/2006/main">
              <a:ext uri="{FF2B5EF4-FFF2-40B4-BE49-F238E27FC236}">
                <a16:creationId xmlns:a16="http://schemas.microsoft.com/office/drawing/2014/main" id="{046B05E5-0C6A-468A-81A6-9433627F418B}"/>
              </a:ext>
            </a:extLst>
          </p:cNvPr>
          <p:cNvSpPr>
            <a:spLocks xmlns:a="http://schemas.openxmlformats.org/drawingml/2006/main" noGrp="1"/>
          </p:cNvSpPr>
          <p:nvPr/>
        </p:nvSpPr>
        <p:spPr>
          <a:xfrm xmlns:a="http://schemas.openxmlformats.org/drawingml/2006/main">
            <a:off x="609600" y="55054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92B3D"/>
                </a:solidFill>
                <a:latin typeface="Arial"/>
                <a:ea typeface="Arial"/>
                <a:cs typeface="Arial"/>
              </a:defRPr>
            </a:defPPr>
          </a:lstStyle>
          <a:p xmlns:a="http://schemas.openxmlformats.org/drawingml/2006/main">
            <a:pPr algn="l">
              <a:defRPr sz="1875" b="1">
                <a:solidFill>
                  <a:srgbClr val="092B3D"/>
                </a:solidFill>
                <a:latin typeface="Arial"/>
                <a:ea typeface="Arial"/>
                <a:cs typeface="Arial"/>
              </a:defRPr>
            </a:pPr>
            <a:r>
              <a:rPr sz="1875" b="1">
                <a:solidFill>
                  <a:srgbClr val="092B3D"/>
                </a:solidFill>
                <a:latin typeface="Arial"/>
                <a:ea typeface="Arial"/>
                <a:cs typeface="Arial"/>
              </a:rPr>
              <a:t>Cảnh báo cần người dùng xác nhận</a:t>
            </a:r>
          </a:p>
        </p:txBody>
      </p:sp>
      <p:pic>
        <p:nvPicPr>
          <p:cNvPr id="9" name="">
            <a:extLst xmlns:a="http://schemas.openxmlformats.org/drawingml/2006/main">
              <a:ext uri="{FF2B5EF4-FFF2-40B4-BE49-F238E27FC236}">
                <a16:creationId xmlns:a16="http://schemas.microsoft.com/office/drawing/2014/main" id="{9C1C521A-C313-440D-8925-31649A4C2FF1}"/>
              </a:ext>
            </a:extLst>
          </p:cNvPr>
          <p:cNvPicPr>
            <a:picLocks xmlns:a="http://schemas.openxmlformats.org/drawingml/2006/main" noChangeAspect="1"/>
          </p:cNvPicPr>
          <p:nvPr/>
        </p:nvPicPr>
        <p:blipFill>
          <a:blip xmlns:r="http://schemas.openxmlformats.org/officeDocument/2006/relationships" xmlns:a="http://schemas.openxmlformats.org/drawingml/2006/main" r:embed="Re299e169333649d2"/>
          <a:stretch xmlns:a="http://schemas.openxmlformats.org/drawingml/2006/main"/>
        </p:blipFill>
        <p:spPr>
          <a:xfrm xmlns:a="http://schemas.openxmlformats.org/drawingml/2006/main">
            <a:off x="5067300" y="1733766"/>
            <a:ext cx="6515100" cy="3666692"/>
          </a:xfrm>
          <a:prstGeom xmlns:a="http://schemas.openxmlformats.org/drawingml/2006/main" prst="rect">
            <a:avLst/>
          </a:prstGeom>
        </p:spPr>
      </p:pic>
      <p:sp>
        <p:nvSpPr>
          <p:cNvPr id="10" name="text-96">
            <a:extLst xmlns:a="http://schemas.openxmlformats.org/drawingml/2006/main">
              <a:ext uri="{FF2B5EF4-FFF2-40B4-BE49-F238E27FC236}">
                <a16:creationId xmlns:a16="http://schemas.microsoft.com/office/drawing/2014/main" id="{893FDF50-53AB-4F50-84A9-C3E42EE88F2D}"/>
              </a:ext>
            </a:extLst>
          </p:cNvPr>
          <p:cNvSpPr>
            <a:spLocks xmlns:a="http://schemas.openxmlformats.org/drawingml/2006/main" noGrp="1"/>
          </p:cNvSpPr>
          <p:nvPr/>
        </p:nvSpPr>
        <p:spPr>
          <a:xfrm xmlns:a="http://schemas.openxmlformats.org/drawingml/2006/main">
            <a:off x="5067300" y="5638800"/>
            <a:ext cx="6515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Điểm mô hình không phải xác suất gian lận</a:t>
            </a:r>
          </a:p>
        </p:txBody>
      </p:sp>
    </p:spTree>
    <p:extLst>
      <p:ext uri="{BB962C8B-B14F-4D97-AF65-F5344CB8AC3E}">
        <p14:creationId xmlns:p14="http://schemas.microsoft.com/office/powerpoint/2010/main" val="13108563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7">
            <a:extLst xmlns:a="http://schemas.openxmlformats.org/drawingml/2006/main">
              <a:ext uri="{FF2B5EF4-FFF2-40B4-BE49-F238E27FC236}">
                <a16:creationId xmlns:a16="http://schemas.microsoft.com/office/drawing/2014/main" id="{BBD6033A-DA9D-4AFC-AC70-CE6DD648256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TF-IDF và Logistic Regression</a:t>
            </a:r>
          </a:p>
        </p:txBody>
      </p:sp>
      <p:sp>
        <p:nvSpPr>
          <p:cNvPr id="2" name="text-98">
            <a:extLst xmlns:a="http://schemas.openxmlformats.org/drawingml/2006/main">
              <a:ext uri="{FF2B5EF4-FFF2-40B4-BE49-F238E27FC236}">
                <a16:creationId xmlns:a16="http://schemas.microsoft.com/office/drawing/2014/main" id="{ABA6C7E2-698F-487D-BA74-BC30767A3DB2}"/>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Lý Tú Nguyên (24ITE067)</a:t>
            </a:r>
          </a:p>
        </p:txBody>
      </p:sp>
      <p:sp>
        <p:nvSpPr>
          <p:cNvPr id="3" name="text-99">
            <a:extLst xmlns:a="http://schemas.openxmlformats.org/drawingml/2006/main">
              <a:ext uri="{FF2B5EF4-FFF2-40B4-BE49-F238E27FC236}">
                <a16:creationId xmlns:a16="http://schemas.microsoft.com/office/drawing/2014/main" id="{7FAC1704-FF42-4F20-8E0B-AA6FFC671430}"/>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12 / 17</a:t>
            </a:r>
          </a:p>
        </p:txBody>
      </p:sp>
      <p:sp>
        <p:nvSpPr>
          <p:cNvPr id="4" name="text-100">
            <a:extLst xmlns:a="http://schemas.openxmlformats.org/drawingml/2006/main">
              <a:ext uri="{FF2B5EF4-FFF2-40B4-BE49-F238E27FC236}">
                <a16:creationId xmlns:a16="http://schemas.microsoft.com/office/drawing/2014/main" id="{B6903F4A-6FB9-4F0E-8467-88B53D554466}"/>
              </a:ext>
            </a:extLst>
          </p:cNvPr>
          <p:cNvSpPr>
            <a:spLocks xmlns:a="http://schemas.openxmlformats.org/drawingml/2006/main" noGrp="1"/>
          </p:cNvSpPr>
          <p:nvPr/>
        </p:nvSpPr>
        <p:spPr>
          <a:xfrm xmlns:a="http://schemas.openxmlformats.org/drawingml/2006/main">
            <a:off x="609600" y="1476375"/>
            <a:ext cx="714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92B3D"/>
                </a:solidFill>
                <a:latin typeface="Arial"/>
                <a:ea typeface="Arial"/>
                <a:cs typeface="Arial"/>
              </a:defRPr>
            </a:defPPr>
          </a:lstStyle>
          <a:p xmlns:a="http://schemas.openxmlformats.org/drawingml/2006/main">
            <a:pPr algn="l">
              <a:defRPr sz="2250" b="1">
                <a:solidFill>
                  <a:srgbClr val="092B3D"/>
                </a:solidFill>
                <a:latin typeface="Arial"/>
                <a:ea typeface="Arial"/>
                <a:cs typeface="Arial"/>
              </a:defRPr>
            </a:pPr>
            <a:r>
              <a:rPr sz="2250" b="1">
                <a:solidFill>
                  <a:srgbClr val="092B3D"/>
                </a:solidFill>
                <a:latin typeface="Arial"/>
                <a:ea typeface="Arial"/>
                <a:cs typeface="Arial"/>
              </a:rPr>
              <a:t>Gợi ý danh mục từ mô tả giao dịch</a:t>
            </a:r>
          </a:p>
        </p:txBody>
      </p:sp>
      <p:sp>
        <p:nvSpPr>
          <p:cNvPr id="5" name="text-101">
            <a:extLst xmlns:a="http://schemas.openxmlformats.org/drawingml/2006/main">
              <a:ext uri="{FF2B5EF4-FFF2-40B4-BE49-F238E27FC236}">
                <a16:creationId xmlns:a16="http://schemas.microsoft.com/office/drawing/2014/main" id="{1C3420DC-B99A-4475-92A4-E558F4654C98}"/>
              </a:ext>
            </a:extLst>
          </p:cNvPr>
          <p:cNvSpPr>
            <a:spLocks xmlns:a="http://schemas.openxmlformats.org/drawingml/2006/main" noGrp="1"/>
          </p:cNvSpPr>
          <p:nvPr/>
        </p:nvSpPr>
        <p:spPr>
          <a:xfrm xmlns:a="http://schemas.openxmlformats.org/drawingml/2006/main">
            <a:off x="609600" y="20383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B78"/>
                </a:solidFill>
                <a:latin typeface="Arial"/>
                <a:ea typeface="Arial"/>
                <a:cs typeface="Arial"/>
              </a:defRPr>
            </a:defPPr>
          </a:lstStyle>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320 mô tả tiếng Việt, 8 nhóm chi tiêu</a:t>
            </a:r>
          </a:p>
        </p:txBody>
      </p:sp>
      <p:sp>
        <p:nvSpPr>
          <p:cNvPr id="6" name="text-102">
            <a:extLst xmlns:a="http://schemas.openxmlformats.org/drawingml/2006/main">
              <a:ext uri="{FF2B5EF4-FFF2-40B4-BE49-F238E27FC236}">
                <a16:creationId xmlns:a16="http://schemas.microsoft.com/office/drawing/2014/main" id="{1BE83449-0A17-440A-B004-108E2D964248}"/>
              </a:ext>
            </a:extLst>
          </p:cNvPr>
          <p:cNvSpPr>
            <a:spLocks xmlns:a="http://schemas.openxmlformats.org/drawingml/2006/main" noGrp="1"/>
          </p:cNvSpPr>
          <p:nvPr/>
        </p:nvSpPr>
        <p:spPr>
          <a:xfrm xmlns:a="http://schemas.openxmlformats.org/drawingml/2006/main">
            <a:off x="8562975" y="1476375"/>
            <a:ext cx="3019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650" b="1">
                <a:solidFill>
                  <a:srgbClr val="008A63"/>
                </a:solidFill>
                <a:latin typeface="Arial"/>
                <a:ea typeface="Arial"/>
                <a:cs typeface="Arial"/>
              </a:defRPr>
            </a:defPPr>
          </a:lstStyle>
          <a:p xmlns:a="http://schemas.openxmlformats.org/drawingml/2006/main">
            <a:pPr algn="r">
              <a:defRPr sz="4650" b="1">
                <a:solidFill>
                  <a:srgbClr val="008A63"/>
                </a:solidFill>
                <a:latin typeface="Arial"/>
                <a:ea typeface="Arial"/>
                <a:cs typeface="Arial"/>
              </a:defRPr>
            </a:pPr>
            <a:r>
              <a:rPr sz="4650" b="1">
                <a:solidFill>
                  <a:srgbClr val="008A63"/>
                </a:solidFill>
                <a:latin typeface="Arial"/>
                <a:ea typeface="Arial"/>
                <a:cs typeface="Arial"/>
              </a:rPr>
              <a:t>89,06%</a:t>
            </a:r>
          </a:p>
        </p:txBody>
      </p:sp>
      <p:sp>
        <p:nvSpPr>
          <p:cNvPr id="7" name="text-103">
            <a:extLst xmlns:a="http://schemas.openxmlformats.org/drawingml/2006/main">
              <a:ext uri="{FF2B5EF4-FFF2-40B4-BE49-F238E27FC236}">
                <a16:creationId xmlns:a16="http://schemas.microsoft.com/office/drawing/2014/main" id="{D0A5DB05-4DFE-47EC-9F95-88B3A43D1AA0}"/>
              </a:ext>
            </a:extLst>
          </p:cNvPr>
          <p:cNvSpPr>
            <a:spLocks xmlns:a="http://schemas.openxmlformats.org/drawingml/2006/main" noGrp="1"/>
          </p:cNvSpPr>
          <p:nvPr/>
        </p:nvSpPr>
        <p:spPr>
          <a:xfrm xmlns:a="http://schemas.openxmlformats.org/drawingml/2006/main">
            <a:off x="7877175" y="2276475"/>
            <a:ext cx="3705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B78"/>
                </a:solidFill>
                <a:latin typeface="Arial"/>
                <a:ea typeface="Arial"/>
                <a:cs typeface="Arial"/>
              </a:defRPr>
            </a:defPPr>
          </a:lstStyle>
          <a:p xmlns:a="http://schemas.openxmlformats.org/drawingml/2006/main">
            <a:pPr algn="r">
              <a:defRPr sz="1725" b="0">
                <a:solidFill>
                  <a:srgbClr val="526B78"/>
                </a:solidFill>
                <a:latin typeface="Arial"/>
                <a:ea typeface="Arial"/>
                <a:cs typeface="Arial"/>
              </a:defRPr>
            </a:pPr>
            <a:r>
              <a:rPr sz="1725" b="0">
                <a:solidFill>
                  <a:srgbClr val="526B78"/>
                </a:solidFill>
                <a:latin typeface="Arial"/>
                <a:ea typeface="Arial"/>
                <a:cs typeface="Arial"/>
              </a:rPr>
              <a:t>Accuracy trên 64 câu test</a:t>
            </a:r>
          </a:p>
        </p:txBody>
      </p:sp>
      <p:pic>
        <p:nvPicPr>
          <p:cNvPr id="8" name="">
            <a:extLst xmlns:a="http://schemas.openxmlformats.org/drawingml/2006/main">
              <a:ext uri="{FF2B5EF4-FFF2-40B4-BE49-F238E27FC236}">
                <a16:creationId xmlns:a16="http://schemas.microsoft.com/office/drawing/2014/main" id="{69CE6A59-37D5-4C25-B9E8-E503FBDE4452}"/>
              </a:ext>
            </a:extLst>
          </p:cNvPr>
          <p:cNvPicPr>
            <a:picLocks xmlns:a="http://schemas.openxmlformats.org/drawingml/2006/main" noChangeAspect="1"/>
          </p:cNvPicPr>
          <p:nvPr/>
        </p:nvPicPr>
        <p:blipFill>
          <a:blip xmlns:r="http://schemas.openxmlformats.org/officeDocument/2006/relationships" xmlns:a="http://schemas.openxmlformats.org/drawingml/2006/main" r:embed="Rbbda4ffeabfb45ec"/>
          <a:srcRect xmlns:a="http://schemas.openxmlformats.org/drawingml/2006/main" l="1000" t="20000" r="500" b="20500"/>
          <a:stretch xmlns:a="http://schemas.openxmlformats.org/drawingml/2006/main"/>
        </p:blipFill>
        <p:spPr>
          <a:xfrm xmlns:a="http://schemas.openxmlformats.org/drawingml/2006/main">
            <a:off x="609600" y="2686050"/>
            <a:ext cx="10972800" cy="2971800"/>
          </a:xfrm>
          <a:prstGeom xmlns:a="http://schemas.openxmlformats.org/drawingml/2006/main" prst="rect">
            <a:avLst/>
          </a:prstGeom>
        </p:spPr>
      </p:pic>
      <p:sp>
        <p:nvSpPr>
          <p:cNvPr id="9" name="text-104">
            <a:extLst xmlns:a="http://schemas.openxmlformats.org/drawingml/2006/main">
              <a:ext uri="{FF2B5EF4-FFF2-40B4-BE49-F238E27FC236}">
                <a16:creationId xmlns:a16="http://schemas.microsoft.com/office/drawing/2014/main" id="{01D12A99-989D-419B-9289-A512A71367A2}"/>
              </a:ext>
            </a:extLst>
          </p:cNvPr>
          <p:cNvSpPr>
            <a:spLocks xmlns:a="http://schemas.openxmlformats.org/drawingml/2006/main" noGrp="1"/>
          </p:cNvSpPr>
          <p:nvPr/>
        </p:nvSpPr>
        <p:spPr>
          <a:xfrm xmlns:a="http://schemas.openxmlformats.org/drawingml/2006/main">
            <a:off x="609600" y="58197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A63"/>
                </a:solidFill>
                <a:latin typeface="Arial"/>
                <a:ea typeface="Arial"/>
                <a:cs typeface="Arial"/>
              </a:defRPr>
            </a:defPPr>
          </a:lstStyle>
          <a:p xmlns:a="http://schemas.openxmlformats.org/drawingml/2006/main">
            <a:pPr algn="l">
              <a:defRPr sz="1950" b="1">
                <a:solidFill>
                  <a:srgbClr val="008A63"/>
                </a:solidFill>
                <a:latin typeface="Arial"/>
                <a:ea typeface="Arial"/>
                <a:cs typeface="Arial"/>
              </a:defRPr>
            </a:pPr>
            <a:r>
              <a:rPr sz="1950" b="1">
                <a:solidFill>
                  <a:srgbClr val="008A63"/>
                </a:solidFill>
                <a:latin typeface="Arial"/>
                <a:ea typeface="Arial"/>
                <a:cs typeface="Arial"/>
              </a:rPr>
              <a:t>Người dùng xác nhận gợi ý trước khi lưu</a:t>
            </a:r>
          </a:p>
        </p:txBody>
      </p:sp>
    </p:spTree>
    <p:extLst>
      <p:ext uri="{BB962C8B-B14F-4D97-AF65-F5344CB8AC3E}">
        <p14:creationId xmlns:p14="http://schemas.microsoft.com/office/powerpoint/2010/main" val="8463174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05">
            <a:extLst xmlns:a="http://schemas.openxmlformats.org/drawingml/2006/main">
              <a:ext uri="{FF2B5EF4-FFF2-40B4-BE49-F238E27FC236}">
                <a16:creationId xmlns:a16="http://schemas.microsoft.com/office/drawing/2014/main" id="{54735DA9-D799-4EC4-8DFD-2715A5D6F86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Đánh giá gợi ý danh mục theo từng nhóm</a:t>
            </a:r>
          </a:p>
        </p:txBody>
      </p:sp>
      <p:sp>
        <p:nvSpPr>
          <p:cNvPr id="2" name="text-106">
            <a:extLst xmlns:a="http://schemas.openxmlformats.org/drawingml/2006/main">
              <a:ext uri="{FF2B5EF4-FFF2-40B4-BE49-F238E27FC236}">
                <a16:creationId xmlns:a16="http://schemas.microsoft.com/office/drawing/2014/main" id="{DD0CA62D-1F3F-43EC-80A6-2253C7C6FFCE}"/>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Lý Tú Nguyên (24ITE067)</a:t>
            </a:r>
          </a:p>
        </p:txBody>
      </p:sp>
      <p:sp>
        <p:nvSpPr>
          <p:cNvPr id="3" name="text-107">
            <a:extLst xmlns:a="http://schemas.openxmlformats.org/drawingml/2006/main">
              <a:ext uri="{FF2B5EF4-FFF2-40B4-BE49-F238E27FC236}">
                <a16:creationId xmlns:a16="http://schemas.microsoft.com/office/drawing/2014/main" id="{41218E2F-A752-44ED-8293-2CE0363FAE87}"/>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13 / 17</a:t>
            </a:r>
          </a:p>
        </p:txBody>
      </p:sp>
      <p:sp>
        <p:nvSpPr>
          <p:cNvPr id="4" name="text-108">
            <a:extLst xmlns:a="http://schemas.openxmlformats.org/drawingml/2006/main">
              <a:ext uri="{FF2B5EF4-FFF2-40B4-BE49-F238E27FC236}">
                <a16:creationId xmlns:a16="http://schemas.microsoft.com/office/drawing/2014/main" id="{B1F5E4F5-854C-40C0-8E92-DDB768FA9CA0}"/>
              </a:ext>
            </a:extLst>
          </p:cNvPr>
          <p:cNvSpPr>
            <a:spLocks xmlns:a="http://schemas.openxmlformats.org/drawingml/2006/main" noGrp="1"/>
          </p:cNvSpPr>
          <p:nvPr/>
        </p:nvSpPr>
        <p:spPr>
          <a:xfrm xmlns:a="http://schemas.openxmlformats.org/drawingml/2006/main">
            <a:off x="609600" y="1571625"/>
            <a:ext cx="276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08A63"/>
                </a:solidFill>
                <a:latin typeface="Arial"/>
                <a:ea typeface="Arial"/>
                <a:cs typeface="Arial"/>
              </a:defRPr>
            </a:defPPr>
          </a:lstStyle>
          <a:p xmlns:a="http://schemas.openxmlformats.org/drawingml/2006/main">
            <a:pPr algn="l">
              <a:defRPr sz="5850" b="1">
                <a:solidFill>
                  <a:srgbClr val="008A63"/>
                </a:solidFill>
                <a:latin typeface="Arial"/>
                <a:ea typeface="Arial"/>
                <a:cs typeface="Arial"/>
              </a:defRPr>
            </a:pPr>
            <a:r>
              <a:rPr sz="5850" b="1">
                <a:solidFill>
                  <a:srgbClr val="008A63"/>
                </a:solidFill>
                <a:latin typeface="Arial"/>
                <a:ea typeface="Arial"/>
                <a:cs typeface="Arial"/>
              </a:rPr>
              <a:t>64</a:t>
            </a:r>
          </a:p>
        </p:txBody>
      </p:sp>
      <p:sp>
        <p:nvSpPr>
          <p:cNvPr id="5" name="text-109">
            <a:extLst xmlns:a="http://schemas.openxmlformats.org/drawingml/2006/main">
              <a:ext uri="{FF2B5EF4-FFF2-40B4-BE49-F238E27FC236}">
                <a16:creationId xmlns:a16="http://schemas.microsoft.com/office/drawing/2014/main" id="{08E52436-D829-41A7-A59B-BF8C372209CD}"/>
              </a:ext>
            </a:extLst>
          </p:cNvPr>
          <p:cNvSpPr>
            <a:spLocks xmlns:a="http://schemas.openxmlformats.org/drawingml/2006/main" noGrp="1"/>
          </p:cNvSpPr>
          <p:nvPr/>
        </p:nvSpPr>
        <p:spPr>
          <a:xfrm xmlns:a="http://schemas.openxmlformats.org/drawingml/2006/main">
            <a:off x="609600" y="26670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92B3D"/>
                </a:solidFill>
                <a:latin typeface="Arial"/>
                <a:ea typeface="Arial"/>
                <a:cs typeface="Arial"/>
              </a:defRPr>
            </a:defPPr>
          </a:lstStyle>
          <a:p xmlns:a="http://schemas.openxmlformats.org/drawingml/2006/main">
            <a:pPr algn="l">
              <a:defRPr sz="2175" b="1">
                <a:solidFill>
                  <a:srgbClr val="092B3D"/>
                </a:solidFill>
                <a:latin typeface="Arial"/>
                <a:ea typeface="Arial"/>
                <a:cs typeface="Arial"/>
              </a:defRPr>
            </a:pPr>
            <a:r>
              <a:rPr sz="2175" b="1">
                <a:solidFill>
                  <a:srgbClr val="092B3D"/>
                </a:solidFill>
                <a:latin typeface="Arial"/>
                <a:ea typeface="Arial"/>
                <a:cs typeface="Arial"/>
              </a:rPr>
              <a:t>mô tả test riêng</a:t>
            </a:r>
          </a:p>
        </p:txBody>
      </p:sp>
      <p:sp>
        <p:nvSpPr>
          <p:cNvPr id="6" name="text-110">
            <a:extLst xmlns:a="http://schemas.openxmlformats.org/drawingml/2006/main">
              <a:ext uri="{FF2B5EF4-FFF2-40B4-BE49-F238E27FC236}">
                <a16:creationId xmlns:a16="http://schemas.microsoft.com/office/drawing/2014/main" id="{AC706DFC-68EB-4AA4-A348-ADC7AB3B24AF}"/>
              </a:ext>
            </a:extLst>
          </p:cNvPr>
          <p:cNvSpPr>
            <a:spLocks xmlns:a="http://schemas.openxmlformats.org/drawingml/2006/main" noGrp="1"/>
          </p:cNvSpPr>
          <p:nvPr/>
        </p:nvSpPr>
        <p:spPr>
          <a:xfrm xmlns:a="http://schemas.openxmlformats.org/drawingml/2006/main">
            <a:off x="609600" y="3343275"/>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92B3D"/>
                </a:solidFill>
                <a:latin typeface="Arial"/>
                <a:ea typeface="Arial"/>
                <a:cs typeface="Arial"/>
              </a:defRPr>
            </a:defPPr>
          </a:lstStyle>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Mỗi nhóm có 8 câu test</a:t>
            </a:r>
          </a:p>
        </p:txBody>
      </p:sp>
      <p:sp>
        <p:nvSpPr>
          <p:cNvPr id="7" name="text-111">
            <a:extLst xmlns:a="http://schemas.openxmlformats.org/drawingml/2006/main">
              <a:ext uri="{FF2B5EF4-FFF2-40B4-BE49-F238E27FC236}">
                <a16:creationId xmlns:a16="http://schemas.microsoft.com/office/drawing/2014/main" id="{ABD22B3E-3E41-419C-986F-C74CBC07E2C8}"/>
              </a:ext>
            </a:extLst>
          </p:cNvPr>
          <p:cNvSpPr>
            <a:spLocks xmlns:a="http://schemas.openxmlformats.org/drawingml/2006/main" noGrp="1"/>
          </p:cNvSpPr>
          <p:nvPr/>
        </p:nvSpPr>
        <p:spPr>
          <a:xfrm xmlns:a="http://schemas.openxmlformats.org/drawingml/2006/main">
            <a:off x="609600" y="4114800"/>
            <a:ext cx="4810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92B3D"/>
                </a:solidFill>
                <a:latin typeface="Arial"/>
                <a:ea typeface="Arial"/>
                <a:cs typeface="Arial"/>
              </a:defRPr>
            </a:defPPr>
          </a:lstStyle>
          <a:p xmlns:a="http://schemas.openxmlformats.org/drawingml/2006/main">
            <a:pPr algn="l">
              <a:defRPr sz="2175" b="1">
                <a:solidFill>
                  <a:srgbClr val="092B3D"/>
                </a:solidFill>
                <a:latin typeface="Arial"/>
                <a:ea typeface="Arial"/>
                <a:cs typeface="Arial"/>
              </a:defRPr>
            </a:pPr>
            <a:r>
              <a:rPr sz="2175" b="1">
                <a:solidFill>
                  <a:srgbClr val="092B3D"/>
                </a:solidFill>
                <a:latin typeface="Arial"/>
                <a:ea typeface="Arial"/>
                <a:cs typeface="Arial"/>
              </a:rPr>
              <a:t>Nhà ở và ăn uống:</a:t>
            </a:r>
          </a:p>
          <a:p xmlns:a="http://schemas.openxmlformats.org/drawingml/2006/main">
            <a:pPr algn="l">
              <a:defRPr sz="2175" b="1">
                <a:solidFill>
                  <a:srgbClr val="092B3D"/>
                </a:solidFill>
                <a:latin typeface="Arial"/>
                <a:ea typeface="Arial"/>
                <a:cs typeface="Arial"/>
              </a:defRPr>
            </a:pPr>
            <a:r>
              <a:rPr sz="2175" b="1">
                <a:solidFill>
                  <a:srgbClr val="092B3D"/>
                </a:solidFill>
                <a:latin typeface="Arial"/>
                <a:ea typeface="Arial"/>
                <a:cs typeface="Arial"/>
              </a:rPr>
              <a:t>6/8 câu phân loại đúng</a:t>
            </a:r>
          </a:p>
        </p:txBody>
      </p:sp>
      <p:sp>
        <p:nvSpPr>
          <p:cNvPr id="8" name="text-112">
            <a:extLst xmlns:a="http://schemas.openxmlformats.org/drawingml/2006/main">
              <a:ext uri="{FF2B5EF4-FFF2-40B4-BE49-F238E27FC236}">
                <a16:creationId xmlns:a16="http://schemas.microsoft.com/office/drawing/2014/main" id="{81918BF3-AB55-4A9B-9956-918014F193FE}"/>
              </a:ext>
            </a:extLst>
          </p:cNvPr>
          <p:cNvSpPr>
            <a:spLocks xmlns:a="http://schemas.openxmlformats.org/drawingml/2006/main" noGrp="1"/>
          </p:cNvSpPr>
          <p:nvPr/>
        </p:nvSpPr>
        <p:spPr>
          <a:xfrm xmlns:a="http://schemas.openxmlformats.org/drawingml/2006/main">
            <a:off x="609600" y="5400675"/>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B78"/>
                </a:solidFill>
                <a:latin typeface="Arial"/>
                <a:ea typeface="Arial"/>
                <a:cs typeface="Arial"/>
              </a:defRPr>
            </a:defPPr>
          </a:lstStyle>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Corpus còn nhỏ</a:t>
            </a:r>
          </a:p>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Cần thêm mô tả thực tế</a:t>
            </a:r>
          </a:p>
        </p:txBody>
      </p:sp>
      <p:sp>
        <p:nvSpPr>
          <p:cNvPr id="9" name="text-113">
            <a:extLst xmlns:a="http://schemas.openxmlformats.org/drawingml/2006/main">
              <a:ext uri="{FF2B5EF4-FFF2-40B4-BE49-F238E27FC236}">
                <a16:creationId xmlns:a16="http://schemas.microsoft.com/office/drawing/2014/main" id="{BD866907-1919-4EAA-95A1-A25AA909B672}"/>
              </a:ext>
            </a:extLst>
          </p:cNvPr>
          <p:cNvSpPr>
            <a:spLocks xmlns:a="http://schemas.openxmlformats.org/drawingml/2006/main" noGrp="1"/>
          </p:cNvSpPr>
          <p:nvPr/>
        </p:nvSpPr>
        <p:spPr>
          <a:xfrm xmlns:a="http://schemas.openxmlformats.org/drawingml/2006/main">
            <a:off x="5943600" y="1495425"/>
            <a:ext cx="5638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92B3D"/>
                </a:solidFill>
                <a:latin typeface="Arial"/>
                <a:ea typeface="Arial"/>
                <a:cs typeface="Arial"/>
              </a:defRPr>
            </a:defPPr>
          </a:lstStyle>
          <a:p xmlns:a="http://schemas.openxmlformats.org/drawingml/2006/main">
            <a:pPr algn="l">
              <a:defRPr sz="2100" b="1">
                <a:solidFill>
                  <a:srgbClr val="092B3D"/>
                </a:solidFill>
                <a:latin typeface="Arial"/>
                <a:ea typeface="Arial"/>
                <a:cs typeface="Arial"/>
              </a:defRPr>
            </a:pPr>
            <a:r>
              <a:rPr sz="2100" b="1">
                <a:solidFill>
                  <a:srgbClr val="092B3D"/>
                </a:solidFill>
                <a:latin typeface="Arial"/>
                <a:ea typeface="Arial"/>
                <a:cs typeface="Arial"/>
              </a:rPr>
              <a:t>Recall theo nhóm (%)</a:t>
            </a:r>
          </a:p>
        </p:txBody>
      </p:sp>
      <p:graphicFrame>
        <p:nvGraphicFramePr>
          <p:cNvPr id="10" name="Chart">
            <a:extLst xmlns:a="http://schemas.openxmlformats.org/drawingml/2006/main">
              <a:ext uri="{FF2B5EF4-FFF2-40B4-BE49-F238E27FC236}">
                <a16:creationId xmlns:a16="http://schemas.microsoft.com/office/drawing/2014/main" id="{39187BBF-CB9D-40A9-B86F-51AA449F8130}"/>
              </a:ext>
            </a:extLst>
          </p:cNvPr>
          <p:cNvGraphicFramePr/>
          <p:nvPr/>
        </p:nvGraphicFramePr>
        <p:xfrm>
          <a:off xmlns:a="http://schemas.openxmlformats.org/drawingml/2006/main" x="5943600" y="2057400"/>
          <a:ext xmlns:a="http://schemas.openxmlformats.org/drawingml/2006/main" cx="5638800" cy="4000500"/>
        </p:xfrm>
        <a:graphic xmlns:a="http://schemas.openxmlformats.org/drawingml/2006/main">
          <a:graphicData uri="http://schemas.openxmlformats.org/drawingml/2006/chart">
            <c:chart xmlns:r="http://schemas.openxmlformats.org/officeDocument/2006/relationships" xmlns:c="http://schemas.openxmlformats.org/drawingml/2006/chart" r:id="Rc12f2ac16ec2400a"/>
          </a:graphicData>
        </a:graphic>
      </p:graphicFrame>
    </p:spTree>
    <p:extLst>
      <p:ext uri="{BB962C8B-B14F-4D97-AF65-F5344CB8AC3E}">
        <p14:creationId xmlns:p14="http://schemas.microsoft.com/office/powerpoint/2010/main" val="19110279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14">
            <a:extLst xmlns:a="http://schemas.openxmlformats.org/drawingml/2006/main">
              <a:ext uri="{FF2B5EF4-FFF2-40B4-BE49-F238E27FC236}">
                <a16:creationId xmlns:a16="http://schemas.microsoft.com/office/drawing/2014/main" id="{8C000555-7BFB-4673-95DF-6A9F58499A3A}"/>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Chat tư vấn riêng với Qwen3</a:t>
            </a:r>
          </a:p>
        </p:txBody>
      </p:sp>
      <p:sp>
        <p:nvSpPr>
          <p:cNvPr id="2" name="text-115">
            <a:extLst xmlns:a="http://schemas.openxmlformats.org/drawingml/2006/main">
              <a:ext uri="{FF2B5EF4-FFF2-40B4-BE49-F238E27FC236}">
                <a16:creationId xmlns:a16="http://schemas.microsoft.com/office/drawing/2014/main" id="{BE498D14-6180-495C-9A98-6825810E942A}"/>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Nguyễn Tùng Lâm (24ITE055)</a:t>
            </a:r>
          </a:p>
        </p:txBody>
      </p:sp>
      <p:sp>
        <p:nvSpPr>
          <p:cNvPr id="3" name="text-116">
            <a:extLst xmlns:a="http://schemas.openxmlformats.org/drawingml/2006/main">
              <a:ext uri="{FF2B5EF4-FFF2-40B4-BE49-F238E27FC236}">
                <a16:creationId xmlns:a16="http://schemas.microsoft.com/office/drawing/2014/main" id="{DFAA6CFE-B80D-4ED2-B6E8-8EFA5CE5BB24}"/>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14 / 17</a:t>
            </a:r>
          </a:p>
        </p:txBody>
      </p:sp>
      <p:sp>
        <p:nvSpPr>
          <p:cNvPr id="4" name="text-117">
            <a:extLst xmlns:a="http://schemas.openxmlformats.org/drawingml/2006/main">
              <a:ext uri="{FF2B5EF4-FFF2-40B4-BE49-F238E27FC236}">
                <a16:creationId xmlns:a16="http://schemas.microsoft.com/office/drawing/2014/main" id="{3412AD7F-1A61-4B1C-BCF9-1A91F31AA094}"/>
              </a:ext>
            </a:extLst>
          </p:cNvPr>
          <p:cNvSpPr>
            <a:spLocks xmlns:a="http://schemas.openxmlformats.org/drawingml/2006/main" noGrp="1"/>
          </p:cNvSpPr>
          <p:nvPr/>
        </p:nvSpPr>
        <p:spPr>
          <a:xfrm xmlns:a="http://schemas.openxmlformats.org/drawingml/2006/main">
            <a:off x="609600" y="1600200"/>
            <a:ext cx="3448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Qwen3 1.7B local</a:t>
            </a:r>
          </a:p>
        </p:txBody>
      </p:sp>
      <p:sp>
        <p:nvSpPr>
          <p:cNvPr id="5" name="text-118">
            <a:extLst xmlns:a="http://schemas.openxmlformats.org/drawingml/2006/main">
              <a:ext uri="{FF2B5EF4-FFF2-40B4-BE49-F238E27FC236}">
                <a16:creationId xmlns:a16="http://schemas.microsoft.com/office/drawing/2014/main" id="{08D21266-3339-4F21-8F2C-7B03AAB02EB1}"/>
              </a:ext>
            </a:extLst>
          </p:cNvPr>
          <p:cNvSpPr>
            <a:spLocks xmlns:a="http://schemas.openxmlformats.org/drawingml/2006/main" noGrp="1"/>
          </p:cNvSpPr>
          <p:nvPr/>
        </p:nvSpPr>
        <p:spPr>
          <a:xfrm xmlns:a="http://schemas.openxmlformats.org/drawingml/2006/main">
            <a:off x="609600" y="2171700"/>
            <a:ext cx="333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Trọng số có sẵn</a:t>
            </a:r>
          </a:p>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Chưa fine-tune LLM</a:t>
            </a:r>
          </a:p>
        </p:txBody>
      </p:sp>
      <p:sp>
        <p:nvSpPr>
          <p:cNvPr id="6" name="text-119">
            <a:extLst xmlns:a="http://schemas.openxmlformats.org/drawingml/2006/main">
              <a:ext uri="{FF2B5EF4-FFF2-40B4-BE49-F238E27FC236}">
                <a16:creationId xmlns:a16="http://schemas.microsoft.com/office/drawing/2014/main" id="{7627B97D-3BB2-4880-83F1-E499AC78BFD6}"/>
              </a:ext>
            </a:extLst>
          </p:cNvPr>
          <p:cNvSpPr>
            <a:spLocks xmlns:a="http://schemas.openxmlformats.org/drawingml/2006/main" noGrp="1"/>
          </p:cNvSpPr>
          <p:nvPr/>
        </p:nvSpPr>
        <p:spPr>
          <a:xfrm xmlns:a="http://schemas.openxmlformats.org/drawingml/2006/main">
            <a:off x="609600" y="3619500"/>
            <a:ext cx="342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92B3D"/>
                </a:solidFill>
                <a:latin typeface="Arial"/>
                <a:ea typeface="Arial"/>
                <a:cs typeface="Arial"/>
              </a:defRPr>
            </a:defPPr>
          </a:lstStyle>
          <a:p xmlns:a="http://schemas.openxmlformats.org/drawingml/2006/main">
            <a:pPr algn="l">
              <a:defRPr sz="2175" b="1">
                <a:solidFill>
                  <a:srgbClr val="092B3D"/>
                </a:solidFill>
                <a:latin typeface="Arial"/>
                <a:ea typeface="Arial"/>
                <a:cs typeface="Arial"/>
              </a:defRPr>
            </a:pPr>
            <a:r>
              <a:rPr sz="2175" b="1">
                <a:solidFill>
                  <a:srgbClr val="092B3D"/>
                </a:solidFill>
                <a:latin typeface="Arial"/>
                <a:ea typeface="Arial"/>
                <a:cs typeface="Arial"/>
              </a:rPr>
              <a:t>Hội thoại theo tài khoản</a:t>
            </a:r>
          </a:p>
        </p:txBody>
      </p:sp>
      <p:sp>
        <p:nvSpPr>
          <p:cNvPr id="7" name="text-120">
            <a:extLst xmlns:a="http://schemas.openxmlformats.org/drawingml/2006/main">
              <a:ext uri="{FF2B5EF4-FFF2-40B4-BE49-F238E27FC236}">
                <a16:creationId xmlns:a16="http://schemas.microsoft.com/office/drawing/2014/main" id="{3FAB04C1-2264-49A1-9906-1C43BDACD94C}"/>
              </a:ext>
            </a:extLst>
          </p:cNvPr>
          <p:cNvSpPr>
            <a:spLocks xmlns:a="http://schemas.openxmlformats.org/drawingml/2006/main" noGrp="1"/>
          </p:cNvSpPr>
          <p:nvPr/>
        </p:nvSpPr>
        <p:spPr>
          <a:xfrm xmlns:a="http://schemas.openxmlformats.org/drawingml/2006/main">
            <a:off x="609600" y="46291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Số liệu có nguồn và kỳ</a:t>
            </a:r>
          </a:p>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Chat chỉ đọc dữ liệu</a:t>
            </a:r>
          </a:p>
        </p:txBody>
      </p:sp>
      <p:pic>
        <p:nvPicPr>
          <p:cNvPr id="8" name="">
            <a:extLst xmlns:a="http://schemas.openxmlformats.org/drawingml/2006/main">
              <a:ext uri="{FF2B5EF4-FFF2-40B4-BE49-F238E27FC236}">
                <a16:creationId xmlns:a16="http://schemas.microsoft.com/office/drawing/2014/main" id="{72AFD826-0037-4E2C-B733-22655E130B31}"/>
              </a:ext>
            </a:extLst>
          </p:cNvPr>
          <p:cNvPicPr>
            <a:picLocks xmlns:a="http://schemas.openxmlformats.org/drawingml/2006/main" noChangeAspect="1"/>
          </p:cNvPicPr>
          <p:nvPr/>
        </p:nvPicPr>
        <p:blipFill>
          <a:blip xmlns:r="http://schemas.openxmlformats.org/officeDocument/2006/relationships" xmlns:a="http://schemas.openxmlformats.org/drawingml/2006/main" r:embed="Rf091e45a0fd240bd"/>
          <a:srcRect xmlns:a="http://schemas.openxmlformats.org/drawingml/2006/main" l="19500" t="24200" r="1800" b="10000"/>
          <a:stretch xmlns:a="http://schemas.openxmlformats.org/drawingml/2006/main"/>
        </p:blipFill>
        <p:spPr>
          <a:xfrm xmlns:a="http://schemas.openxmlformats.org/drawingml/2006/main">
            <a:off x="4181475" y="1695450"/>
            <a:ext cx="7400925" cy="4457700"/>
          </a:xfrm>
          <a:prstGeom xmlns:a="http://schemas.openxmlformats.org/drawingml/2006/main" prst="rect">
            <a:avLst/>
          </a:prstGeom>
        </p:spPr>
      </p:pic>
    </p:spTree>
    <p:extLst>
      <p:ext uri="{BB962C8B-B14F-4D97-AF65-F5344CB8AC3E}">
        <p14:creationId xmlns:p14="http://schemas.microsoft.com/office/powerpoint/2010/main" val="20428688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21">
            <a:extLst xmlns:a="http://schemas.openxmlformats.org/drawingml/2006/main">
              <a:ext uri="{FF2B5EF4-FFF2-40B4-BE49-F238E27FC236}">
                <a16:creationId xmlns:a16="http://schemas.microsoft.com/office/drawing/2014/main" id="{988216CB-68FE-4B3D-9C5C-60571E05A6E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Ví dụ chat dựa trên số liệu có nguồn</a:t>
            </a:r>
          </a:p>
        </p:txBody>
      </p:sp>
      <p:sp>
        <p:nvSpPr>
          <p:cNvPr id="2" name="text-122">
            <a:extLst xmlns:a="http://schemas.openxmlformats.org/drawingml/2006/main">
              <a:ext uri="{FF2B5EF4-FFF2-40B4-BE49-F238E27FC236}">
                <a16:creationId xmlns:a16="http://schemas.microsoft.com/office/drawing/2014/main" id="{ACE5A54C-05D2-48FA-A80F-F18DDC6B3B84}"/>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B78"/>
                </a:solidFill>
                <a:latin typeface="Arial"/>
                <a:ea typeface="Arial"/>
                <a:cs typeface="Arial"/>
              </a:defRPr>
            </a:defPPr>
          </a:lstStyle>
          <a:p xmlns:a="http://schemas.openxmlformats.org/drawingml/2006/main">
            <a:pPr algn="l">
              <a:defRPr sz="1500" b="0">
                <a:solidFill>
                  <a:srgbClr val="526B78"/>
                </a:solidFill>
                <a:latin typeface="Arial"/>
                <a:ea typeface="Arial"/>
                <a:cs typeface="Arial"/>
              </a:defRPr>
            </a:pPr>
            <a:r>
              <a:rPr sz="1500" b="0">
                <a:solidFill>
                  <a:srgbClr val="526B78"/>
                </a:solidFill>
                <a:latin typeface="Arial"/>
                <a:ea typeface="Arial"/>
                <a:cs typeface="Arial"/>
              </a:rPr>
              <a:t>Nguyễn Tùng Lâm (24ITE055)</a:t>
            </a:r>
          </a:p>
        </p:txBody>
      </p:sp>
      <p:sp>
        <p:nvSpPr>
          <p:cNvPr id="3" name="text-123">
            <a:extLst xmlns:a="http://schemas.openxmlformats.org/drawingml/2006/main">
              <a:ext uri="{FF2B5EF4-FFF2-40B4-BE49-F238E27FC236}">
                <a16:creationId xmlns:a16="http://schemas.microsoft.com/office/drawing/2014/main" id="{C178E1BE-93C3-4C73-8072-A3C02469BA35}"/>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B78"/>
                </a:solidFill>
                <a:latin typeface="Arial"/>
                <a:ea typeface="Arial"/>
                <a:cs typeface="Arial"/>
              </a:defRPr>
            </a:defPPr>
          </a:lstStyle>
          <a:p xmlns:a="http://schemas.openxmlformats.org/drawingml/2006/main">
            <a:pPr algn="r">
              <a:defRPr sz="1500" b="0">
                <a:solidFill>
                  <a:srgbClr val="526B78"/>
                </a:solidFill>
                <a:latin typeface="Arial"/>
                <a:ea typeface="Arial"/>
                <a:cs typeface="Arial"/>
              </a:defRPr>
            </a:pPr>
            <a:r>
              <a:rPr sz="1500" b="0">
                <a:solidFill>
                  <a:srgbClr val="526B78"/>
                </a:solidFill>
                <a:latin typeface="Arial"/>
                <a:ea typeface="Arial"/>
                <a:cs typeface="Arial"/>
              </a:rPr>
              <a:t>15 / 17</a:t>
            </a:r>
          </a:p>
        </p:txBody>
      </p:sp>
      <p:sp>
        <p:nvSpPr>
          <p:cNvPr id="4" name="text-124">
            <a:extLst xmlns:a="http://schemas.openxmlformats.org/drawingml/2006/main">
              <a:ext uri="{FF2B5EF4-FFF2-40B4-BE49-F238E27FC236}">
                <a16:creationId xmlns:a16="http://schemas.microsoft.com/office/drawing/2014/main" id="{AEADCF6A-B380-47AB-927D-ED1A752B05D6}"/>
              </a:ext>
            </a:extLst>
          </p:cNvPr>
          <p:cNvSpPr>
            <a:spLocks xmlns:a="http://schemas.openxmlformats.org/drawingml/2006/main" noGrp="1"/>
          </p:cNvSpPr>
          <p:nvPr/>
        </p:nvSpPr>
        <p:spPr>
          <a:xfrm xmlns:a="http://schemas.openxmlformats.org/drawingml/2006/main">
            <a:off x="609600" y="1419225"/>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B78"/>
                </a:solidFill>
                <a:latin typeface="Arial"/>
                <a:ea typeface="Arial"/>
                <a:cs typeface="Arial"/>
              </a:defRPr>
            </a:defPPr>
          </a:lstStyle>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Hỏi danh mục chi nhiều nhất trong tháng</a:t>
            </a:r>
          </a:p>
        </p:txBody>
      </p:sp>
      <p:pic>
        <p:nvPicPr>
          <p:cNvPr id="5" name="">
            <a:extLst xmlns:a="http://schemas.openxmlformats.org/drawingml/2006/main">
              <a:ext uri="{FF2B5EF4-FFF2-40B4-BE49-F238E27FC236}">
                <a16:creationId xmlns:a16="http://schemas.microsoft.com/office/drawing/2014/main" id="{FA01A4DA-8AB6-4766-A9FD-E4BF9CD3BAB6}"/>
              </a:ext>
            </a:extLst>
          </p:cNvPr>
          <p:cNvPicPr>
            <a:picLocks xmlns:a="http://schemas.openxmlformats.org/drawingml/2006/main" noChangeAspect="1"/>
          </p:cNvPicPr>
          <p:nvPr/>
        </p:nvPicPr>
        <p:blipFill>
          <a:blip xmlns:r="http://schemas.openxmlformats.org/officeDocument/2006/relationships" xmlns:a="http://schemas.openxmlformats.org/drawingml/2006/main" r:embed="R85e678ce86314f2c"/>
          <a:srcRect xmlns:a="http://schemas.openxmlformats.org/drawingml/2006/main" l="39300" t="32100" r="3500" b="29100"/>
          <a:stretch xmlns:a="http://schemas.openxmlformats.org/drawingml/2006/main"/>
        </p:blipFill>
        <p:spPr>
          <a:xfrm xmlns:a="http://schemas.openxmlformats.org/drawingml/2006/main">
            <a:off x="609600" y="2000250"/>
            <a:ext cx="7143750" cy="3533775"/>
          </a:xfrm>
          <a:prstGeom xmlns:a="http://schemas.openxmlformats.org/drawingml/2006/main" prst="rect">
            <a:avLst/>
          </a:prstGeom>
        </p:spPr>
      </p:pic>
      <p:sp>
        <p:nvSpPr>
          <p:cNvPr id="6" name="text-125">
            <a:extLst xmlns:a="http://schemas.openxmlformats.org/drawingml/2006/main">
              <a:ext uri="{FF2B5EF4-FFF2-40B4-BE49-F238E27FC236}">
                <a16:creationId xmlns:a16="http://schemas.microsoft.com/office/drawing/2014/main" id="{E87940C7-34DC-4D25-8933-94E2C42DDD09}"/>
              </a:ext>
            </a:extLst>
          </p:cNvPr>
          <p:cNvSpPr>
            <a:spLocks xmlns:a="http://schemas.openxmlformats.org/drawingml/2006/main" noGrp="1"/>
          </p:cNvSpPr>
          <p:nvPr/>
        </p:nvSpPr>
        <p:spPr>
          <a:xfrm xmlns:a="http://schemas.openxmlformats.org/drawingml/2006/main">
            <a:off x="8210550" y="1695450"/>
            <a:ext cx="3371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A63"/>
                </a:solidFill>
                <a:latin typeface="Arial"/>
                <a:ea typeface="Arial"/>
                <a:cs typeface="Arial"/>
              </a:defRPr>
            </a:defPPr>
          </a:lstStyle>
          <a:p xmlns:a="http://schemas.openxmlformats.org/drawingml/2006/main">
            <a:pPr algn="l">
              <a:defRPr sz="2325" b="1">
                <a:solidFill>
                  <a:srgbClr val="008A63"/>
                </a:solidFill>
                <a:latin typeface="Arial"/>
                <a:ea typeface="Arial"/>
                <a:cs typeface="Arial"/>
              </a:defRPr>
            </a:pPr>
            <a:r>
              <a:rPr sz="2325" b="1">
                <a:solidFill>
                  <a:srgbClr val="008A63"/>
                </a:solidFill>
                <a:latin typeface="Arial"/>
                <a:ea typeface="Arial"/>
                <a:cs typeface="Arial"/>
              </a:rPr>
              <a:t>Ăn uống</a:t>
            </a:r>
          </a:p>
        </p:txBody>
      </p:sp>
      <p:sp>
        <p:nvSpPr>
          <p:cNvPr id="7" name="text-126">
            <a:extLst xmlns:a="http://schemas.openxmlformats.org/drawingml/2006/main">
              <a:ext uri="{FF2B5EF4-FFF2-40B4-BE49-F238E27FC236}">
                <a16:creationId xmlns:a16="http://schemas.microsoft.com/office/drawing/2014/main" id="{551341C2-5074-40D0-BC57-AA2437406815}"/>
              </a:ext>
            </a:extLst>
          </p:cNvPr>
          <p:cNvSpPr>
            <a:spLocks xmlns:a="http://schemas.openxmlformats.org/drawingml/2006/main" noGrp="1"/>
          </p:cNvSpPr>
          <p:nvPr/>
        </p:nvSpPr>
        <p:spPr>
          <a:xfrm xmlns:a="http://schemas.openxmlformats.org/drawingml/2006/main">
            <a:off x="8210550" y="2305050"/>
            <a:ext cx="3371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092B3D"/>
                </a:solidFill>
                <a:latin typeface="Arial"/>
                <a:ea typeface="Arial"/>
                <a:cs typeface="Arial"/>
              </a:defRPr>
            </a:defPPr>
          </a:lstStyle>
          <a:p xmlns:a="http://schemas.openxmlformats.org/drawingml/2006/main">
            <a:pPr algn="l">
              <a:defRPr sz="3525" b="1">
                <a:solidFill>
                  <a:srgbClr val="092B3D"/>
                </a:solidFill>
                <a:latin typeface="Arial"/>
                <a:ea typeface="Arial"/>
                <a:cs typeface="Arial"/>
              </a:defRPr>
            </a:pPr>
            <a:r>
              <a:rPr sz="3525" b="1">
                <a:solidFill>
                  <a:srgbClr val="092B3D"/>
                </a:solidFill>
                <a:latin typeface="Arial"/>
                <a:ea typeface="Arial"/>
                <a:cs typeface="Arial"/>
              </a:rPr>
              <a:t>250.000 đ</a:t>
            </a:r>
          </a:p>
        </p:txBody>
      </p:sp>
      <p:sp>
        <p:nvSpPr>
          <p:cNvPr id="8" name="text-127">
            <a:extLst xmlns:a="http://schemas.openxmlformats.org/drawingml/2006/main">
              <a:ext uri="{FF2B5EF4-FFF2-40B4-BE49-F238E27FC236}">
                <a16:creationId xmlns:a16="http://schemas.microsoft.com/office/drawing/2014/main" id="{7E291054-A239-462E-8DD1-C0262EE2D1F0}"/>
              </a:ext>
            </a:extLst>
          </p:cNvPr>
          <p:cNvSpPr>
            <a:spLocks xmlns:a="http://schemas.openxmlformats.org/drawingml/2006/main" noGrp="1"/>
          </p:cNvSpPr>
          <p:nvPr/>
        </p:nvSpPr>
        <p:spPr>
          <a:xfrm xmlns:a="http://schemas.openxmlformats.org/drawingml/2006/main">
            <a:off x="8210550" y="3200400"/>
            <a:ext cx="3371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B78"/>
                </a:solidFill>
                <a:latin typeface="Arial"/>
                <a:ea typeface="Arial"/>
                <a:cs typeface="Arial"/>
              </a:defRPr>
            </a:defPPr>
          </a:lstStyle>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Dữ liệu demo</a:t>
            </a:r>
          </a:p>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tháng 10/2026</a:t>
            </a:r>
          </a:p>
        </p:txBody>
      </p:sp>
      <p:sp>
        <p:nvSpPr>
          <p:cNvPr id="9" name="text-128">
            <a:extLst xmlns:a="http://schemas.openxmlformats.org/drawingml/2006/main">
              <a:ext uri="{FF2B5EF4-FFF2-40B4-BE49-F238E27FC236}">
                <a16:creationId xmlns:a16="http://schemas.microsoft.com/office/drawing/2014/main" id="{D326ADF3-8B39-4931-81D9-334D7FAFC9E3}"/>
              </a:ext>
            </a:extLst>
          </p:cNvPr>
          <p:cNvSpPr>
            <a:spLocks xmlns:a="http://schemas.openxmlformats.org/drawingml/2006/main" noGrp="1"/>
          </p:cNvSpPr>
          <p:nvPr/>
        </p:nvSpPr>
        <p:spPr>
          <a:xfrm xmlns:a="http://schemas.openxmlformats.org/drawingml/2006/main">
            <a:off x="8210550" y="4486275"/>
            <a:ext cx="3371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92B3D"/>
                </a:solidFill>
                <a:latin typeface="Arial"/>
                <a:ea typeface="Arial"/>
                <a:cs typeface="Arial"/>
              </a:defRPr>
            </a:defPPr>
          </a:lstStyle>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Backend kiểm tra quyền</a:t>
            </a:r>
          </a:p>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FastAPI kiểm tra số liệu</a:t>
            </a:r>
          </a:p>
        </p:txBody>
      </p:sp>
      <p:sp>
        <p:nvSpPr>
          <p:cNvPr id="10" name="text-129">
            <a:extLst xmlns:a="http://schemas.openxmlformats.org/drawingml/2006/main">
              <a:ext uri="{FF2B5EF4-FFF2-40B4-BE49-F238E27FC236}">
                <a16:creationId xmlns:a16="http://schemas.microsoft.com/office/drawing/2014/main" id="{5D76E52F-EAF6-4949-BE64-7653229A5D89}"/>
              </a:ext>
            </a:extLst>
          </p:cNvPr>
          <p:cNvSpPr>
            <a:spLocks xmlns:a="http://schemas.openxmlformats.org/drawingml/2006/main" noGrp="1"/>
          </p:cNvSpPr>
          <p:nvPr/>
        </p:nvSpPr>
        <p:spPr>
          <a:xfrm xmlns:a="http://schemas.openxmlformats.org/drawingml/2006/main">
            <a:off x="609600" y="58959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8A63"/>
                </a:solidFill>
                <a:latin typeface="Arial"/>
                <a:ea typeface="Arial"/>
                <a:cs typeface="Arial"/>
              </a:defRPr>
            </a:defPPr>
          </a:lstStyle>
          <a:p xmlns:a="http://schemas.openxmlformats.org/drawingml/2006/main">
            <a:pPr algn="l">
              <a:defRPr sz="1950" b="1">
                <a:solidFill>
                  <a:srgbClr val="008A63"/>
                </a:solidFill>
                <a:latin typeface="Arial"/>
                <a:ea typeface="Arial"/>
                <a:cs typeface="Arial"/>
              </a:defRPr>
            </a:pPr>
            <a:r>
              <a:rPr sz="1950" b="1">
                <a:solidFill>
                  <a:srgbClr val="008A63"/>
                </a:solidFill>
                <a:latin typeface="Arial"/>
                <a:ea typeface="Arial"/>
                <a:cs typeface="Arial"/>
              </a:rPr>
              <a:t>Người dùng có thể dừng, gửi lại và đánh giá phản hồi</a:t>
            </a:r>
          </a:p>
        </p:txBody>
      </p:sp>
    </p:spTree>
    <p:extLst>
      <p:ext uri="{BB962C8B-B14F-4D97-AF65-F5344CB8AC3E}">
        <p14:creationId xmlns:p14="http://schemas.microsoft.com/office/powerpoint/2010/main" val="249305101"/>
      </p:ext>
    </p:extLst>
  </p:cSld>
</p:sld>
</file>

<file path=ppt/slides/slide16.xml><?xml version="1.0" encoding="utf-8"?>
<p:sld xmlns:p="http://schemas.openxmlformats.org/presentationml/2006/main">
  <p:cSld>
    <p:bg>
      <p:bgPr>
        <a:solidFill xmlns:a="http://schemas.openxmlformats.org/drawingml/2006/main">
          <a:srgbClr val="072E37"/>
        </a:solidFill>
      </p:bgPr>
    </p:bg>
    <p:spTree>
      <p:nvGrpSpPr>
        <p:cNvPr id="1" name=""/>
        <p:cNvGrpSpPr/>
        <p:nvPr/>
      </p:nvGrpSpPr>
      <p:grpSpPr>
        <a:xfrm xmlns:a="http://schemas.openxmlformats.org/drawingml/2006/main"/>
      </p:grpSpPr>
      <p:sp>
        <p:nvSpPr>
          <p:cNvPr id="13" name="text-130">
            <a:extLst xmlns:a="http://schemas.openxmlformats.org/drawingml/2006/main">
              <a:ext uri="{FF2B5EF4-FFF2-40B4-BE49-F238E27FC236}">
                <a16:creationId xmlns:a16="http://schemas.microsoft.com/office/drawing/2014/main" id="{FECAA4EA-B216-4236-9CE4-901EF7BB9BEA}"/>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Kết quả và hướng phát triển</a:t>
            </a:r>
          </a:p>
        </p:txBody>
      </p:sp>
      <p:sp>
        <p:nvSpPr>
          <p:cNvPr id="2" name="text-131">
            <a:extLst xmlns:a="http://schemas.openxmlformats.org/drawingml/2006/main">
              <a:ext uri="{FF2B5EF4-FFF2-40B4-BE49-F238E27FC236}">
                <a16:creationId xmlns:a16="http://schemas.microsoft.com/office/drawing/2014/main" id="{9D647C6A-8C80-45A5-AB51-5CA4EFA33068}"/>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FE7DA"/>
                </a:solidFill>
                <a:latin typeface="Arial"/>
                <a:ea typeface="Arial"/>
                <a:cs typeface="Arial"/>
              </a:defRPr>
            </a:defPPr>
          </a:lstStyle>
          <a:p xmlns:a="http://schemas.openxmlformats.org/drawingml/2006/main">
            <a:pPr algn="l">
              <a:defRPr sz="1500" b="0">
                <a:solidFill>
                  <a:srgbClr val="BFE7DA"/>
                </a:solidFill>
                <a:latin typeface="Arial"/>
                <a:ea typeface="Arial"/>
                <a:cs typeface="Arial"/>
              </a:defRPr>
            </a:pPr>
            <a:r>
              <a:rPr sz="1500" b="0">
                <a:solidFill>
                  <a:srgbClr val="BFE7DA"/>
                </a:solidFill>
                <a:latin typeface="Arial"/>
                <a:ea typeface="Arial"/>
                <a:cs typeface="Arial"/>
              </a:rPr>
              <a:t>Nguyễn Tùng Lâm (24ITE055)</a:t>
            </a:r>
          </a:p>
        </p:txBody>
      </p:sp>
      <p:sp>
        <p:nvSpPr>
          <p:cNvPr id="3" name="text-132">
            <a:extLst xmlns:a="http://schemas.openxmlformats.org/drawingml/2006/main">
              <a:ext uri="{FF2B5EF4-FFF2-40B4-BE49-F238E27FC236}">
                <a16:creationId xmlns:a16="http://schemas.microsoft.com/office/drawing/2014/main" id="{AEC7EA30-3219-46B1-B0FD-525ED0ECDB0D}"/>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FE7DA"/>
                </a:solidFill>
                <a:latin typeface="Arial"/>
                <a:ea typeface="Arial"/>
                <a:cs typeface="Arial"/>
              </a:defRPr>
            </a:defPPr>
          </a:lstStyle>
          <a:p xmlns:a="http://schemas.openxmlformats.org/drawingml/2006/main">
            <a:pPr algn="r">
              <a:defRPr sz="1500" b="0">
                <a:solidFill>
                  <a:srgbClr val="BFE7DA"/>
                </a:solidFill>
                <a:latin typeface="Arial"/>
                <a:ea typeface="Arial"/>
                <a:cs typeface="Arial"/>
              </a:defRPr>
            </a:pPr>
            <a:r>
              <a:rPr sz="1500" b="0">
                <a:solidFill>
                  <a:srgbClr val="BFE7DA"/>
                </a:solidFill>
                <a:latin typeface="Arial"/>
                <a:ea typeface="Arial"/>
                <a:cs typeface="Arial"/>
              </a:rPr>
              <a:t>16 / 17</a:t>
            </a:r>
          </a:p>
        </p:txBody>
      </p:sp>
      <p:sp>
        <p:nvSpPr>
          <p:cNvPr id="4" name="text-133">
            <a:extLst xmlns:a="http://schemas.openxmlformats.org/drawingml/2006/main">
              <a:ext uri="{FF2B5EF4-FFF2-40B4-BE49-F238E27FC236}">
                <a16:creationId xmlns:a16="http://schemas.microsoft.com/office/drawing/2014/main" id="{F1965D1D-1354-47EB-8692-CF06DE85FE80}"/>
              </a:ext>
            </a:extLst>
          </p:cNvPr>
          <p:cNvSpPr>
            <a:spLocks xmlns:a="http://schemas.openxmlformats.org/drawingml/2006/main" noGrp="1"/>
          </p:cNvSpPr>
          <p:nvPr/>
        </p:nvSpPr>
        <p:spPr>
          <a:xfrm xmlns:a="http://schemas.openxmlformats.org/drawingml/2006/main">
            <a:off x="609600" y="1466850"/>
            <a:ext cx="2362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750" b="1">
                <a:solidFill>
                  <a:srgbClr val="52D5A1"/>
                </a:solidFill>
                <a:latin typeface="Arial"/>
                <a:ea typeface="Arial"/>
                <a:cs typeface="Arial"/>
              </a:defRPr>
            </a:defPPr>
          </a:lstStyle>
          <a:p xmlns:a="http://schemas.openxmlformats.org/drawingml/2006/main">
            <a:pPr algn="l">
              <a:defRPr sz="6750" b="1">
                <a:solidFill>
                  <a:srgbClr val="52D5A1"/>
                </a:solidFill>
                <a:latin typeface="Arial"/>
                <a:ea typeface="Arial"/>
                <a:cs typeface="Arial"/>
              </a:defRPr>
            </a:pPr>
            <a:r>
              <a:rPr sz="6750" b="1">
                <a:solidFill>
                  <a:srgbClr val="52D5A1"/>
                </a:solidFill>
                <a:latin typeface="Arial"/>
                <a:ea typeface="Arial"/>
                <a:cs typeface="Arial"/>
              </a:rPr>
              <a:t>76</a:t>
            </a:r>
          </a:p>
        </p:txBody>
      </p:sp>
      <p:sp>
        <p:nvSpPr>
          <p:cNvPr id="5" name="text-134">
            <a:extLst xmlns:a="http://schemas.openxmlformats.org/drawingml/2006/main">
              <a:ext uri="{FF2B5EF4-FFF2-40B4-BE49-F238E27FC236}">
                <a16:creationId xmlns:a16="http://schemas.microsoft.com/office/drawing/2014/main" id="{5EAB5C81-96A1-40DD-9F41-8201C12B8E3C}"/>
              </a:ext>
            </a:extLst>
          </p:cNvPr>
          <p:cNvSpPr>
            <a:spLocks xmlns:a="http://schemas.openxmlformats.org/drawingml/2006/main" noGrp="1"/>
          </p:cNvSpPr>
          <p:nvPr/>
        </p:nvSpPr>
        <p:spPr>
          <a:xfrm xmlns:a="http://schemas.openxmlformats.org/drawingml/2006/main">
            <a:off x="609600" y="2657475"/>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ca kiểm thử tự động đạt</a:t>
            </a:r>
          </a:p>
        </p:txBody>
      </p:sp>
      <p:graphicFrame>
        <p:nvGraphicFramePr>
          <p:cNvPr id="6" name="Chart">
            <a:extLst xmlns:a="http://schemas.openxmlformats.org/drawingml/2006/main">
              <a:ext uri="{FF2B5EF4-FFF2-40B4-BE49-F238E27FC236}">
                <a16:creationId xmlns:a16="http://schemas.microsoft.com/office/drawing/2014/main" id="{14F6B21E-F8E8-47B3-8D0D-5808F118DE76}"/>
              </a:ext>
            </a:extLst>
          </p:cNvPr>
          <p:cNvGraphicFramePr/>
          <p:nvPr/>
        </p:nvGraphicFramePr>
        <p:xfrm>
          <a:off xmlns:a="http://schemas.openxmlformats.org/drawingml/2006/main" x="609600" y="3352800"/>
          <a:ext xmlns:a="http://schemas.openxmlformats.org/drawingml/2006/main" cx="5143500" cy="2238375"/>
        </p:xfrm>
        <a:graphic xmlns:a="http://schemas.openxmlformats.org/drawingml/2006/main">
          <a:graphicData uri="http://schemas.openxmlformats.org/drawingml/2006/chart">
            <c:chart xmlns:r="http://schemas.openxmlformats.org/officeDocument/2006/relationships" xmlns:c="http://schemas.openxmlformats.org/drawingml/2006/chart" r:id="R6ddbdae81a294364"/>
          </a:graphicData>
        </a:graphic>
      </p:graphicFrame>
      <p:sp>
        <p:nvSpPr>
          <p:cNvPr id="7" name="text-135">
            <a:extLst xmlns:a="http://schemas.openxmlformats.org/drawingml/2006/main">
              <a:ext uri="{FF2B5EF4-FFF2-40B4-BE49-F238E27FC236}">
                <a16:creationId xmlns:a16="http://schemas.microsoft.com/office/drawing/2014/main" id="{963DB304-8120-46A5-8F90-A954F360047E}"/>
              </a:ext>
            </a:extLst>
          </p:cNvPr>
          <p:cNvSpPr>
            <a:spLocks xmlns:a="http://schemas.openxmlformats.org/drawingml/2006/main" noGrp="1"/>
          </p:cNvSpPr>
          <p:nvPr/>
        </p:nvSpPr>
        <p:spPr>
          <a:xfrm xmlns:a="http://schemas.openxmlformats.org/drawingml/2006/main">
            <a:off x="6238875" y="1666875"/>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Chat trên 5 chiều rộng</a:t>
            </a:r>
          </a:p>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màn hình</a:t>
            </a:r>
          </a:p>
        </p:txBody>
      </p:sp>
      <p:sp>
        <p:nvSpPr>
          <p:cNvPr id="8" name="text-136">
            <a:extLst xmlns:a="http://schemas.openxmlformats.org/drawingml/2006/main">
              <a:ext uri="{FF2B5EF4-FFF2-40B4-BE49-F238E27FC236}">
                <a16:creationId xmlns:a16="http://schemas.microsoft.com/office/drawing/2014/main" id="{EE062AA1-ACAA-44EF-83DC-96A38152A747}"/>
              </a:ext>
            </a:extLst>
          </p:cNvPr>
          <p:cNvSpPr>
            <a:spLocks xmlns:a="http://schemas.openxmlformats.org/drawingml/2006/main" noGrp="1"/>
          </p:cNvSpPr>
          <p:nvPr/>
        </p:nvSpPr>
        <p:spPr>
          <a:xfrm xmlns:a="http://schemas.openxmlformats.org/drawingml/2006/main">
            <a:off x="6238875" y="3095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52D5A1"/>
                </a:solidFill>
                <a:latin typeface="Arial"/>
                <a:ea typeface="Arial"/>
                <a:cs typeface="Arial"/>
              </a:defRPr>
            </a:defPPr>
          </a:lstStyle>
          <a:p xmlns:a="http://schemas.openxmlformats.org/drawingml/2006/main">
            <a:pPr algn="l">
              <a:defRPr sz="2025" b="1">
                <a:solidFill>
                  <a:srgbClr val="52D5A1"/>
                </a:solidFill>
                <a:latin typeface="Arial"/>
                <a:ea typeface="Arial"/>
                <a:cs typeface="Arial"/>
              </a:defRPr>
            </a:pPr>
            <a:r>
              <a:rPr sz="2025" b="1">
                <a:solidFill>
                  <a:srgbClr val="52D5A1"/>
                </a:solidFill>
                <a:latin typeface="Arial"/>
                <a:ea typeface="Arial"/>
                <a:cs typeface="Arial"/>
              </a:rPr>
              <a:t>Giới hạn hiện tại</a:t>
            </a:r>
          </a:p>
        </p:txBody>
      </p:sp>
      <p:sp>
        <p:nvSpPr>
          <p:cNvPr id="9" name="text-137">
            <a:extLst xmlns:a="http://schemas.openxmlformats.org/drawingml/2006/main">
              <a:ext uri="{FF2B5EF4-FFF2-40B4-BE49-F238E27FC236}">
                <a16:creationId xmlns:a16="http://schemas.microsoft.com/office/drawing/2014/main" id="{CC18F2DD-1787-4BAB-8691-0A4A26434D88}"/>
              </a:ext>
            </a:extLst>
          </p:cNvPr>
          <p:cNvSpPr>
            <a:spLocks xmlns:a="http://schemas.openxmlformats.org/drawingml/2006/main" noGrp="1"/>
          </p:cNvSpPr>
          <p:nvPr/>
        </p:nvSpPr>
        <p:spPr>
          <a:xfrm xmlns:a="http://schemas.openxmlformats.org/drawingml/2006/main">
            <a:off x="6238875" y="360045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CE5DD"/>
                </a:solidFill>
                <a:latin typeface="Arial"/>
                <a:ea typeface="Arial"/>
                <a:cs typeface="Arial"/>
              </a:defRPr>
            </a:defPPr>
          </a:lstStyle>
          <a:p xmlns:a="http://schemas.openxmlformats.org/drawingml/2006/main">
            <a:pPr algn="l">
              <a:defRPr sz="1875" b="0">
                <a:solidFill>
                  <a:srgbClr val="CCE5DD"/>
                </a:solidFill>
                <a:latin typeface="Arial"/>
                <a:ea typeface="Arial"/>
                <a:cs typeface="Arial"/>
              </a:defRPr>
            </a:pPr>
            <a:r>
              <a:rPr sz="1875" b="0">
                <a:solidFill>
                  <a:srgbClr val="CCE5DD"/>
                </a:solidFill>
                <a:latin typeface="Arial"/>
                <a:ea typeface="Arial"/>
                <a:cs typeface="Arial"/>
              </a:rPr>
              <a:t>Dữ liệu AI còn tổng hợp</a:t>
            </a:r>
          </a:p>
          <a:p xmlns:a="http://schemas.openxmlformats.org/drawingml/2006/main">
            <a:pPr algn="l">
              <a:defRPr sz="1875" b="0">
                <a:solidFill>
                  <a:srgbClr val="CCE5DD"/>
                </a:solidFill>
                <a:latin typeface="Arial"/>
                <a:ea typeface="Arial"/>
                <a:cs typeface="Arial"/>
              </a:defRPr>
            </a:pPr>
            <a:r>
              <a:rPr sz="1875" b="0">
                <a:solidFill>
                  <a:srgbClr val="CCE5DD"/>
                </a:solidFill>
                <a:latin typeface="Arial"/>
                <a:ea typeface="Arial"/>
                <a:cs typeface="Arial"/>
              </a:rPr>
              <a:t>LLM chưa fine-tune</a:t>
            </a:r>
          </a:p>
        </p:txBody>
      </p:sp>
      <p:sp>
        <p:nvSpPr>
          <p:cNvPr id="10" name="text-138">
            <a:extLst xmlns:a="http://schemas.openxmlformats.org/drawingml/2006/main">
              <a:ext uri="{FF2B5EF4-FFF2-40B4-BE49-F238E27FC236}">
                <a16:creationId xmlns:a16="http://schemas.microsoft.com/office/drawing/2014/main" id="{C4E98A23-C67E-4F8D-ADD9-19D9DB73C7A5}"/>
              </a:ext>
            </a:extLst>
          </p:cNvPr>
          <p:cNvSpPr>
            <a:spLocks xmlns:a="http://schemas.openxmlformats.org/drawingml/2006/main" noGrp="1"/>
          </p:cNvSpPr>
          <p:nvPr/>
        </p:nvSpPr>
        <p:spPr>
          <a:xfrm xmlns:a="http://schemas.openxmlformats.org/drawingml/2006/main">
            <a:off x="6238875" y="49339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52D5A1"/>
                </a:solidFill>
                <a:latin typeface="Arial"/>
                <a:ea typeface="Arial"/>
                <a:cs typeface="Arial"/>
              </a:defRPr>
            </a:defPPr>
          </a:lstStyle>
          <a:p xmlns:a="http://schemas.openxmlformats.org/drawingml/2006/main">
            <a:pPr algn="l">
              <a:defRPr sz="2025" b="1">
                <a:solidFill>
                  <a:srgbClr val="52D5A1"/>
                </a:solidFill>
                <a:latin typeface="Arial"/>
                <a:ea typeface="Arial"/>
                <a:cs typeface="Arial"/>
              </a:defRPr>
            </a:pPr>
            <a:r>
              <a:rPr sz="2025" b="1">
                <a:solidFill>
                  <a:srgbClr val="52D5A1"/>
                </a:solidFill>
                <a:latin typeface="Arial"/>
                <a:ea typeface="Arial"/>
                <a:cs typeface="Arial"/>
              </a:rPr>
              <a:t>Tiếp theo</a:t>
            </a:r>
          </a:p>
        </p:txBody>
      </p:sp>
      <p:sp>
        <p:nvSpPr>
          <p:cNvPr id="11" name="text-139">
            <a:extLst xmlns:a="http://schemas.openxmlformats.org/drawingml/2006/main">
              <a:ext uri="{FF2B5EF4-FFF2-40B4-BE49-F238E27FC236}">
                <a16:creationId xmlns:a16="http://schemas.microsoft.com/office/drawing/2014/main" id="{9571F19F-0071-497B-B289-6D283F551C0B}"/>
              </a:ext>
            </a:extLst>
          </p:cNvPr>
          <p:cNvSpPr>
            <a:spLocks xmlns:a="http://schemas.openxmlformats.org/drawingml/2006/main" noGrp="1"/>
          </p:cNvSpPr>
          <p:nvPr/>
        </p:nvSpPr>
        <p:spPr>
          <a:xfrm xmlns:a="http://schemas.openxmlformats.org/drawingml/2006/main">
            <a:off x="6238875" y="5410200"/>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CE5DD"/>
                </a:solidFill>
                <a:latin typeface="Arial"/>
                <a:ea typeface="Arial"/>
                <a:cs typeface="Arial"/>
              </a:defRPr>
            </a:defPPr>
          </a:lstStyle>
          <a:p xmlns:a="http://schemas.openxmlformats.org/drawingml/2006/main">
            <a:pPr algn="l">
              <a:defRPr sz="1800" b="0">
                <a:solidFill>
                  <a:srgbClr val="CCE5DD"/>
                </a:solidFill>
                <a:latin typeface="Arial"/>
                <a:ea typeface="Arial"/>
                <a:cs typeface="Arial"/>
              </a:defRPr>
            </a:pPr>
            <a:r>
              <a:rPr sz="1800" b="0">
                <a:solidFill>
                  <a:srgbClr val="CCE5DD"/>
                </a:solidFill>
                <a:latin typeface="Arial"/>
                <a:ea typeface="Arial"/>
                <a:cs typeface="Arial"/>
              </a:rPr>
              <a:t>Mở rộng dữ liệu tiếng Việt</a:t>
            </a:r>
          </a:p>
          <a:p xmlns:a="http://schemas.openxmlformats.org/drawingml/2006/main">
            <a:pPr algn="l">
              <a:defRPr sz="1800" b="0">
                <a:solidFill>
                  <a:srgbClr val="CCE5DD"/>
                </a:solidFill>
                <a:latin typeface="Arial"/>
                <a:ea typeface="Arial"/>
                <a:cs typeface="Arial"/>
              </a:defRPr>
            </a:pPr>
            <a:r>
              <a:rPr sz="1800" b="0">
                <a:solidFill>
                  <a:srgbClr val="CCE5DD"/>
                </a:solidFill>
                <a:latin typeface="Arial"/>
                <a:ea typeface="Arial"/>
                <a:cs typeface="Arial"/>
              </a:rPr>
              <a:t>Đánh giá chất lượng tư vấn</a:t>
            </a:r>
          </a:p>
        </p:txBody>
      </p:sp>
      <p:pic>
        <p:nvPicPr>
          <p:cNvPr id="12" name="">
            <a:extLst xmlns:a="http://schemas.openxmlformats.org/drawingml/2006/main">
              <a:ext uri="{FF2B5EF4-FFF2-40B4-BE49-F238E27FC236}">
                <a16:creationId xmlns:a16="http://schemas.microsoft.com/office/drawing/2014/main" id="{E237818F-BB59-4260-8C7F-4F027D97019A}"/>
              </a:ext>
            </a:extLst>
          </p:cNvPr>
          <p:cNvPicPr>
            <a:picLocks xmlns:a="http://schemas.openxmlformats.org/drawingml/2006/main" noChangeAspect="1"/>
          </p:cNvPicPr>
          <p:nvPr/>
        </p:nvPicPr>
        <p:blipFill>
          <a:blip xmlns:r="http://schemas.openxmlformats.org/officeDocument/2006/relationships" xmlns:a="http://schemas.openxmlformats.org/drawingml/2006/main" r:embed="Ra0f42fbc778b4554"/>
          <a:srcRect xmlns:a="http://schemas.openxmlformats.org/drawingml/2006/main" l="0" t="0" r="0" b="4000"/>
          <a:stretch xmlns:a="http://schemas.openxmlformats.org/drawingml/2006/main"/>
        </p:blipFill>
        <p:spPr>
          <a:xfrm xmlns:a="http://schemas.openxmlformats.org/drawingml/2006/main">
            <a:off x="9906000" y="1524000"/>
            <a:ext cx="1676400" cy="4676775"/>
          </a:xfrm>
          <a:prstGeom xmlns:a="http://schemas.openxmlformats.org/drawingml/2006/main" prst="rect">
            <a:avLst/>
          </a:prstGeom>
        </p:spPr>
      </p:pic>
    </p:spTree>
    <p:extLst>
      <p:ext uri="{BB962C8B-B14F-4D97-AF65-F5344CB8AC3E}">
        <p14:creationId xmlns:p14="http://schemas.microsoft.com/office/powerpoint/2010/main" val="824278313"/>
      </p:ext>
    </p:extLst>
  </p:cSld>
</p:sld>
</file>

<file path=ppt/slides/slide17.xml><?xml version="1.0" encoding="utf-8"?>
<p:sld xmlns:p="http://schemas.openxmlformats.org/presentationml/2006/main">
  <p:cSld>
    <p:bg>
      <p:bgPr>
        <a:solidFill xmlns:a="http://schemas.openxmlformats.org/drawingml/2006/main">
          <a:srgbClr val="072E37"/>
        </a:solidFill>
      </p:bgPr>
    </p:bg>
    <p:spTree>
      <p:nvGrpSpPr>
        <p:cNvPr id="1" name=""/>
        <p:cNvGrpSpPr/>
        <p:nvPr/>
      </p:nvGrpSpPr>
      <p:grpSpPr>
        <a:xfrm xmlns:a="http://schemas.openxmlformats.org/drawingml/2006/main"/>
      </p:grpSpPr>
      <p:sp>
        <p:nvSpPr>
          <p:cNvPr id="6" name="text-140">
            <a:extLst xmlns:a="http://schemas.openxmlformats.org/drawingml/2006/main">
              <a:ext uri="{FF2B5EF4-FFF2-40B4-BE49-F238E27FC236}">
                <a16:creationId xmlns:a16="http://schemas.microsoft.com/office/drawing/2014/main" id="{9CBE05AE-E456-49D4-9512-0878334C0B70}"/>
              </a:ext>
            </a:extLst>
          </p:cNvPr>
          <p:cNvSpPr>
            <a:spLocks xmlns:a="http://schemas.openxmlformats.org/drawingml/2006/main" noGrp="1"/>
          </p:cNvSpPr>
          <p:nvPr/>
        </p:nvSpPr>
        <p:spPr>
          <a:xfrm xmlns:a="http://schemas.openxmlformats.org/drawingml/2006/main">
            <a:off x="609600" y="63817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FE7DA"/>
                </a:solidFill>
                <a:latin typeface="Arial"/>
                <a:ea typeface="Arial"/>
                <a:cs typeface="Arial"/>
              </a:defRPr>
            </a:defPPr>
          </a:lstStyle>
          <a:p xmlns:a="http://schemas.openxmlformats.org/drawingml/2006/main">
            <a:pPr algn="l">
              <a:defRPr sz="1500" b="0">
                <a:solidFill>
                  <a:srgbClr val="BFE7DA"/>
                </a:solidFill>
                <a:latin typeface="Arial"/>
                <a:ea typeface="Arial"/>
                <a:cs typeface="Arial"/>
              </a:defRPr>
            </a:pPr>
            <a:r>
              <a:rPr sz="1500" b="0">
                <a:solidFill>
                  <a:srgbClr val="BFE7DA"/>
                </a:solidFill>
                <a:latin typeface="Arial"/>
                <a:ea typeface="Arial"/>
                <a:cs typeface="Arial"/>
              </a:rPr>
              <a:t>Nhóm thực hiện FinSight AI</a:t>
            </a:r>
          </a:p>
        </p:txBody>
      </p:sp>
      <p:sp>
        <p:nvSpPr>
          <p:cNvPr id="2" name="text-141">
            <a:extLst xmlns:a="http://schemas.openxmlformats.org/drawingml/2006/main">
              <a:ext uri="{FF2B5EF4-FFF2-40B4-BE49-F238E27FC236}">
                <a16:creationId xmlns:a16="http://schemas.microsoft.com/office/drawing/2014/main" id="{1070EC38-B18A-48C4-B7FB-0D918DF33301}"/>
              </a:ext>
            </a:extLst>
          </p:cNvPr>
          <p:cNvSpPr>
            <a:spLocks xmlns:a="http://schemas.openxmlformats.org/drawingml/2006/main" noGrp="1"/>
          </p:cNvSpPr>
          <p:nvPr/>
        </p:nvSpPr>
        <p:spPr>
          <a:xfrm xmlns:a="http://schemas.openxmlformats.org/drawingml/2006/main">
            <a:off x="10429875" y="6381750"/>
            <a:ext cx="1152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FE7DA"/>
                </a:solidFill>
                <a:latin typeface="Arial"/>
                <a:ea typeface="Arial"/>
                <a:cs typeface="Arial"/>
              </a:defRPr>
            </a:defPPr>
          </a:lstStyle>
          <a:p xmlns:a="http://schemas.openxmlformats.org/drawingml/2006/main">
            <a:pPr algn="r">
              <a:defRPr sz="1500" b="0">
                <a:solidFill>
                  <a:srgbClr val="BFE7DA"/>
                </a:solidFill>
                <a:latin typeface="Arial"/>
                <a:ea typeface="Arial"/>
                <a:cs typeface="Arial"/>
              </a:defRPr>
            </a:pPr>
            <a:r>
              <a:rPr sz="1500" b="0">
                <a:solidFill>
                  <a:srgbClr val="BFE7DA"/>
                </a:solidFill>
                <a:latin typeface="Arial"/>
                <a:ea typeface="Arial"/>
                <a:cs typeface="Arial"/>
              </a:rPr>
              <a:t>17 / 17</a:t>
            </a:r>
          </a:p>
        </p:txBody>
      </p:sp>
      <p:sp>
        <p:nvSpPr>
          <p:cNvPr id="3" name="text-142">
            <a:extLst xmlns:a="http://schemas.openxmlformats.org/drawingml/2006/main">
              <a:ext uri="{FF2B5EF4-FFF2-40B4-BE49-F238E27FC236}">
                <a16:creationId xmlns:a16="http://schemas.microsoft.com/office/drawing/2014/main" id="{7251B32C-62A0-42FF-9659-5C15E5C21476}"/>
              </a:ext>
            </a:extLst>
          </p:cNvPr>
          <p:cNvSpPr>
            <a:spLocks xmlns:a="http://schemas.openxmlformats.org/drawingml/2006/main" noGrp="1"/>
          </p:cNvSpPr>
          <p:nvPr/>
        </p:nvSpPr>
        <p:spPr>
          <a:xfrm xmlns:a="http://schemas.openxmlformats.org/drawingml/2006/main">
            <a:off x="1219200" y="1619250"/>
            <a:ext cx="975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1">
                <a:solidFill>
                  <a:srgbClr val="52D5A1"/>
                </a:solidFill>
                <a:latin typeface="Arial"/>
                <a:ea typeface="Arial"/>
                <a:cs typeface="Arial"/>
              </a:defRPr>
            </a:defPPr>
          </a:lstStyle>
          <a:p xmlns:a="http://schemas.openxmlformats.org/drawingml/2006/main">
            <a:pPr algn="ctr">
              <a:defRPr sz="2475" b="1">
                <a:solidFill>
                  <a:srgbClr val="52D5A1"/>
                </a:solidFill>
                <a:latin typeface="Arial"/>
                <a:ea typeface="Arial"/>
                <a:cs typeface="Arial"/>
              </a:defRPr>
            </a:pPr>
            <a:r>
              <a:rPr sz="2475" b="1">
                <a:solidFill>
                  <a:srgbClr val="52D5A1"/>
                </a:solidFill>
                <a:latin typeface="Arial"/>
                <a:ea typeface="Arial"/>
                <a:cs typeface="Arial"/>
              </a:rPr>
              <a:t>FinSight AI</a:t>
            </a:r>
          </a:p>
        </p:txBody>
      </p:sp>
      <p:sp>
        <p:nvSpPr>
          <p:cNvPr id="4" name="text-143">
            <a:extLst xmlns:a="http://schemas.openxmlformats.org/drawingml/2006/main">
              <a:ext uri="{FF2B5EF4-FFF2-40B4-BE49-F238E27FC236}">
                <a16:creationId xmlns:a16="http://schemas.microsoft.com/office/drawing/2014/main" id="{D10E2C54-C245-478D-8FD4-CCC8F7FF2597}"/>
              </a:ext>
            </a:extLst>
          </p:cNvPr>
          <p:cNvSpPr>
            <a:spLocks xmlns:a="http://schemas.openxmlformats.org/drawingml/2006/main" noGrp="1"/>
          </p:cNvSpPr>
          <p:nvPr/>
        </p:nvSpPr>
        <p:spPr>
          <a:xfrm xmlns:a="http://schemas.openxmlformats.org/drawingml/2006/main">
            <a:off x="1219200" y="2733675"/>
            <a:ext cx="97536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650" b="1">
                <a:solidFill>
                  <a:srgbClr val="FFFFFF"/>
                </a:solidFill>
                <a:latin typeface="Arial"/>
                <a:ea typeface="Arial"/>
                <a:cs typeface="Arial"/>
              </a:defRPr>
            </a:defPPr>
          </a:lstStyle>
          <a:p xmlns:a="http://schemas.openxmlformats.org/drawingml/2006/main">
            <a:pPr algn="ctr">
              <a:defRPr sz="4650" b="1">
                <a:solidFill>
                  <a:srgbClr val="FFFFFF"/>
                </a:solidFill>
                <a:latin typeface="Arial"/>
                <a:ea typeface="Arial"/>
                <a:cs typeface="Arial"/>
              </a:defRPr>
            </a:pPr>
            <a:r>
              <a:rPr sz="4650" b="1">
                <a:solidFill>
                  <a:srgbClr val="FFFFFF"/>
                </a:solidFill>
                <a:latin typeface="Arial"/>
                <a:ea typeface="Arial"/>
                <a:cs typeface="Arial"/>
              </a:rPr>
              <a:t>Cảm ơn thầy cô</a:t>
            </a:r>
          </a:p>
          <a:p xmlns:a="http://schemas.openxmlformats.org/drawingml/2006/main">
            <a:pPr algn="ctr">
              <a:defRPr sz="4650" b="1">
                <a:solidFill>
                  <a:srgbClr val="FFFFFF"/>
                </a:solidFill>
                <a:latin typeface="Arial"/>
                <a:ea typeface="Arial"/>
                <a:cs typeface="Arial"/>
              </a:defRPr>
            </a:pPr>
            <a:r>
              <a:rPr sz="4650" b="1">
                <a:solidFill>
                  <a:srgbClr val="FFFFFF"/>
                </a:solidFill>
                <a:latin typeface="Arial"/>
                <a:ea typeface="Arial"/>
                <a:cs typeface="Arial"/>
              </a:rPr>
              <a:t>và các bạn đã lắng nghe</a:t>
            </a:r>
          </a:p>
        </p:txBody>
      </p:sp>
      <p:sp>
        <p:nvSpPr>
          <p:cNvPr id="5" name="text-144">
            <a:extLst xmlns:a="http://schemas.openxmlformats.org/drawingml/2006/main">
              <a:ext uri="{FF2B5EF4-FFF2-40B4-BE49-F238E27FC236}">
                <a16:creationId xmlns:a16="http://schemas.microsoft.com/office/drawing/2014/main" id="{3FA75810-4C7C-4F28-AAA7-249BE85FE20C}"/>
              </a:ext>
            </a:extLst>
          </p:cNvPr>
          <p:cNvSpPr>
            <a:spLocks xmlns:a="http://schemas.openxmlformats.org/drawingml/2006/main" noGrp="1"/>
          </p:cNvSpPr>
          <p:nvPr/>
        </p:nvSpPr>
        <p:spPr>
          <a:xfrm xmlns:a="http://schemas.openxmlformats.org/drawingml/2006/main">
            <a:off x="1219200" y="4962525"/>
            <a:ext cx="975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CCE5DD"/>
                </a:solidFill>
                <a:latin typeface="Arial"/>
                <a:ea typeface="Arial"/>
                <a:cs typeface="Arial"/>
              </a:defRPr>
            </a:defPPr>
          </a:lstStyle>
          <a:p xmlns:a="http://schemas.openxmlformats.org/drawingml/2006/main">
            <a:pPr algn="ctr">
              <a:defRPr sz="2175" b="0">
                <a:solidFill>
                  <a:srgbClr val="CCE5DD"/>
                </a:solidFill>
                <a:latin typeface="Arial"/>
                <a:ea typeface="Arial"/>
                <a:cs typeface="Arial"/>
              </a:defRPr>
            </a:pPr>
            <a:r>
              <a:rPr sz="2175" b="0">
                <a:solidFill>
                  <a:srgbClr val="CCE5DD"/>
                </a:solidFill>
                <a:latin typeface="Arial"/>
                <a:ea typeface="Arial"/>
                <a:cs typeface="Arial"/>
              </a:rPr>
              <a:t>Nhóm xin nhận câu hỏi và góp ý</a:t>
            </a:r>
          </a:p>
        </p:txBody>
      </p:sp>
    </p:spTree>
    <p:extLst>
      <p:ext uri="{BB962C8B-B14F-4D97-AF65-F5344CB8AC3E}">
        <p14:creationId xmlns:p14="http://schemas.microsoft.com/office/powerpoint/2010/main" val="2378180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2026-10-13T09:40:54.0870000Z</dcterms:created>
  <dcterms:modified xsi:type="dcterms:W3CDTF">2026-10-13T09:40:54.0870000Z</dcterms:modified>
</coreProperties>
</file>