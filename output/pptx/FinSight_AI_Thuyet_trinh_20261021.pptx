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50b0efd26a4b5c" /><Relationship Type="http://schemas.openxmlformats.org/officeDocument/2006/relationships/extended-properties" Target="/docProps/app.xml" Id="R280352be3e1044ee" /><Relationship Type="http://schemas.openxmlformats.org/officeDocument/2006/relationships/officeDocument" Target="/ppt/presentation.xml" Id="Rfb4da6a21626428e" /></Relationships>
</file>

<file path=ppt/presentation.xml><?xml version="1.0" encoding="utf-8"?>
<p:presentation xmlns:p="http://schemas.openxmlformats.org/presentationml/2006/main">
  <p:sldMasterIdLst>
    <p:sldMasterId xmlns:r="http://schemas.openxmlformats.org/officeDocument/2006/relationships" id="2147483648" r:id="Rf86304d797be4da7"/>
  </p:sldMasterIdLst>
  <p:notesMasterIdLst>
    <p:notesMasterId xmlns:r="http://schemas.openxmlformats.org/officeDocument/2006/relationships" r:id="R51e82a94706e4e9e"/>
  </p:notesMasterIdLst>
  <p:sldIdLst>
    <p:sldId xmlns:r="http://schemas.openxmlformats.org/officeDocument/2006/relationships" id="256" r:id="R152f3cd1fb2642bb"/>
    <p:sldId xmlns:r="http://schemas.openxmlformats.org/officeDocument/2006/relationships" id="257" r:id="R80cfb66f0ed648fb"/>
    <p:sldId xmlns:r="http://schemas.openxmlformats.org/officeDocument/2006/relationships" id="258" r:id="R486ed1335e914642"/>
    <p:sldId xmlns:r="http://schemas.openxmlformats.org/officeDocument/2006/relationships" id="259" r:id="R4b21954e72e140dc"/>
    <p:sldId xmlns:r="http://schemas.openxmlformats.org/officeDocument/2006/relationships" id="260" r:id="Rb4dd1afa81094ac3"/>
    <p:sldId xmlns:r="http://schemas.openxmlformats.org/officeDocument/2006/relationships" id="261" r:id="Rfa49cbfc5cbf4e1e"/>
    <p:sldId xmlns:r="http://schemas.openxmlformats.org/officeDocument/2006/relationships" id="262" r:id="Reac797d7ba3940aa"/>
    <p:sldId xmlns:r="http://schemas.openxmlformats.org/officeDocument/2006/relationships" id="263" r:id="R46b51edb4852456b"/>
    <p:sldId xmlns:r="http://schemas.openxmlformats.org/officeDocument/2006/relationships" id="264" r:id="R7d34efa03e8a42fb"/>
    <p:sldId xmlns:r="http://schemas.openxmlformats.org/officeDocument/2006/relationships" id="265" r:id="R727758d4cb7b4073"/>
    <p:sldId xmlns:r="http://schemas.openxmlformats.org/officeDocument/2006/relationships" id="266" r:id="Re331ff6526bf4ed8"/>
    <p:sldId xmlns:r="http://schemas.openxmlformats.org/officeDocument/2006/relationships" id="267" r:id="R0968c39632da48bf"/>
    <p:sldId xmlns:r="http://schemas.openxmlformats.org/officeDocument/2006/relationships" id="268" r:id="R77dec4d5839a4155"/>
    <p:sldId xmlns:r="http://schemas.openxmlformats.org/officeDocument/2006/relationships" id="269" r:id="R312ba35d78284e91"/>
    <p:sldId xmlns:r="http://schemas.openxmlformats.org/officeDocument/2006/relationships" id="270" r:id="R6d960c147d78486e"/>
    <p:sldId xmlns:r="http://schemas.openxmlformats.org/officeDocument/2006/relationships" id="271" r:id="Ra4437d2fdac94982"/>
    <p:sldId xmlns:r="http://schemas.openxmlformats.org/officeDocument/2006/relationships" id="272" r:id="R6caa4a00b5f54f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8f1605e7f44d94" /><Relationship Type="http://schemas.openxmlformats.org/officeDocument/2006/relationships/slideMaster" Target="/ppt/slideMasters/slideMaster1.xml" Id="Rf86304d797be4da7" /><Relationship Type="http://schemas.openxmlformats.org/officeDocument/2006/relationships/notesMaster" Target="/ppt/notesMasters/notesMaster1.xml" Id="R51e82a94706e4e9e" /><Relationship Type="http://schemas.openxmlformats.org/officeDocument/2006/relationships/presProps" Target="/ppt/presProps.xml" Id="R75d501f907f74236" /><Relationship Type="http://schemas.openxmlformats.org/officeDocument/2006/relationships/tableStyles" Target="/ppt/tableStyles.xml" Id="R37ac9878fa1c4e06" /><Relationship Type="http://schemas.openxmlformats.org/officeDocument/2006/relationships/slide" Target="/ppt/slides/slide1.xml" Id="R152f3cd1fb2642bb" /><Relationship Type="http://schemas.openxmlformats.org/officeDocument/2006/relationships/slide" Target="/ppt/slides/slide2.xml" Id="R80cfb66f0ed648fb" /><Relationship Type="http://schemas.openxmlformats.org/officeDocument/2006/relationships/slide" Target="/ppt/slides/slide3.xml" Id="R486ed1335e914642" /><Relationship Type="http://schemas.openxmlformats.org/officeDocument/2006/relationships/slide" Target="/ppt/slides/slide4.xml" Id="R4b21954e72e140dc" /><Relationship Type="http://schemas.openxmlformats.org/officeDocument/2006/relationships/slide" Target="/ppt/slides/slide5.xml" Id="Rb4dd1afa81094ac3" /><Relationship Type="http://schemas.openxmlformats.org/officeDocument/2006/relationships/slide" Target="/ppt/slides/slide6.xml" Id="Rfa49cbfc5cbf4e1e" /><Relationship Type="http://schemas.openxmlformats.org/officeDocument/2006/relationships/slide" Target="/ppt/slides/slide7.xml" Id="Reac797d7ba3940aa" /><Relationship Type="http://schemas.openxmlformats.org/officeDocument/2006/relationships/slide" Target="/ppt/slides/slide8.xml" Id="R46b51edb4852456b" /><Relationship Type="http://schemas.openxmlformats.org/officeDocument/2006/relationships/slide" Target="/ppt/slides/slide9.xml" Id="R7d34efa03e8a42fb" /><Relationship Type="http://schemas.openxmlformats.org/officeDocument/2006/relationships/slide" Target="/ppt/slides/slide10.xml" Id="R727758d4cb7b4073" /><Relationship Type="http://schemas.openxmlformats.org/officeDocument/2006/relationships/slide" Target="/ppt/slides/slide11.xml" Id="Re331ff6526bf4ed8" /><Relationship Type="http://schemas.openxmlformats.org/officeDocument/2006/relationships/slide" Target="/ppt/slides/slide12.xml" Id="R0968c39632da48bf" /><Relationship Type="http://schemas.openxmlformats.org/officeDocument/2006/relationships/slide" Target="/ppt/slides/slide13.xml" Id="R77dec4d5839a4155" /><Relationship Type="http://schemas.openxmlformats.org/officeDocument/2006/relationships/slide" Target="/ppt/slides/slide14.xml" Id="R312ba35d78284e91" /><Relationship Type="http://schemas.openxmlformats.org/officeDocument/2006/relationships/slide" Target="/ppt/slides/slide15.xml" Id="R6d960c147d78486e" /><Relationship Type="http://schemas.openxmlformats.org/officeDocument/2006/relationships/slide" Target="/ppt/slides/slide16.xml" Id="Ra4437d2fdac94982" /><Relationship Type="http://schemas.openxmlformats.org/officeDocument/2006/relationships/slide" Target="/ppt/slides/slide17.xml" Id="R6caa4a00b5f54f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0c5214eeb94b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dd2a1bfe684104" /><Relationship Type="http://schemas.openxmlformats.org/officeDocument/2006/relationships/notesMaster" Target="/ppt/notesMasters/notesMaster1.xml" Id="Rd6990f7fc4334a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398b99bc0e45d1" /><Relationship Type="http://schemas.openxmlformats.org/officeDocument/2006/relationships/notesMaster" Target="/ppt/notesMasters/notesMaster1.xml" Id="R9e74dc8ff2ab4c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eabf8446f24363" /><Relationship Type="http://schemas.openxmlformats.org/officeDocument/2006/relationships/notesMaster" Target="/ppt/notesMasters/notesMaster1.xml" Id="Ra0f13b9b0ab746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a86f58dd5545ad" /><Relationship Type="http://schemas.openxmlformats.org/officeDocument/2006/relationships/notesMaster" Target="/ppt/notesMasters/notesMaster1.xml" Id="R08d5ae6ee7414d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b3e7bce4a14a57" /><Relationship Type="http://schemas.openxmlformats.org/officeDocument/2006/relationships/notesMaster" Target="/ppt/notesMasters/notesMaster1.xml" Id="R0e9d566c7b0a44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51cbfa00dc4162" /><Relationship Type="http://schemas.openxmlformats.org/officeDocument/2006/relationships/notesMaster" Target="/ppt/notesMasters/notesMaster1.xml" Id="Reb0f39f4795844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1c33e805be4b52" /><Relationship Type="http://schemas.openxmlformats.org/officeDocument/2006/relationships/notesMaster" Target="/ppt/notesMasters/notesMaster1.xml" Id="R339814559a0e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c92b489501452e" /><Relationship Type="http://schemas.openxmlformats.org/officeDocument/2006/relationships/notesMaster" Target="/ppt/notesMasters/notesMaster1.xml" Id="R8331575bef6949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d2028fdd914911" /><Relationship Type="http://schemas.openxmlformats.org/officeDocument/2006/relationships/notesMaster" Target="/ppt/notesMasters/notesMaster1.xml" Id="R364e12adcc9944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2da9a1c74840c5" /><Relationship Type="http://schemas.openxmlformats.org/officeDocument/2006/relationships/notesMaster" Target="/ppt/notesMasters/notesMaster1.xml" Id="R520eb015769c4b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8f245a84b14398" /><Relationship Type="http://schemas.openxmlformats.org/officeDocument/2006/relationships/notesMaster" Target="/ppt/notesMasters/notesMaster1.xml" Id="Rfaffaf7ec02049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ccfd5b060c42be" /><Relationship Type="http://schemas.openxmlformats.org/officeDocument/2006/relationships/notesMaster" Target="/ppt/notesMasters/notesMaster1.xml" Id="R4a8724f7fa8440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c599165c7e459e" /><Relationship Type="http://schemas.openxmlformats.org/officeDocument/2006/relationships/notesMaster" Target="/ppt/notesMasters/notesMaster1.xml" Id="R748bc51c4ccb41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0aa69b96c24b13" /><Relationship Type="http://schemas.openxmlformats.org/officeDocument/2006/relationships/notesMaster" Target="/ppt/notesMasters/notesMaster1.xml" Id="Rc8835c7dc4194b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9a626967a048c0" /><Relationship Type="http://schemas.openxmlformats.org/officeDocument/2006/relationships/notesMaster" Target="/ppt/notesMasters/notesMaster1.xml" Id="Re53d77c99b9f4a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b77fecad1a450f" /><Relationship Type="http://schemas.openxmlformats.org/officeDocument/2006/relationships/notesMaster" Target="/ppt/notesMasters/notesMaster1.xml" Id="Rf0ec9b26fb0043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6a3b312258541ac" /><Relationship Type="http://schemas.openxmlformats.org/officeDocument/2006/relationships/notesMaster" Target="/ppt/notesMasters/notesMaster1.xml" Id="R62d968c048394b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và các bạn. Nhóm em xin trình bày đề tài FinSight AI, hệ thống quản lý tài chính cá nhân tích hợp dự báo chi tiêu và phát hiện giao dịch bất thường. Điểm nhóm muốn hướng tới là hỗ trợ các quyết định thường ngày: tháng này còn bao nhiêu tiền, sắp có khoản nào đến hạn và nên điều chỉnh chi tiêu ra sao. Ứng dụng kết hợp quản lý thu chi, các mô hình học máy và chatbot chạy cục bộ. Trước tiên, em xin giới thiệu các thành viên thực hiện.</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a:p xmlns:a="http://schemas.openxmlformats.org/drawingml/2006/main">
            <a:r>
              <a:t>NGUỒN HÌNH</a:t>
            </a:r>
          </a:p>
          <a:p xmlns:a="http://schemas.openxmlformats.org/drawingml/2006/main">
            <a:r>
              <a:t>docs/test-results/advisor/desktop-dark.png. Ảnh ghi nhận trong đợt kiểm chứng 14/10/2026.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gồm năm thành viên thuộc lớp 24GITE và được hướng dẫn bởi ThS. Nguyễn Đỗ Công Pháp. Em là Lê Như Đỉnh, trình bày bài toán và trải nghiệm sử dụng. Bạn Nguyễn Đức Trí giới thiệu kiến trúc và quản lý dữ liệu. Bạn Trần Minh Nhật trình bày huấn luyện, dự báo và lập kế hoạch. Bạn Lý Tú Nguyên giải thích cảnh báo bất thường và phân loại giao dịch. Cuối cùng, bạn Nguyễn Tùng Lâm trình bày chatbot cùng kết quả kiểm chứng. Sau đây, em bắt đầu từ nhu cầu thực tế.</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quản lý tiền cá nhân, chỉ biết tổng chi của tháng trước vẫn chưa đủ để quyết định hôm nay nên chi bao nhiêu. Người dùng còn cần biết hóa đơn nào sắp đến hạn, ngân sách nào gần hết và mục tiêu tiết kiệm có đang phù hợp. FinSight tổ chức các thông tin này trên cùng một ứng dụng. Dashboard giúp xem nhanh tình hình hiện tại, còn Trợ lý tài chính giúp cân nhắc những ngày sắp tới. Người dùng vẫn là người xác nhận giao dịch và quyết định kế hoạch. Slide tiếp theo minh họa luồng sử dụng.</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Ảnh Dashboard với dữ liệu demo</a:t>
            </a:r>
          </a:p>
          <a:p xmlns:a="http://schemas.openxmlformats.org/drawingml/2006/main">
            <a:r>
              <a:t>NGUỒN HÌNH</a:t>
            </a:r>
          </a:p>
          <a:p xmlns:a="http://schemas.openxmlformats.org/drawingml/2006/main">
            <a:r>
              <a:t>docs/test-results/dashboard-1440.png, ảnh kiểm thử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bắt đầu bằng tạo ví và ghi nhận thu chi. Người dùng có thể khai báo lịch lương, tiền thuê nhà hoặc các khoản đến hạn. Tại trang Trợ lý tài chính, họ chọn kỳ bảy, mười bốn hoặc ba mươi ngày để xem số dư dự kiến. Tiếp theo, họ thử giảm chi biến đổi, thêm thu nhập giả định hoặc một khoản mua lớn. Nếu chưa đủ lịch sử cho mô hình, giao diện ghi rõ cách ước tính thay thế. Toàn bộ mô phỏng không sửa dữ liệu. Em xin chuyển sang Trí để trình bày kiến trúc.</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Advisor hỗ trợ kế hoạch 7, 14 hoặc 30 ngày. Ảnh dữ liệu demo.</a:t>
            </a:r>
          </a:p>
          <a:p xmlns:a="http://schemas.openxmlformats.org/drawingml/2006/main">
            <a:r>
              <a:t>NGUỒN HÌNH</a:t>
            </a:r>
          </a:p>
          <a:p xmlns:a="http://schemas.openxmlformats.org/drawingml/2006/main">
            <a:r>
              <a:t>docs/test-results/advisor/mobile-light.png; docs/AI_ADVISOR.md.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Ứng dụng chia thành ba khối chính. React chịu trách nhiệm giao diện. Spring Boot xử lý nghiệp vụ, kiểm tra phiên đăng nhập và xác định dữ liệu thuộc người dùng nào. MariaDB chạy qua XAMPP lưu tài khoản, ví và giao dịch. FastAPI cung cấp các mô hình tài chính và kết nối với engine Qwen3 chạy cục bộ. Giao diện không tự chọn tài khoản để gửi thẳng sang AI. Cách chia này giúp nhóm kiểm tra riêng nghiệp vụ và mô hình, đồng thời xác định thành phần cần xử lý khi có lỗi.</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a:p xmlns:a="http://schemas.openxmlformats.org/drawingml/2006/main">
            <a:r>
              <a:t>NGUỒN HÌNH</a:t>
            </a:r>
          </a:p>
          <a:p xmlns:a="http://schemas.openxmlformats.org/drawingml/2006/main">
            <a:r>
              <a:t>Minh họa kiến trúc từ ImageGen, prompt lưu trong assets-provenance.json. Luồng và nhãn đối chiếu docs/ARCHITECTURE.md cùng docs/AI_CHAT.md.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có thể hiểu là bản thiết kế của database, quy định những bảng nào tồn tại và liên kết ra sao. Ví dụ, mỗi giao dịch thuộc một ví, mỗi ví thuộc một tài khoản. Hệ thống dùng DECIMAL ở database và BigDecimal trong Java để tính số tiền, hạn chế sai số của số thực dấu phẩy động. Quyền sở hữu cũng là một phần của thiết kế dữ liệu: người dùng chỉ thao tác trên dữ liệu của mình. Vì vậy, tính đúng số tiền và đúng chủ tài khoản được kiểm tra cùng nhau.</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chuyển một trăm nghìn đồng, hệ thống cần trừ ở ví gửi và cộng ở ví nhận. Hai bước nằm trong cùng transaction: cùng thành công hoặc cùng được hoàn tác. Khi nhập CSV lỗi, hệ thống cũng tránh lưu dở một phần file. Với yêu cầu đồng thời, khóa bản ghi giúp hạn chế cập nhật đè lên nhau. Phiên đăng nhập và CSRF bổ sung kiểm tra cho thao tác ghi. Ca kiểm chứng hai file, mỗi file hai trăm dòng, đã tạo đủ bốn trăm giao dịch. Sau đây, Nhật trình bày phần huấn luyện và dự báo.</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Ca kiểm thử tổng hợp: hai file CSV, mỗi file 200 dòng</a:t>
            </a:r>
          </a:p>
          <a:p xmlns:a="http://schemas.openxmlformats.org/drawingml/2006/main">
            <a:r>
              <a:t>NGUỒN HÌNH</a:t>
            </a:r>
          </a:p>
          <a:p xmlns:a="http://schemas.openxmlformats.org/drawingml/2006/main">
            <a:r>
              <a:t>docs/test-results/xampp-csv-concurrency.json: expectedTransactions=400, actualTransactions=400; dữ liệu kiểm thử tổng hợp.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AI tài chính sử dụng dữ liệu tổng hợp cho hai mươi tài khoản trong một năm và ba trăm hai mươi mô tả giao dịch tiếng Việt. Với dữ liệu tài khoản, nhóm chia mười hai tài khoản để huấn luyện, bốn để chọn mô hình và bốn để kiểm tra. Dự báo còn tách theo thời gian nhằm hạn chế thông tin tương lai lọt vào quá trình học. Tập kiểm tra được dùng sau bước chọn mô hình. Đây là cách kiểm chứng trong phạm vi đồ án; dữ liệu tổng hợp chưa thay thế được đánh giá với người dùng thực.</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Mô tả tiếng Việt: 320 câu, chia 192 học, 64 chọn cấu hình, 64 kiểm tra</a:t>
            </a:r>
          </a:p>
          <a:p xmlns:a="http://schemas.openxmlformats.org/drawingml/2006/main">
            <a:r>
              <a:t>NGUỒN HÌNH</a:t>
            </a:r>
          </a:p>
          <a:p xmlns:a="http://schemas.openxmlformats.org/drawingml/2006/main">
            <a:r>
              <a:t>Dữ liệu và cách chia theo docs/AI_MODEL_REPORT.md. Bảng nguồn mới giữ đầy đủ các nhóm12/4/4 tài khoản.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thể hình dung Random Forest là nhiều cây cùng đưa ra dự đoán, sau đó kết hợp kết quả. Mô hình trong dự án có một trăm cây, độ sâu năm, sử dụng chi tiêu các ngày trước, trung bình gần đây và thông tin thời gian. Trong đánh giá dự báo ba mươi ngày, MAE khoảng một trăm bốn mươi sáu nghìn đồng mỗi ngày, thấp hơn hai phương án so sánh. MAE là độ lệch tuyệt đối trung bình theo ngày; không phải tỷ lệ chính xác và cũng không phải sai số tổng tháng. Dự báo được dùng làm đầu vào cho kế hoạch dòng tiền.</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MAE cho từng ngày trong bài dự báo 30 ngày. Dữ liệu test tổng hợp.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Trang Trợ lý tài chính đưa dự báo về một câu hỏi gần gũi hơn: những ngày tới còn đủ tiền không? Hệ thống kết hợp số dư hiện tại, khoản thu đã khai báo và chi dự phóng. Lịch thanh toán đã tính trong chi sẽ không được cộng thêm lần nữa. Khi thử giảm chi, hệ thống giữ nguyên nghĩa vụ đã khai báo và chỉ điều chỉnh phần chi biến đổi. Các mức ngân sách và tiết kiệm còn dùng phép tính theo dữ liệu, chưa phải mô hình ML riêng. Đây là cơ sở để người dùng cân nhắc kế hoạch. Em xin chuyển sang Nguyên.</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Ảnh dữ liệu demo. Mô phỏng và ngân sách sử dụng các phép tính theo quy tắc.</a:t>
            </a:r>
          </a:p>
          <a:p xmlns:a="http://schemas.openxmlformats.org/drawingml/2006/main">
            <a:r>
              <a:t>NGUỒN HÌNH</a:t>
            </a:r>
          </a:p>
          <a:p xmlns:a="http://schemas.openxmlformats.org/drawingml/2006/main">
            <a:r>
              <a:t>docs/test-results/advisor/desktop-light.png, dữ liệu QA tổng hợp ghi nhận 14/10/2026. docs/AI_ADVISOR.md giải thích công thức và giới hạn.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Isolation Forest dựa trên ý tưởng rằng điểm dữ liệu khác biệt thường được cô lập bằng ít phép chia hơn. Mô hình sử dụng hai trăm cây và các đặc trưng như số tiền, thời gian, danh mục cùng lịch sử trước giao dịch. Ví dụ, khoản chi lớn hơn nhiều mức thường ngày có thể được đánh dấu. Trên tập tổng hợp, precision đạt năm mươi phần trăm và recall khoảng sáu mươi phần trăm. Điều đó cũng nghĩa là còn báo nhầm và bỏ sót. Vì vậy, sản phẩm dùng cảnh báo để hỗ trợ kiểm tra, không tự gắn nhãn gian lận.</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Test tổng hợp: Precision 50,00%, Recall 60,42%. Cảnh báo cần người dùng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Chức năng này giúp giảm thao tác chọn danh mục. Đầu tiên, TF-IDF biểu diễn các từ và cặp từ trong mô tả thành số, thể hiện mức độ nổi bật của chúng. Sau đó, Logistic Regression học cách liên hệ các đặc trưng đó với tám nhóm chi tiêu. Ví dụ, mô tả mua cơm trưa có thể được gợi ý vào ăn uống. Mô hình học từ phần huấn luyện và được đánh giá trên câu kiểm tra riêng. Gợi ý chỉ hỗ trợ nhập liệu; ứng dụng để người dùng xác nhận, đặc biệt khi mô tả ngắn hoặc mơ hồ.</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Độ chính xác chung đạt tám mươi chín phẩy không sáu phần trăm trên sáu mươi bốn câu kiểm tra riêng. Tuy nhiên, mỗi nhóm chỉ có tám câu nên một lỗi đã làm tỷ lệ của nhóm thay đổi mười hai phẩy năm điểm phần trăm. Nhà ở và ăn uống đạt sáu trên tám câu, cho thấy vẫn còn nhầm lẫn. Nhóm giữ biểu đồ theo danh mục để nhìn rõ hạn chế này. Bước tiếp theo là bổ sung mô tả đa dạng, có sự cho phép của người dùng. Sau đây, Lâm trình bày chatbot và kết quả chung.</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64 câu test biên soạn, 8 câu mỗi nhóm. Một lỗi thay đổi 12,5 điểm phần trăm của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Chatbot dùng Qwen3 một phẩy bảy tỷ tham số chạy cục bộ, được tinh chỉnh bằng QLoRA trên bộ hội thoại giả lập. QLoRA chỉ huấn luyện một phần tham số bổ sung để phù hợp với tài nguyên máy. Tuy nhiên, mô hình tinh chỉnh đứng riêng vẫn có câu sai nội dung dù đúng cấu trúc. Vì vậy, bản phát hành kết hợp thêm tài liệu tham chiếu và kiểm tra số liệu. Khi hỏi về tài khoản, số tiền và kỳ báo cáo phải đến từ dữ liệu đúng quyền. Chatbot chỉ đọc để tư vấn, không tự thực hiện giao dịch.</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QLoRA hoàn tất theo báo cáo 14/10/2026. Bộ hội thoại giả lập nhỏ cần đánh giá thêm.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trên slide hỏi danh mục chi nhiều nhất trong tháng. Trong tài khoản demo, hệ thống trả lời ăn uống với số tiền hai trăm năm mươi nghìn đồng và kỳ dữ liệu tháng mười năm hai nghìn không trăm hai mươi sáu. Đây là dữ liệu kiểm thử, không phải số dư của người xem. Câu trả lời cho thấy số tiền cần có nguồn và đúng kỳ. Trong bản mới, người dùng còn có thể hỏi ngân sách nào đã vượt rồi mở Trợ lý tài chính để thử phương án điều chỉnh. Sau đây là kết quả kiểm chứng chung của nhóm.</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Ví dụ tài khoản kiểm thử, tháng 10/2026. Số liệu trong ảnh được giữ nguyên.</a:t>
            </a:r>
          </a:p>
          <a:p xmlns:a="http://schemas.openxmlformats.org/drawingml/2006/main">
            <a:r>
              <a:t>NGUỒN HÌNH</a:t>
            </a:r>
          </a:p>
          <a:p xmlns:a="http://schemas.openxmlformats.org/drawingml/2006/main">
            <a:r>
              <a:t>Ảnh docs/test-results/chat-desktop-dark.png từ kiểm thử UI cũ trong tháng10/2026. Dùng minh họa cách trình bày số liệu, không dùng làm benchmark QLoRA.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mốc kiểm chứng ngày mười bốn tháng mười, các suite ghi nhận chín mươi bảy ca Python, ba mươi chín ca backend và hai mươi ba ca frontend đạt. Nhóm cũng kiểm tra luồng Advisor qua API thật, giao diện nhiều kích thước và việc mô phỏng không thay đổi số dư. Những lượt chạy bổ sung trùng được giữ riêng, không cộng phóng đại số ca. Hạn chế còn lại là dữ liệu tổng hợp, corpus chatbot nhỏ và chưa có đánh giá độc lập với người dùng thực. Nhóm dự kiến mở rộng dữ liệu có sự cho phép và kiểm tra tải.</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Mốc ghi nhận: 14/10/2026. Một luồng Chrome Advisor được kiểm tra riêng.</a:t>
            </a:r>
          </a:p>
          <a:p xmlns:a="http://schemas.openxmlformats.org/drawingml/2006/main">
            <a:r>
              <a:t>NGUỒN HÌNH</a:t>
            </a:r>
          </a:p>
          <a:p xmlns:a="http://schemas.openxmlformats.org/drawingml/2006/main">
            <a:r>
              <a:t>docs/TEST_RESULTS.md mục14/10:39JUnit+23Vitest+97pytest=159. Lượt36Advisor bổ sung trùng được giữ riêng, không cộng vào159. Không chạy lại test ứng dụng ngày21/10.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trình bày của nhóm em đến đây là kết thúc. Qua đề tài, nhóm đã xây dựng luồng từ ghi nhận thu chi đến phân tích, dự phóng và thử kế hoạch. Các mô hình hỗ trợ người dùng nhìn thấy vấn đề sớm hơn, còn dữ liệu đúng quyền và phép tính nhất quán là nền tảng của hệ thống. Nhóm cũng giữ rõ giới hạn của dữ liệu tổng hợp và phạm vi kiểm chứng. Nhóm em xin cảm ơn thầy cô cùng các bạn đã lắng nghe. Chúng em sẵn sàng nhận câu hỏi và góp ý.</a:t>
            </a:r>
          </a:p>
          <a:p xmlns:a="http://schemas.openxmlformats.org/drawingml/2006/main">
            <a:r>
              <a:t/>
            </a:r>
          </a:p>
          <a:p xmlns:a="http://schemas.openxmlformats.org/drawingml/2006/main">
            <a:r>
              <a:t>NGUỒN</a:t>
            </a:r>
          </a:p>
          <a:p xmlns:a="http://schemas.openxmlformats.org/drawingml/2006/main">
            <a:r>
              <a:t>Tài liệu dự án: docs/AI_ADVISOR.md; docs/ARCHITECTURE.md; docs/AI_MODEL_REPORT.md; reports/AI_Training_Report_20261014.md; docs/TEST_RESULTS.md. Số liệu đánh giá và kiểm thử ghi nhận ngày 14/10/2026.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336c4eed5349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fe9090cf5f49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bb535766f746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ee394d5c2a4a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fd2fca0ae441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93e08c07d0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94CC5A-D672-4072-B965-1F510B411D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E763F4-FC4D-430F-BCD8-B3CE851DF0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8779BE-9AE6-4960-B718-C1726C69CF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DFC831-A5C8-4629-A90E-4B719FEAE1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8C501C-B7AE-4CE8-BBB6-7A37642FDC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FF2989-C934-4FD6-8DC2-AE71F0F22E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C8107E-E321-4834-8053-06D0A447E8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6CC235-77EF-4419-A827-426D1AB48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09D3D5-C3DE-4800-9469-229981F514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FC8645-6F9D-4AB0-955D-DBA4AE1D70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9a4c7a65644127" /><Relationship Type="http://schemas.openxmlformats.org/officeDocument/2006/relationships/slideLayout" Target="/ppt/slideLayouts/slideLayout1.xml" Id="Rc3bf706e9dab4341" /><Relationship Type="http://schemas.openxmlformats.org/officeDocument/2006/relationships/slideLayout" Target="/ppt/slideLayouts/slideLayout2.xml" Id="R0e30e409dffc4cf3" /><Relationship Type="http://schemas.openxmlformats.org/officeDocument/2006/relationships/slideLayout" Target="/ppt/slideLayouts/slideLayout3.xml" Id="Rdf6c9899ce744897" /><Relationship Type="http://schemas.openxmlformats.org/officeDocument/2006/relationships/slideLayout" Target="/ppt/slideLayouts/slideLayout4.xml" Id="Rda77223ac65d4485" /><Relationship Type="http://schemas.openxmlformats.org/officeDocument/2006/relationships/slideLayout" Target="/ppt/slideLayouts/slideLayout5.xml" Id="R50cc84676f144339" /><Relationship Type="http://schemas.openxmlformats.org/officeDocument/2006/relationships/slideLayout" Target="/ppt/slideLayouts/slideLayout6.xml" Id="R09da2cb3c7f745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bf706e9dab4341"/>
    <p:sldLayoutId xmlns:r="http://schemas.openxmlformats.org/officeDocument/2006/relationships" id="2147483650" r:id="R0e30e409dffc4cf3"/>
    <p:sldLayoutId xmlns:r="http://schemas.openxmlformats.org/officeDocument/2006/relationships" id="2147483651" r:id="Rdf6c9899ce744897"/>
    <p:sldLayoutId xmlns:r="http://schemas.openxmlformats.org/officeDocument/2006/relationships" id="2147483652" r:id="Rda77223ac65d4485"/>
    <p:sldLayoutId xmlns:r="http://schemas.openxmlformats.org/officeDocument/2006/relationships" id="2147483653" r:id="R50cc84676f144339"/>
    <p:sldLayoutId xmlns:r="http://schemas.openxmlformats.org/officeDocument/2006/relationships" id="2147483654" r:id="R09da2cb3c7f745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9f595f9aca465f" /><Relationship Type="http://schemas.openxmlformats.org/officeDocument/2006/relationships/image" Target="/ppt/media/image.png" Id="R428e64674dca421f" /><Relationship Type="http://schemas.openxmlformats.org/officeDocument/2006/relationships/notesSlide" Target="/ppt/notesSlides/notesSlide1.xml" Id="Rd2388df574e943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fcddb900ed4f9e" /><Relationship Type="http://schemas.openxmlformats.org/officeDocument/2006/relationships/notesSlide" Target="/ppt/notesSlides/notesSlide2.xml" Id="Rcf307723860443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591b40061f4e2a" /><Relationship Type="http://schemas.openxmlformats.org/officeDocument/2006/relationships/image" Target="/ppt/media/image2.png" Id="R8e091adfad2f4d8a" /><Relationship Type="http://schemas.openxmlformats.org/officeDocument/2006/relationships/notesSlide" Target="/ppt/notesSlides/notesSlide3.xml" Id="Rff22c5e8b53d47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67506a0dcb498d" /><Relationship Type="http://schemas.openxmlformats.org/officeDocument/2006/relationships/image" Target="/ppt/media/image3.png" Id="R8471b3667e144fb7" /><Relationship Type="http://schemas.openxmlformats.org/officeDocument/2006/relationships/notesSlide" Target="/ppt/notesSlides/notesSlide4.xml" Id="R8a7dc808f5bd49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cd35726ed94ffd" /><Relationship Type="http://schemas.openxmlformats.org/officeDocument/2006/relationships/image" Target="/ppt/media/image4.png" Id="Re3ee61cd2c3c4b03" /><Relationship Type="http://schemas.openxmlformats.org/officeDocument/2006/relationships/notesSlide" Target="/ppt/notesSlides/notesSlide5.xml" Id="Rf573b8a8167141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4f6ff979704676" /><Relationship Type="http://schemas.openxmlformats.org/officeDocument/2006/relationships/notesSlide" Target="/ppt/notesSlides/notesSlide6.xml" Id="R8523e60d382644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62af59effd4b12" /><Relationship Type="http://schemas.openxmlformats.org/officeDocument/2006/relationships/chart" Target="/ppt/slides/charts/chart1.xml" Id="R309205a8c3224570" /><Relationship Type="http://schemas.openxmlformats.org/officeDocument/2006/relationships/notesSlide" Target="/ppt/notesSlides/notesSlide7.xml" Id="Rfbb78cab40e443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cbbf12669b4011" /><Relationship Type="http://schemas.openxmlformats.org/officeDocument/2006/relationships/notesSlide" Target="/ppt/notesSlides/notesSlide8.xml" Id="R0187ac292f434d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1d4f8a13ca94b57" /><Relationship Type="http://schemas.openxmlformats.org/officeDocument/2006/relationships/image" Target="/ppt/media/image5.png" Id="Rb8ec54cbc8464610" /><Relationship Type="http://schemas.openxmlformats.org/officeDocument/2006/relationships/chart" Target="/ppt/slides/charts/chart2.xml" Id="R09363be0acc348c1" /><Relationship Type="http://schemas.openxmlformats.org/officeDocument/2006/relationships/notesSlide" Target="/ppt/notesSlides/notesSlide9.xml" Id="Rbecfa5155ddf43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8a26f61702476f" /><Relationship Type="http://schemas.openxmlformats.org/officeDocument/2006/relationships/image" Target="/ppt/media/image6.png" Id="Rc2df71a2bdc64ab4" /><Relationship Type="http://schemas.openxmlformats.org/officeDocument/2006/relationships/notesSlide" Target="/ppt/notesSlides/notesSlide10.xml" Id="R4e41278500594d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de232705a3c42e4" /><Relationship Type="http://schemas.openxmlformats.org/officeDocument/2006/relationships/image" Target="/ppt/media/image7.png" Id="R190bd0c32a4241f9" /><Relationship Type="http://schemas.openxmlformats.org/officeDocument/2006/relationships/notesSlide" Target="/ppt/notesSlides/notesSlide11.xml" Id="Rd71e20be59c148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8df586adb348b3" /><Relationship Type="http://schemas.openxmlformats.org/officeDocument/2006/relationships/image" Target="/ppt/media/image8.png" Id="Rdc9818c122964196" /><Relationship Type="http://schemas.openxmlformats.org/officeDocument/2006/relationships/notesSlide" Target="/ppt/notesSlides/notesSlide12.xml" Id="R9a9c410f2b0543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d5d0ec048846c1" /><Relationship Type="http://schemas.openxmlformats.org/officeDocument/2006/relationships/chart" Target="/ppt/slides/charts/chart3.xml" Id="Ra667a3008e304509" /><Relationship Type="http://schemas.openxmlformats.org/officeDocument/2006/relationships/notesSlide" Target="/ppt/notesSlides/notesSlide13.xml" Id="R8dd6432824cc4c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0aa0dabe02548d6" /><Relationship Type="http://schemas.openxmlformats.org/officeDocument/2006/relationships/notesSlide" Target="/ppt/notesSlides/notesSlide14.xml" Id="R1f0e518853524a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1d1854f56545da" /><Relationship Type="http://schemas.openxmlformats.org/officeDocument/2006/relationships/image" Target="/ppt/media/image9.png" Id="Rf5f7466fafac4d7e" /><Relationship Type="http://schemas.openxmlformats.org/officeDocument/2006/relationships/notesSlide" Target="/ppt/notesSlides/notesSlide15.xml" Id="Rc9574369fc9a47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a6941b915746f0" /><Relationship Type="http://schemas.openxmlformats.org/officeDocument/2006/relationships/chart" Target="/ppt/slides/charts/chart4.xml" Id="Rda940b53a24c4c98" /><Relationship Type="http://schemas.openxmlformats.org/officeDocument/2006/relationships/notesSlide" Target="/ppt/notesSlides/notesSlide16.xml" Id="Raa793210015349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d631b5067f4bf0" /><Relationship Type="http://schemas.openxmlformats.org/officeDocument/2006/relationships/notesSlide" Target="/ppt/notesSlides/notesSlide17.xml" Id="Rc76d8c6f555541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Giao dịch</c:v>
          </c:tx>
          <c:spPr>
            <a:solidFill xmlns:a="http://schemas.openxmlformats.org/drawingml/2006/main">
              <a:srgbClr val="008A63"/>
            </a:solidFill>
          </c:spPr>
          <c:invertIfNegative val="0"/>
          <c:dPt>
            <c:idx val="0"/>
            <c:invertIfNegative val="0"/>
            <c:spPr>
              <a:solidFill xmlns:a="http://schemas.openxmlformats.org/drawingml/2006/main">
                <a:srgbClr val="ACC6BB"/>
              </a:solidFill>
            </c:spPr>
          </c:dPt>
          <c:cat>
            <c:strRef>
              <c:f>'Chart Data'!$A$2:$A$3</c:f>
              <c:strCache>
                <c:ptCount val="2"/>
                <c:pt idx="0">
                  <c:v>Dự kiến</c:v>
                </c:pt>
                <c:pt idx="1">
                  <c:v>Thực tế</c:v>
                </c:pt>
              </c:strCache>
            </c:strRef>
          </c:cat>
          <c:val>
            <c:numRef>
              <c:f>'Chart Data'!$B$2:$B$3</c:f>
              <c:numCache>
                <c:formatCode>General</c:formatCode>
                <c:ptCount val="2"/>
                <c:pt idx="0">
                  <c:v>400</c:v>
                </c:pt>
                <c:pt idx="1">
                  <c:v>400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400" b="1">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14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092B3D"/>
                </a:solidFill>
                <a:latin typeface="Arial"/>
                <a:ea typeface="Arial"/>
                <a:cs typeface="Arial"/>
              </a:defRPr>
            </a:pPr>
          </a:p>
        </c:txPr>
        <c:crossAx val="48672768"/>
      </c:catAx>
      <c:valAx>
        <c:axId val="48672768"/>
        <c:scaling>
          <c:orientation val="minMax"/>
          <c:max val="500"/>
          <c:min val="0"/>
        </c:scaling>
        <c:delete val="1"/>
        <c:axPos val="l"/>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c:v>
          </c:tx>
          <c:spPr>
            <a:solidFill xmlns:a="http://schemas.openxmlformats.org/drawingml/2006/main">
              <a:srgbClr val="008A63"/>
            </a:solidFill>
          </c:spPr>
          <c:invertIfNegative val="0"/>
          <c:dPt>
            <c:idx val="1"/>
            <c:invertIfNegative val="0"/>
            <c:spPr>
              <a:solidFill xmlns:a="http://schemas.openxmlformats.org/drawingml/2006/main">
                <a:srgbClr val="75B79F"/>
              </a:solidFill>
            </c:spPr>
          </c:dPt>
          <c:dPt>
            <c:idx val="2"/>
            <c:invertIfNegative val="0"/>
            <c:spPr>
              <a:solidFill xmlns:a="http://schemas.openxmlformats.org/drawingml/2006/main">
                <a:srgbClr val="B7C9C0"/>
              </a:solidFill>
            </c:spPr>
          </c:dPt>
          <c:cat>
            <c:strRef>
              <c:f>'Chart Data'!$A$2:$A$4</c:f>
              <c:strCache>
                <c:ptCount val="3"/>
                <c:pt idx="0">
                  <c:v>Random Forest</c:v>
                </c:pt>
                <c:pt idx="1">
                  <c:v>XGBoost</c:v>
                </c:pt>
                <c:pt idx="2">
                  <c:v>Trung bình trượt</c:v>
                </c:pt>
              </c:strCache>
            </c:strRef>
          </c:cat>
          <c:val>
            <c:numRef>
              <c:f>'Chart Data'!$B$2:$B$4</c:f>
              <c:numCache>
                <c:formatCode>General</c:formatCode>
                <c:ptCount val="3"/>
                <c:pt idx="0">
                  <c:v>146.24</c:v>
                </c:pt>
                <c:pt idx="1">
                  <c:v>159.91</c:v>
                </c:pt>
                <c:pt idx="2">
                  <c:v>275.04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92B3D"/>
                </a:solidFill>
                <a:latin typeface="Arial"/>
                <a:ea typeface="Arial"/>
                <a:cs typeface="Arial"/>
              </a:defRPr>
            </a:pPr>
          </a:p>
        </c:txPr>
        <c:crossAx val="48672768"/>
      </c:catAx>
      <c:valAx>
        <c:axId val="48672768"/>
        <c:scaling>
          <c:orientation val="minMax"/>
          <c:max val="320"/>
          <c:min val="0"/>
        </c:scaling>
        <c:delete val="1"/>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Recall</c:v>
          </c:tx>
          <c:spPr>
            <a:solidFill xmlns:a="http://schemas.openxmlformats.org/drawingml/2006/main">
              <a:srgbClr val="008A63"/>
            </a:solidFill>
          </c:spPr>
          <c:invertIfNegative val="0"/>
          <c:dPt>
            <c:idx val="4"/>
            <c:invertIfNegative val="0"/>
            <c:spPr>
              <a:solidFill xmlns:a="http://schemas.openxmlformats.org/drawingml/2006/main">
                <a:srgbClr val="C08370"/>
              </a:solidFill>
            </c:spPr>
          </c:dPt>
          <c:dPt>
            <c:idx val="6"/>
            <c:invertIfNegative val="0"/>
            <c:spPr>
              <a:solidFill xmlns:a="http://schemas.openxmlformats.org/drawingml/2006/main">
                <a:srgbClr val="C08370"/>
              </a:solidFill>
            </c:spPr>
          </c:dPt>
          <c:cat>
            <c:strRef>
              <c:f>'Chart Data'!$A$2:$A$9</c:f>
              <c:strCache>
                <c:ptCount val="8"/>
                <c:pt idx="0">
                  <c:v>Giải trí</c:v>
                </c:pt>
                <c:pt idx="1">
                  <c:v>Hóa đơn</c:v>
                </c:pt>
                <c:pt idx="2">
                  <c:v>Học tập</c:v>
                </c:pt>
                <c:pt idx="3">
                  <c:v>Mua sắm</c:v>
                </c:pt>
                <c:pt idx="4">
                  <c:v>Nhà ở</c:v>
                </c:pt>
                <c:pt idx="5">
                  <c:v>Sức khỏe</c:v>
                </c:pt>
                <c:pt idx="6">
                  <c:v>Ăn uống</c:v>
                </c:pt>
                <c:pt idx="7">
                  <c:v>Đi lại</c:v>
                </c:pt>
              </c:strCache>
            </c:strRef>
          </c:cat>
          <c:val>
            <c:numRef>
              <c:f>'Chart Data'!$B$2:$B$9</c:f>
              <c:numCache>
                <c:formatCode>General</c:formatCode>
                <c:ptCount val="8"/>
                <c:pt idx="0">
                  <c:v>100</c:v>
                </c:pt>
                <c:pt idx="1">
                  <c:v>100</c:v>
                </c:pt>
                <c:pt idx="2">
                  <c:v>100</c:v>
                </c:pt>
                <c:pt idx="3">
                  <c:v>87.5</c:v>
                </c:pt>
                <c:pt idx="4">
                  <c:v>75</c:v>
                </c:pt>
                <c:pt idx="5">
                  <c:v>87.5</c:v>
                </c:pt>
                <c:pt idx="6">
                  <c:v>75</c:v>
                </c:pt>
                <c:pt idx="7">
                  <c:v>87.5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092B3D"/>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92B3D"/>
                </a:solidFill>
                <a:latin typeface="Arial"/>
                <a:ea typeface="Arial"/>
                <a:cs typeface="Arial"/>
              </a:defRPr>
            </a:pPr>
          </a:p>
        </c:txPr>
        <c:crossAx val="48672768"/>
      </c:catAx>
      <c:valAx>
        <c:axId val="48672768"/>
        <c:scaling>
          <c:orientation val="minMax"/>
          <c:max val="120"/>
          <c:min val="0"/>
        </c:scaling>
        <c:delete val="1"/>
        <c:axPos val="b"/>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 kiểm thử</c:v>
          </c:tx>
          <c:spPr>
            <a:solidFill xmlns:a="http://schemas.openxmlformats.org/drawingml/2006/main">
              <a:srgbClr val="52D5A1"/>
            </a:solidFill>
          </c:spPr>
          <c:invertIfNegative val="0"/>
          <c:cat>
            <c:strRef>
              <c:f>'Chart Data'!$A$2:$A$4</c:f>
              <c:strCache>
                <c:ptCount val="3"/>
                <c:pt idx="0">
                  <c:v>Backend</c:v>
                </c:pt>
                <c:pt idx="1">
                  <c:v>Giao diện</c:v>
                </c:pt>
                <c:pt idx="2">
                  <c:v>Dịch vụ AI</c:v>
                </c:pt>
              </c:strCache>
            </c:strRef>
          </c:cat>
          <c:val>
            <c:numRef>
              <c:f>'Chart Data'!$B$2:$B$4</c:f>
              <c:numCache>
                <c:formatCode>General</c:formatCode>
                <c:ptCount val="3"/>
                <c:pt idx="0">
                  <c:v>39</c:v>
                </c:pt>
                <c:pt idx="1">
                  <c:v>23</c:v>
                </c:pt>
                <c:pt idx="2">
                  <c:v>97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FFFFFF"/>
                </a:solidFill>
                <a:latin typeface="Arial"/>
                <a:ea typeface="Arial"/>
                <a:cs typeface="Arial"/>
              </a:defRPr>
            </a:pPr>
          </a:p>
        </c:txPr>
        <c:crossAx val="48672768"/>
      </c:catAx>
      <c:valAx>
        <c:axId val="48672768"/>
        <c:scaling>
          <c:orientation val="minMax"/>
          <c:max val="120"/>
          <c:min val="0"/>
        </c:scaling>
        <c:delete val="1"/>
        <c:axPos val="l"/>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072E37"/>
        </a:solidFill>
      </c:spPr>
    </c:plotArea>
    <c:plotVisOnly val="1"/>
  </c:chart>
  <c:spPr>
    <a:solidFill xmlns:a="http://schemas.openxmlformats.org/drawingml/2006/main">
      <a:srgbClr val="072E3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81D16BE3-9AEA-4EDA-93DF-638920D3544D}"/>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2D5A1"/>
                </a:solidFill>
                <a:latin typeface="Arial"/>
                <a:ea typeface="Arial"/>
                <a:cs typeface="Arial"/>
              </a:defRPr>
            </a:defPPr>
          </a:lstStyle>
          <a:p xmlns:a="http://schemas.openxmlformats.org/drawingml/2006/main">
            <a:pPr algn="l">
              <a:defRPr sz="1275" b="1">
                <a:solidFill>
                  <a:srgbClr val="52D5A1"/>
                </a:solidFill>
                <a:latin typeface="Arial"/>
                <a:ea typeface="Arial"/>
                <a:cs typeface="Arial"/>
              </a:defRPr>
            </a:pPr>
            <a:r>
              <a:rPr sz="1275" b="1">
                <a:solidFill>
                  <a:srgbClr val="52D5A1"/>
                </a:solidFill>
                <a:latin typeface="Arial"/>
                <a:ea typeface="Arial"/>
                <a:cs typeface="Arial"/>
              </a:rPr>
              <a:t>LỜI THUYẾT TRÌNH</a:t>
            </a:r>
          </a:p>
        </p:txBody>
      </p:sp>
      <p:sp>
        <p:nvSpPr>
          <p:cNvPr id="2" name="visible-narration">
            <a:extLst xmlns:a="http://schemas.openxmlformats.org/drawingml/2006/main">
              <a:ext uri="{FF2B5EF4-FFF2-40B4-BE49-F238E27FC236}">
                <a16:creationId xmlns:a16="http://schemas.microsoft.com/office/drawing/2014/main" id="{3A24E87E-51D1-49E1-A964-9D2E0D4D12F0}"/>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E7DD"/>
                </a:solidFill>
                <a:latin typeface="Arial"/>
                <a:ea typeface="Arial"/>
                <a:cs typeface="Arial"/>
              </a:defRPr>
            </a:defPPr>
          </a:lstStyle>
          <a:p xmlns:a="http://schemas.openxmlformats.org/drawingml/2006/main">
            <a:pPr algn="l">
              <a:defRPr sz="1725" b="0">
                <a:solidFill>
                  <a:srgbClr val="CBE7DD"/>
                </a:solidFill>
                <a:latin typeface="Arial"/>
                <a:ea typeface="Arial"/>
                <a:cs typeface="Arial"/>
              </a:defRPr>
            </a:pPr>
            <a:r>
              <a:rPr sz="1725" b="0">
                <a:solidFill>
                  <a:srgbClr val="CBE7DD"/>
                </a:solidFill>
                <a:latin typeface="Arial"/>
                <a:ea typeface="Arial"/>
                <a:cs typeface="Arial"/>
              </a:rPr>
              <a:t>FinSight hỗ trợ theo dõi thu chi, dự kiến số dư và thử kế hoạch chi tiêu. Nhóm xin trình bày bài toán, cách xây dựng và kết quả kiểm chứng.</a:t>
            </a:r>
          </a:p>
        </p:txBody>
      </p:sp>
      <p:sp>
        <p:nvSpPr>
          <p:cNvPr id="3" name="text-2">
            <a:extLst xmlns:a="http://schemas.openxmlformats.org/drawingml/2006/main">
              <a:ext uri="{FF2B5EF4-FFF2-40B4-BE49-F238E27FC236}">
                <a16:creationId xmlns:a16="http://schemas.microsoft.com/office/drawing/2014/main" id="{E816C1C6-170F-4981-B115-11487D1CCB3B}"/>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BE7DD"/>
                </a:solidFill>
                <a:latin typeface="Arial"/>
                <a:ea typeface="Arial"/>
                <a:cs typeface="Arial"/>
              </a:defRPr>
            </a:defPPr>
          </a:lstStyle>
          <a:p xmlns:a="http://schemas.openxmlformats.org/drawingml/2006/main">
            <a:pPr algn="l">
              <a:defRPr sz="1350" b="0">
                <a:solidFill>
                  <a:srgbClr val="CBE7DD"/>
                </a:solidFill>
                <a:latin typeface="Arial"/>
                <a:ea typeface="Arial"/>
                <a:cs typeface="Arial"/>
              </a:defRPr>
            </a:pPr>
            <a:r>
              <a:rPr sz="1350" b="0">
                <a:solidFill>
                  <a:srgbClr val="CBE7DD"/>
                </a:solidFill>
                <a:latin typeface="Arial"/>
                <a:ea typeface="Arial"/>
                <a:cs typeface="Arial"/>
              </a:rPr>
              <a:t>Lê Như Đỉnh</a:t>
            </a:r>
          </a:p>
        </p:txBody>
      </p:sp>
      <p:sp>
        <p:nvSpPr>
          <p:cNvPr id="4" name="text-3">
            <a:extLst xmlns:a="http://schemas.openxmlformats.org/drawingml/2006/main">
              <a:ext uri="{FF2B5EF4-FFF2-40B4-BE49-F238E27FC236}">
                <a16:creationId xmlns:a16="http://schemas.microsoft.com/office/drawing/2014/main" id="{1F54FB3C-603F-408A-B8BC-C59BB5D4D80E}"/>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2D5A1"/>
                </a:solidFill>
                <a:latin typeface="Arial"/>
                <a:ea typeface="Arial"/>
                <a:cs typeface="Arial"/>
              </a:defRPr>
            </a:defPPr>
          </a:lstStyle>
          <a:p xmlns:a="http://schemas.openxmlformats.org/drawingml/2006/main">
            <a:pPr algn="r">
              <a:defRPr sz="1350" b="1">
                <a:solidFill>
                  <a:srgbClr val="52D5A1"/>
                </a:solidFill>
                <a:latin typeface="Arial"/>
                <a:ea typeface="Arial"/>
                <a:cs typeface="Arial"/>
              </a:defRPr>
            </a:pPr>
            <a:r>
              <a:rPr sz="1350" b="1">
                <a:solidFill>
                  <a:srgbClr val="52D5A1"/>
                </a:solidFill>
                <a:latin typeface="Arial"/>
                <a:ea typeface="Arial"/>
                <a:cs typeface="Arial"/>
              </a:rPr>
              <a:t>01 / 17</a:t>
            </a:r>
          </a:p>
        </p:txBody>
      </p:sp>
      <p:sp>
        <p:nvSpPr>
          <p:cNvPr id="5" name="text-4">
            <a:extLst xmlns:a="http://schemas.openxmlformats.org/drawingml/2006/main">
              <a:ext uri="{FF2B5EF4-FFF2-40B4-BE49-F238E27FC236}">
                <a16:creationId xmlns:a16="http://schemas.microsoft.com/office/drawing/2014/main" id="{48834C82-B151-445B-906D-B344EE8CB12B}"/>
              </a:ext>
            </a:extLst>
          </p:cNvPr>
          <p:cNvSpPr>
            <a:spLocks xmlns:a="http://schemas.openxmlformats.org/drawingml/2006/main" noGrp="1"/>
          </p:cNvSpPr>
          <p:nvPr/>
        </p:nvSpPr>
        <p:spPr>
          <a:xfrm xmlns:a="http://schemas.openxmlformats.org/drawingml/2006/main">
            <a:off x="609600" y="46672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52D5A1"/>
                </a:solidFill>
                <a:latin typeface="Arial"/>
                <a:ea typeface="Arial"/>
                <a:cs typeface="Arial"/>
              </a:defRPr>
            </a:defPPr>
          </a:lstStyle>
          <a:p xmlns:a="http://schemas.openxmlformats.org/drawingml/2006/main">
            <a:pPr algn="l">
              <a:defRPr sz="1725" b="1">
                <a:solidFill>
                  <a:srgbClr val="52D5A1"/>
                </a:solidFill>
                <a:latin typeface="Arial"/>
                <a:ea typeface="Arial"/>
                <a:cs typeface="Arial"/>
              </a:defRPr>
            </a:pPr>
            <a:r>
              <a:rPr sz="1725" b="1">
                <a:solidFill>
                  <a:srgbClr val="52D5A1"/>
                </a:solidFill>
                <a:latin typeface="Arial"/>
                <a:ea typeface="Arial"/>
                <a:cs typeface="Arial"/>
              </a:rPr>
              <a:t>ĐỒ ÁN TRÍ TUỆ NHÂN TẠO</a:t>
            </a:r>
          </a:p>
        </p:txBody>
      </p:sp>
      <p:sp>
        <p:nvSpPr>
          <p:cNvPr id="6" name="text-5">
            <a:extLst xmlns:a="http://schemas.openxmlformats.org/drawingml/2006/main">
              <a:ext uri="{FF2B5EF4-FFF2-40B4-BE49-F238E27FC236}">
                <a16:creationId xmlns:a16="http://schemas.microsoft.com/office/drawing/2014/main" id="{D90614AC-6532-45CC-B4B7-2BE7373F3711}"/>
              </a:ext>
            </a:extLst>
          </p:cNvPr>
          <p:cNvSpPr>
            <a:spLocks xmlns:a="http://schemas.openxmlformats.org/drawingml/2006/main" noGrp="1"/>
          </p:cNvSpPr>
          <p:nvPr/>
        </p:nvSpPr>
        <p:spPr>
          <a:xfrm xmlns:a="http://schemas.openxmlformats.org/drawingml/2006/main">
            <a:off x="609600" y="162877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FinSight AI</a:t>
            </a:r>
          </a:p>
        </p:txBody>
      </p:sp>
      <p:sp>
        <p:nvSpPr>
          <p:cNvPr id="7" name="text-6">
            <a:extLst xmlns:a="http://schemas.openxmlformats.org/drawingml/2006/main">
              <a:ext uri="{FF2B5EF4-FFF2-40B4-BE49-F238E27FC236}">
                <a16:creationId xmlns:a16="http://schemas.microsoft.com/office/drawing/2014/main" id="{2011EEE9-B6A5-4733-8F7E-E569826A9D90}"/>
              </a:ext>
            </a:extLst>
          </p:cNvPr>
          <p:cNvSpPr>
            <a:spLocks xmlns:a="http://schemas.openxmlformats.org/drawingml/2006/main" noGrp="1"/>
          </p:cNvSpPr>
          <p:nvPr/>
        </p:nvSpPr>
        <p:spPr>
          <a:xfrm xmlns:a="http://schemas.openxmlformats.org/drawingml/2006/main">
            <a:off x="609600" y="2752725"/>
            <a:ext cx="4810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stStyle>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Quản lý tài chính</a:t>
            </a:r>
          </a:p>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cá nhân với AI</a:t>
            </a:r>
          </a:p>
        </p:txBody>
      </p:sp>
      <p:sp>
        <p:nvSpPr>
          <p:cNvPr id="8" name="text-7">
            <a:extLst xmlns:a="http://schemas.openxmlformats.org/drawingml/2006/main">
              <a:ext uri="{FF2B5EF4-FFF2-40B4-BE49-F238E27FC236}">
                <a16:creationId xmlns:a16="http://schemas.microsoft.com/office/drawing/2014/main" id="{87DB9CFA-B301-427D-BBE9-904350500502}"/>
              </a:ext>
            </a:extLst>
          </p:cNvPr>
          <p:cNvSpPr>
            <a:spLocks xmlns:a="http://schemas.openxmlformats.org/drawingml/2006/main" noGrp="1"/>
          </p:cNvSpPr>
          <p:nvPr/>
        </p:nvSpPr>
        <p:spPr>
          <a:xfrm xmlns:a="http://schemas.openxmlformats.org/drawingml/2006/main">
            <a:off x="609600" y="4371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E7DD"/>
                </a:solidFill>
                <a:latin typeface="Arial"/>
                <a:ea typeface="Arial"/>
                <a:cs typeface="Arial"/>
              </a:defRPr>
            </a:defPPr>
          </a:lstStyle>
          <a:p xmlns:a="http://schemas.openxmlformats.org/drawingml/2006/main">
            <a:pPr algn="l">
              <a:defRPr sz="1875" b="0">
                <a:solidFill>
                  <a:srgbClr val="CBE7DD"/>
                </a:solidFill>
                <a:latin typeface="Arial"/>
                <a:ea typeface="Arial"/>
                <a:cs typeface="Arial"/>
              </a:defRPr>
            </a:pPr>
            <a:r>
              <a:rPr sz="1875" b="0">
                <a:solidFill>
                  <a:srgbClr val="CBE7DD"/>
                </a:solidFill>
                <a:latin typeface="Arial"/>
                <a:ea typeface="Arial"/>
                <a:cs typeface="Arial"/>
              </a:rPr>
              <a:t>GVHD: ThS. Nguyễn Đỗ Công Pháp</a:t>
            </a:r>
          </a:p>
        </p:txBody>
      </p:sp>
      <p:pic>
        <p:nvPicPr>
          <p:cNvPr id="9" name="">
            <a:extLst xmlns:a="http://schemas.openxmlformats.org/drawingml/2006/main">
              <a:ext uri="{FF2B5EF4-FFF2-40B4-BE49-F238E27FC236}">
                <a16:creationId xmlns:a16="http://schemas.microsoft.com/office/drawing/2014/main" id="{CAE8BD03-C65E-474E-AA5F-32357E240194}"/>
              </a:ext>
            </a:extLst>
          </p:cNvPr>
          <p:cNvPicPr>
            <a:picLocks xmlns:a="http://schemas.openxmlformats.org/drawingml/2006/main" noChangeAspect="1"/>
          </p:cNvPicPr>
          <p:nvPr/>
        </p:nvPicPr>
        <p:blipFill>
          <a:blip xmlns:r="http://schemas.openxmlformats.org/officeDocument/2006/relationships" xmlns:a="http://schemas.openxmlformats.org/drawingml/2006/main" r:embed="R428e64674dca421f"/>
          <a:srcRect xmlns:a="http://schemas.openxmlformats.org/drawingml/2006/main" l="18000" t="3000" r="1000" b="77500"/>
          <a:stretch xmlns:a="http://schemas.openxmlformats.org/drawingml/2006/main"/>
        </p:blipFill>
        <p:spPr>
          <a:xfrm xmlns:a="http://schemas.openxmlformats.org/drawingml/2006/main">
            <a:off x="5798531" y="1562100"/>
            <a:ext cx="5586037" cy="3105150"/>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C404CB86-30D2-497F-B8EB-237802AB3B88}"/>
              </a:ext>
            </a:extLst>
          </p:cNvPr>
          <p:cNvSpPr>
            <a:spLocks xmlns:a="http://schemas.openxmlformats.org/drawingml/2006/main" noGrp="1"/>
          </p:cNvSpPr>
          <p:nvPr/>
        </p:nvSpPr>
        <p:spPr>
          <a:xfrm xmlns:a="http://schemas.openxmlformats.org/drawingml/2006/main">
            <a:off x="5791200" y="4810125"/>
            <a:ext cx="5791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CBE7DD"/>
                </a:solidFill>
                <a:latin typeface="Arial"/>
                <a:ea typeface="Arial"/>
                <a:cs typeface="Arial"/>
              </a:defRPr>
            </a:defPPr>
          </a:lstStyle>
          <a:p xmlns:a="http://schemas.openxmlformats.org/drawingml/2006/main">
            <a:pPr algn="l">
              <a:defRPr sz="1425" b="0">
                <a:solidFill>
                  <a:srgbClr val="CBE7DD"/>
                </a:solidFill>
                <a:latin typeface="Arial"/>
                <a:ea typeface="Arial"/>
                <a:cs typeface="Arial"/>
              </a:defRPr>
            </a:pPr>
            <a:r>
              <a:rPr sz="1425" b="0">
                <a:solidFill>
                  <a:srgbClr val="CBE7DD"/>
                </a:solidFill>
                <a:latin typeface="Arial"/>
                <a:ea typeface="Arial"/>
                <a:cs typeface="Arial"/>
              </a:rPr>
              <a:t>Ảnh ứng dụng với dữ liệu demo</a:t>
            </a:r>
          </a:p>
        </p:txBody>
      </p:sp>
    </p:spTree>
    <p:extLst>
      <p:ext uri="{BB962C8B-B14F-4D97-AF65-F5344CB8AC3E}">
        <p14:creationId xmlns:p14="http://schemas.microsoft.com/office/powerpoint/2010/main" val="1137650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
            <a:extLst xmlns:a="http://schemas.openxmlformats.org/drawingml/2006/main">
              <a:ext uri="{FF2B5EF4-FFF2-40B4-BE49-F238E27FC236}">
                <a16:creationId xmlns:a16="http://schemas.microsoft.com/office/drawing/2014/main" id="{C837ABB0-3BC5-464A-89CF-426FC3433560}"/>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NHÓM THỰC HIỆN</a:t>
            </a:r>
          </a:p>
        </p:txBody>
      </p:sp>
      <p:sp>
        <p:nvSpPr>
          <p:cNvPr id="2" name="slide-title">
            <a:extLst xmlns:a="http://schemas.openxmlformats.org/drawingml/2006/main">
              <a:ext uri="{FF2B5EF4-FFF2-40B4-BE49-F238E27FC236}">
                <a16:creationId xmlns:a16="http://schemas.microsoft.com/office/drawing/2014/main" id="{088FDA8E-C073-4F97-9253-749DCA152379}"/>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Thành viên và phần trình bày</a:t>
            </a:r>
          </a:p>
        </p:txBody>
      </p:sp>
      <p:sp>
        <p:nvSpPr>
          <p:cNvPr id="3" name="text-10">
            <a:extLst xmlns:a="http://schemas.openxmlformats.org/drawingml/2006/main">
              <a:ext uri="{FF2B5EF4-FFF2-40B4-BE49-F238E27FC236}">
                <a16:creationId xmlns:a16="http://schemas.microsoft.com/office/drawing/2014/main" id="{A6AA24F2-95BB-4AC7-A052-1BC8B68FA9E2}"/>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FC22A851-2FBE-4279-8A6D-85EFBFE63A2B}"/>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Nhóm có năm thành viên. Các phần trình bày lần lượt giới thiệu ứng dụng, kiến trúc, mô hình AI và kết quả kiểm chứng.</a:t>
            </a:r>
          </a:p>
        </p:txBody>
      </p:sp>
      <p:sp>
        <p:nvSpPr>
          <p:cNvPr id="5" name="text-11">
            <a:extLst xmlns:a="http://schemas.openxmlformats.org/drawingml/2006/main">
              <a:ext uri="{FF2B5EF4-FFF2-40B4-BE49-F238E27FC236}">
                <a16:creationId xmlns:a16="http://schemas.microsoft.com/office/drawing/2014/main" id="{99EF64CD-AD71-4598-B799-D54E5BE89F94}"/>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Nhóm thực hiện FinSight AI</a:t>
            </a:r>
          </a:p>
        </p:txBody>
      </p:sp>
      <p:sp>
        <p:nvSpPr>
          <p:cNvPr id="6" name="text-12">
            <a:extLst xmlns:a="http://schemas.openxmlformats.org/drawingml/2006/main">
              <a:ext uri="{FF2B5EF4-FFF2-40B4-BE49-F238E27FC236}">
                <a16:creationId xmlns:a16="http://schemas.microsoft.com/office/drawing/2014/main" id="{131AAFF4-EA45-4175-BE47-730BB65BA9FF}"/>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02 / 17</a:t>
            </a:r>
          </a:p>
        </p:txBody>
      </p:sp>
      <p:sp>
        <p:nvSpPr>
          <p:cNvPr id="7" name="text-13">
            <a:extLst xmlns:a="http://schemas.openxmlformats.org/drawingml/2006/main">
              <a:ext uri="{FF2B5EF4-FFF2-40B4-BE49-F238E27FC236}">
                <a16:creationId xmlns:a16="http://schemas.microsoft.com/office/drawing/2014/main" id="{CBED58F1-AFFB-47C8-A8A1-895C4EF01D6B}"/>
              </a:ext>
            </a:extLst>
          </p:cNvPr>
          <p:cNvSpPr>
            <a:spLocks xmlns:a="http://schemas.openxmlformats.org/drawingml/2006/main" noGrp="1"/>
          </p:cNvSpPr>
          <p:nvPr/>
        </p:nvSpPr>
        <p:spPr>
          <a:xfrm xmlns:a="http://schemas.openxmlformats.org/drawingml/2006/main">
            <a:off x="609600" y="15144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B78"/>
                </a:solidFill>
                <a:latin typeface="Arial"/>
                <a:ea typeface="Arial"/>
                <a:cs typeface="Arial"/>
              </a:defRPr>
            </a:defPPr>
          </a:lstStyle>
          <a:p xmlns:a="http://schemas.openxmlformats.org/drawingml/2006/main">
            <a:pPr algn="l">
              <a:defRPr sz="1875" b="0">
                <a:solidFill>
                  <a:srgbClr val="526B78"/>
                </a:solidFill>
                <a:latin typeface="Arial"/>
                <a:ea typeface="Arial"/>
                <a:cs typeface="Arial"/>
              </a:defRPr>
            </a:pPr>
            <a:r>
              <a:rPr sz="1875" b="0">
                <a:solidFill>
                  <a:srgbClr val="526B78"/>
                </a:solidFill>
                <a:latin typeface="Arial"/>
                <a:ea typeface="Arial"/>
                <a:cs typeface="Arial"/>
              </a:rPr>
              <a:t>Lớp 24GITE</a:t>
            </a:r>
          </a:p>
        </p:txBody>
      </p:sp>
      <p:graphicFrame>
        <p:nvGraphicFramePr>
          <p:cNvPr id="8" name="">
            <a:extLst xmlns:a="http://schemas.openxmlformats.org/drawingml/2006/main">
              <a:ext uri="{FF2B5EF4-FFF2-40B4-BE49-F238E27FC236}">
                <a16:creationId xmlns:a16="http://schemas.microsoft.com/office/drawing/2014/main" id="{187055EE-3ECE-4239-B3A6-56407FA0D707}"/>
              </a:ext>
            </a:extLst>
          </p:cNvPr>
          <p:cNvGraphicFramePr/>
          <p:nvPr/>
        </p:nvGraphicFramePr>
        <p:xfrm>
          <a:off xmlns:a="http://schemas.openxmlformats.org/drawingml/2006/main" x="609600" y="2000250"/>
          <a:ext xmlns:a="http://schemas.openxmlformats.org/drawingml/2006/main" cx="10972800" cy="2743200"/>
        </p:xfrm>
        <a:graphic xmlns:a="http://schemas.openxmlformats.org/drawingml/2006/main">
          <a:graphicData uri="http://schemas.openxmlformats.org/drawingml/2006/table">
            <a:tbl>
              <a:tblPr/>
              <a:tblGrid>
                <a:gridCol w="3429000"/>
                <a:gridCol w="1905000"/>
                <a:gridCol w="5638800"/>
              </a:tblGrid>
              <a:tr h="457200">
                <a:tc>
                  <a:txBody>
                    <a:bodyPr anchor="ctr"/>
                    <a:lstStyle/>
                    <a:p>
                      <a:pPr algn="l"/>
                      <a:r>
                        <a:rPr sz="1800" b="1">
                          <a:solidFill>
                            <a:srgbClr val="FFFFFF"/>
                          </a:solidFill>
                          <a:latin typeface="Arial"/>
                          <a:ea typeface="Arial"/>
                          <a:cs typeface="Arial"/>
                        </a:rPr>
                        <a:t>Thành viên</a:t>
                      </a:r>
                    </a:p>
                  </a:txBody>
                  <a:tcPr marL="133350" marR="133350" marT="95250" marB="95250">
                    <a:lnL w="9525">
                      <a:solidFill>
                        <a:srgbClr val="DFEAE6"/>
                      </a:solidFill>
                      <a:prstDash val="solid"/>
                    </a:lnL>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1800" b="1">
                          <a:solidFill>
                            <a:srgbClr val="FFFFFF"/>
                          </a:solidFill>
                          <a:latin typeface="Arial"/>
                          <a:ea typeface="Arial"/>
                          <a:cs typeface="Arial"/>
                        </a:rPr>
                        <a:t>MSSV</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1800" b="1">
                          <a:solidFill>
                            <a:srgbClr val="FFFFFF"/>
                          </a:solidFill>
                          <a:latin typeface="Arial"/>
                          <a:ea typeface="Arial"/>
                          <a:cs typeface="Arial"/>
                        </a:rPr>
                        <a:t>Phần trình bày</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r>
              <a:tr h="457200">
                <a:tc>
                  <a:txBody>
                    <a:bodyPr anchor="ctr"/>
                    <a:lstStyle/>
                    <a:p>
                      <a:pPr algn="l"/>
                      <a:r>
                        <a:rPr sz="1800" b="0">
                          <a:solidFill>
                            <a:srgbClr val="092B3D"/>
                          </a:solidFill>
                          <a:latin typeface="Arial"/>
                          <a:ea typeface="Arial"/>
                          <a:cs typeface="Arial"/>
                        </a:rPr>
                        <a:t>Lê Như Đỉnh</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24ITE125</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Bài toán và trải nghiệm sử dụng</a:t>
                      </a:r>
                    </a:p>
                  </a:txBody>
                  <a:tcPr marL="133350" marR="133350" marT="95250" marB="95250">
                    <a:lnR w="9525">
                      <a:solidFill>
                        <a:srgbClr val="DFEAE6"/>
                      </a:solidFill>
                      <a:prstDash val="solid"/>
                    </a:lnR>
                    <a:lnB w="9525">
                      <a:solidFill>
                        <a:srgbClr val="DFEAE6"/>
                      </a:solidFill>
                      <a:prstDash val="solid"/>
                    </a:lnB>
                    <a:solidFill>
                      <a:srgbClr val="FFFFFF"/>
                    </a:solidFill>
                  </a:tcPr>
                </a:tc>
              </a:tr>
              <a:tr h="457200">
                <a:tc>
                  <a:txBody>
                    <a:bodyPr anchor="ctr"/>
                    <a:lstStyle/>
                    <a:p>
                      <a:pPr algn="l"/>
                      <a:r>
                        <a:rPr sz="1800" b="0">
                          <a:solidFill>
                            <a:srgbClr val="092B3D"/>
                          </a:solidFill>
                          <a:latin typeface="Arial"/>
                          <a:ea typeface="Arial"/>
                          <a:cs typeface="Arial"/>
                        </a:rPr>
                        <a:t>Nguyễn Đức Trí</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24ITE112</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Kiến trúc và quản lý dữ liệu</a:t>
                      </a:r>
                    </a:p>
                  </a:txBody>
                  <a:tcPr marL="133350" marR="133350" marT="95250" marB="95250">
                    <a:lnR w="9525">
                      <a:solidFill>
                        <a:srgbClr val="DFEAE6"/>
                      </a:solidFill>
                      <a:prstDash val="solid"/>
                    </a:lnR>
                    <a:lnB w="9525">
                      <a:solidFill>
                        <a:srgbClr val="DFEAE6"/>
                      </a:solidFill>
                      <a:prstDash val="solid"/>
                    </a:lnB>
                    <a:solidFill>
                      <a:srgbClr val="FFFFFF"/>
                    </a:solidFill>
                  </a:tcPr>
                </a:tc>
              </a:tr>
              <a:tr h="457200">
                <a:tc>
                  <a:txBody>
                    <a:bodyPr anchor="ctr"/>
                    <a:lstStyle/>
                    <a:p>
                      <a:pPr algn="l"/>
                      <a:r>
                        <a:rPr sz="1800" b="0">
                          <a:solidFill>
                            <a:srgbClr val="092B3D"/>
                          </a:solidFill>
                          <a:latin typeface="Arial"/>
                          <a:ea typeface="Arial"/>
                          <a:cs typeface="Arial"/>
                        </a:rPr>
                        <a:t>Trần Minh Nhật</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24ITE071</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Huấn luyện và dự báo chi tiêu</a:t>
                      </a:r>
                    </a:p>
                  </a:txBody>
                  <a:tcPr marL="133350" marR="133350" marT="95250" marB="95250">
                    <a:lnR w="9525">
                      <a:solidFill>
                        <a:srgbClr val="DFEAE6"/>
                      </a:solidFill>
                      <a:prstDash val="solid"/>
                    </a:lnR>
                    <a:lnB w="9525">
                      <a:solidFill>
                        <a:srgbClr val="DFEAE6"/>
                      </a:solidFill>
                      <a:prstDash val="solid"/>
                    </a:lnB>
                    <a:solidFill>
                      <a:srgbClr val="FFFFFF"/>
                    </a:solidFill>
                  </a:tcPr>
                </a:tc>
              </a:tr>
              <a:tr h="457200">
                <a:tc>
                  <a:txBody>
                    <a:bodyPr anchor="ctr"/>
                    <a:lstStyle/>
                    <a:p>
                      <a:pPr algn="l"/>
                      <a:r>
                        <a:rPr sz="1800" b="0">
                          <a:solidFill>
                            <a:srgbClr val="092B3D"/>
                          </a:solidFill>
                          <a:latin typeface="Arial"/>
                          <a:ea typeface="Arial"/>
                          <a:cs typeface="Arial"/>
                        </a:rPr>
                        <a:t>Lý Tú Nguyên</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24ITE067</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Bất thường và gợi ý danh mục</a:t>
                      </a:r>
                    </a:p>
                  </a:txBody>
                  <a:tcPr marL="133350" marR="133350" marT="95250" marB="95250">
                    <a:lnR w="9525">
                      <a:solidFill>
                        <a:srgbClr val="DFEAE6"/>
                      </a:solidFill>
                      <a:prstDash val="solid"/>
                    </a:lnR>
                    <a:lnB w="9525">
                      <a:solidFill>
                        <a:srgbClr val="DFEAE6"/>
                      </a:solidFill>
                      <a:prstDash val="solid"/>
                    </a:lnB>
                    <a:solidFill>
                      <a:srgbClr val="FFFFFF"/>
                    </a:solidFill>
                  </a:tcPr>
                </a:tc>
              </a:tr>
              <a:tr h="457200">
                <a:tc>
                  <a:txBody>
                    <a:bodyPr anchor="ctr"/>
                    <a:lstStyle/>
                    <a:p>
                      <a:pPr algn="l"/>
                      <a:r>
                        <a:rPr sz="1800" b="0">
                          <a:solidFill>
                            <a:srgbClr val="092B3D"/>
                          </a:solidFill>
                          <a:latin typeface="Arial"/>
                          <a:ea typeface="Arial"/>
                          <a:cs typeface="Arial"/>
                        </a:rPr>
                        <a:t>Nguyễn Tùng Lâm</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24ITE055</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00" b="0">
                          <a:solidFill>
                            <a:srgbClr val="092B3D"/>
                          </a:solidFill>
                          <a:latin typeface="Arial"/>
                          <a:ea typeface="Arial"/>
                          <a:cs typeface="Arial"/>
                        </a:rPr>
                        <a:t>Chatbot và kết quả kiểm chứng</a:t>
                      </a:r>
                    </a:p>
                  </a:txBody>
                  <a:tcPr marL="133350" marR="133350" marT="95250" marB="95250">
                    <a:lnR w="9525">
                      <a:solidFill>
                        <a:srgbClr val="DFEAE6"/>
                      </a:solidFill>
                      <a:prstDash val="solid"/>
                    </a:lnR>
                    <a:lnB w="9525">
                      <a:solidFill>
                        <a:srgbClr val="DFEAE6"/>
                      </a:solidFill>
                      <a:prstDash val="solid"/>
                    </a:lnB>
                    <a:solidFill>
                      <a:srgbClr val="FFFFFF"/>
                    </a:solidFill>
                  </a:tcPr>
                </a:tc>
              </a:tr>
            </a:tbl>
          </a:graphicData>
        </a:graphic>
      </p:graphicFrame>
      <p:sp>
        <p:nvSpPr>
          <p:cNvPr id="9" name="text-14">
            <a:extLst xmlns:a="http://schemas.openxmlformats.org/drawingml/2006/main">
              <a:ext uri="{FF2B5EF4-FFF2-40B4-BE49-F238E27FC236}">
                <a16:creationId xmlns:a16="http://schemas.microsoft.com/office/drawing/2014/main" id="{1C359DBC-8CB6-4253-BAC5-B246F97A6F04}"/>
              </a:ext>
            </a:extLst>
          </p:cNvPr>
          <p:cNvSpPr>
            <a:spLocks xmlns:a="http://schemas.openxmlformats.org/drawingml/2006/main" noGrp="1"/>
          </p:cNvSpPr>
          <p:nvPr/>
        </p:nvSpPr>
        <p:spPr>
          <a:xfrm xmlns:a="http://schemas.openxmlformats.org/drawingml/2006/main">
            <a:off x="609600" y="485775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GVHD: ThS. Nguyễn Đỗ Công Pháp</a:t>
            </a:r>
          </a:p>
        </p:txBody>
      </p:sp>
    </p:spTree>
    <p:extLst>
      <p:ext uri="{BB962C8B-B14F-4D97-AF65-F5344CB8AC3E}">
        <p14:creationId xmlns:p14="http://schemas.microsoft.com/office/powerpoint/2010/main" val="717478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5">
            <a:extLst xmlns:a="http://schemas.openxmlformats.org/drawingml/2006/main">
              <a:ext uri="{FF2B5EF4-FFF2-40B4-BE49-F238E27FC236}">
                <a16:creationId xmlns:a16="http://schemas.microsoft.com/office/drawing/2014/main" id="{C371A325-C368-4CCC-BEFD-3E670075BD64}"/>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GIỚI THIỆU SẢN PHẨM</a:t>
            </a:r>
          </a:p>
        </p:txBody>
      </p:sp>
      <p:sp>
        <p:nvSpPr>
          <p:cNvPr id="2" name="slide-title">
            <a:extLst xmlns:a="http://schemas.openxmlformats.org/drawingml/2006/main">
              <a:ext uri="{FF2B5EF4-FFF2-40B4-BE49-F238E27FC236}">
                <a16:creationId xmlns:a16="http://schemas.microsoft.com/office/drawing/2014/main" id="{1D5F4FDC-C732-41ED-9CC8-8C8BC68D91A2}"/>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Nhu cầu quản lý tài chính hằng ngày</a:t>
            </a:r>
          </a:p>
        </p:txBody>
      </p:sp>
      <p:sp>
        <p:nvSpPr>
          <p:cNvPr id="3" name="text-16">
            <a:extLst xmlns:a="http://schemas.openxmlformats.org/drawingml/2006/main">
              <a:ext uri="{FF2B5EF4-FFF2-40B4-BE49-F238E27FC236}">
                <a16:creationId xmlns:a16="http://schemas.microsoft.com/office/drawing/2014/main" id="{7E610EAF-CC20-45B3-9AD5-484EF041A1A8}"/>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96FC6EF7-6A93-49B7-A5FD-FD6AB9A7A737}"/>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Ghi chép giúp biết tiền đã đi đâu. FinSight bổ sung ngân sách, lịch thanh toán và dự phóng để người dùng cân nhắc những khoản chi sắp tới.</a:t>
            </a:r>
          </a:p>
        </p:txBody>
      </p:sp>
      <p:sp>
        <p:nvSpPr>
          <p:cNvPr id="5" name="text-17">
            <a:extLst xmlns:a="http://schemas.openxmlformats.org/drawingml/2006/main">
              <a:ext uri="{FF2B5EF4-FFF2-40B4-BE49-F238E27FC236}">
                <a16:creationId xmlns:a16="http://schemas.microsoft.com/office/drawing/2014/main" id="{EC70224A-2301-425C-99A4-C967ABB9504B}"/>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Lê Như Đỉnh</a:t>
            </a:r>
          </a:p>
        </p:txBody>
      </p:sp>
      <p:sp>
        <p:nvSpPr>
          <p:cNvPr id="6" name="text-18">
            <a:extLst xmlns:a="http://schemas.openxmlformats.org/drawingml/2006/main">
              <a:ext uri="{FF2B5EF4-FFF2-40B4-BE49-F238E27FC236}">
                <a16:creationId xmlns:a16="http://schemas.microsoft.com/office/drawing/2014/main" id="{2ACBE87D-0B9F-4ACC-B227-0028FE1C89EC}"/>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03 / 17</a:t>
            </a:r>
          </a:p>
        </p:txBody>
      </p:sp>
      <p:sp>
        <p:nvSpPr>
          <p:cNvPr id="7" name="text-19">
            <a:extLst xmlns:a="http://schemas.openxmlformats.org/drawingml/2006/main">
              <a:ext uri="{FF2B5EF4-FFF2-40B4-BE49-F238E27FC236}">
                <a16:creationId xmlns:a16="http://schemas.microsoft.com/office/drawing/2014/main" id="{83DDDA0C-D5B9-4683-9313-FE3EB3F22DBE}"/>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Ảnh Dashboard với dữ liệu demo</a:t>
            </a:r>
          </a:p>
        </p:txBody>
      </p:sp>
      <p:sp>
        <p:nvSpPr>
          <p:cNvPr id="8" name="text-20">
            <a:extLst xmlns:a="http://schemas.openxmlformats.org/drawingml/2006/main">
              <a:ext uri="{FF2B5EF4-FFF2-40B4-BE49-F238E27FC236}">
                <a16:creationId xmlns:a16="http://schemas.microsoft.com/office/drawing/2014/main" id="{B1260218-3B95-4D8D-8B34-321D991772A6}"/>
              </a:ext>
            </a:extLst>
          </p:cNvPr>
          <p:cNvSpPr>
            <a:spLocks xmlns:a="http://schemas.openxmlformats.org/drawingml/2006/main" noGrp="1"/>
          </p:cNvSpPr>
          <p:nvPr/>
        </p:nvSpPr>
        <p:spPr>
          <a:xfrm xmlns:a="http://schemas.openxmlformats.org/drawingml/2006/main">
            <a:off x="609600" y="16859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Theo dõi hiện tại</a:t>
            </a:r>
          </a:p>
        </p:txBody>
      </p:sp>
      <p:sp>
        <p:nvSpPr>
          <p:cNvPr id="9" name="text-21">
            <a:extLst xmlns:a="http://schemas.openxmlformats.org/drawingml/2006/main">
              <a:ext uri="{FF2B5EF4-FFF2-40B4-BE49-F238E27FC236}">
                <a16:creationId xmlns:a16="http://schemas.microsoft.com/office/drawing/2014/main" id="{30D79022-6634-49CB-981C-37ABF5C5D69A}"/>
              </a:ext>
            </a:extLst>
          </p:cNvPr>
          <p:cNvSpPr>
            <a:spLocks xmlns:a="http://schemas.openxmlformats.org/drawingml/2006/main" noGrp="1"/>
          </p:cNvSpPr>
          <p:nvPr/>
        </p:nvSpPr>
        <p:spPr>
          <a:xfrm xmlns:a="http://schemas.openxmlformats.org/drawingml/2006/main">
            <a:off x="609600" y="216217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Ví, thu chi và danh mục giao dịch</a:t>
            </a:r>
          </a:p>
        </p:txBody>
      </p:sp>
      <p:sp>
        <p:nvSpPr>
          <p:cNvPr id="10" name="text-22">
            <a:extLst xmlns:a="http://schemas.openxmlformats.org/drawingml/2006/main">
              <a:ext uri="{FF2B5EF4-FFF2-40B4-BE49-F238E27FC236}">
                <a16:creationId xmlns:a16="http://schemas.microsoft.com/office/drawing/2014/main" id="{8C808A2E-E61F-472C-A0AA-424E0629B37B}"/>
              </a:ext>
            </a:extLst>
          </p:cNvPr>
          <p:cNvSpPr>
            <a:spLocks xmlns:a="http://schemas.openxmlformats.org/drawingml/2006/main" noGrp="1"/>
          </p:cNvSpPr>
          <p:nvPr/>
        </p:nvSpPr>
        <p:spPr>
          <a:xfrm xmlns:a="http://schemas.openxmlformats.org/drawingml/2006/main">
            <a:off x="609600" y="28860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Chuẩn bị cho khoản sắp đến</a:t>
            </a:r>
          </a:p>
        </p:txBody>
      </p:sp>
      <p:sp>
        <p:nvSpPr>
          <p:cNvPr id="11" name="text-23">
            <a:extLst xmlns:a="http://schemas.openxmlformats.org/drawingml/2006/main">
              <a:ext uri="{FF2B5EF4-FFF2-40B4-BE49-F238E27FC236}">
                <a16:creationId xmlns:a16="http://schemas.microsoft.com/office/drawing/2014/main" id="{CCE676A8-CDDE-47B7-B741-E9878C45D13A}"/>
              </a:ext>
            </a:extLst>
          </p:cNvPr>
          <p:cNvSpPr>
            <a:spLocks xmlns:a="http://schemas.openxmlformats.org/drawingml/2006/main" noGrp="1"/>
          </p:cNvSpPr>
          <p:nvPr/>
        </p:nvSpPr>
        <p:spPr>
          <a:xfrm xmlns:a="http://schemas.openxmlformats.org/drawingml/2006/main">
            <a:off x="609600" y="3362325"/>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92B3D"/>
                </a:solidFill>
                <a:latin typeface="Arial"/>
                <a:ea typeface="Arial"/>
                <a:cs typeface="Arial"/>
              </a:defRPr>
            </a:defPPr>
          </a:lstStyle>
          <a:p xmlns:a="http://schemas.openxmlformats.org/drawingml/2006/main">
            <a:pPr algn="l">
              <a:defRPr sz="1950" b="0">
                <a:solidFill>
                  <a:srgbClr val="092B3D"/>
                </a:solidFill>
                <a:latin typeface="Arial"/>
                <a:ea typeface="Arial"/>
                <a:cs typeface="Arial"/>
              </a:defRPr>
            </a:pPr>
            <a:r>
              <a:rPr sz="1950" b="0">
                <a:solidFill>
                  <a:srgbClr val="092B3D"/>
                </a:solidFill>
                <a:latin typeface="Arial"/>
                <a:ea typeface="Arial"/>
                <a:cs typeface="Arial"/>
              </a:rPr>
              <a:t>Ngân sách và lịch thanh toán</a:t>
            </a:r>
          </a:p>
        </p:txBody>
      </p:sp>
      <p:sp>
        <p:nvSpPr>
          <p:cNvPr id="12" name="text-24">
            <a:extLst xmlns:a="http://schemas.openxmlformats.org/drawingml/2006/main">
              <a:ext uri="{FF2B5EF4-FFF2-40B4-BE49-F238E27FC236}">
                <a16:creationId xmlns:a16="http://schemas.microsoft.com/office/drawing/2014/main" id="{274E5E3E-4E8E-452F-9E4D-4A39DE550ED6}"/>
              </a:ext>
            </a:extLst>
          </p:cNvPr>
          <p:cNvSpPr>
            <a:spLocks xmlns:a="http://schemas.openxmlformats.org/drawingml/2006/main" noGrp="1"/>
          </p:cNvSpPr>
          <p:nvPr/>
        </p:nvSpPr>
        <p:spPr>
          <a:xfrm xmlns:a="http://schemas.openxmlformats.org/drawingml/2006/main">
            <a:off x="609600" y="40862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Cân nhắc trước khi chi</a:t>
            </a:r>
          </a:p>
        </p:txBody>
      </p:sp>
      <p:sp>
        <p:nvSpPr>
          <p:cNvPr id="13" name="text-25">
            <a:extLst xmlns:a="http://schemas.openxmlformats.org/drawingml/2006/main">
              <a:ext uri="{FF2B5EF4-FFF2-40B4-BE49-F238E27FC236}">
                <a16:creationId xmlns:a16="http://schemas.microsoft.com/office/drawing/2014/main" id="{29C31043-CBBB-4622-A0E0-1C0DF87D2147}"/>
              </a:ext>
            </a:extLst>
          </p:cNvPr>
          <p:cNvSpPr>
            <a:spLocks xmlns:a="http://schemas.openxmlformats.org/drawingml/2006/main" noGrp="1"/>
          </p:cNvSpPr>
          <p:nvPr/>
        </p:nvSpPr>
        <p:spPr>
          <a:xfrm xmlns:a="http://schemas.openxmlformats.org/drawingml/2006/main">
            <a:off x="609600" y="45434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92B3D"/>
                </a:solidFill>
                <a:latin typeface="Arial"/>
                <a:ea typeface="Arial"/>
                <a:cs typeface="Arial"/>
              </a:defRPr>
            </a:defPPr>
          </a:lstStyle>
          <a:p xmlns:a="http://schemas.openxmlformats.org/drawingml/2006/main">
            <a:pPr algn="l">
              <a:defRPr sz="1875" b="0">
                <a:solidFill>
                  <a:srgbClr val="092B3D"/>
                </a:solidFill>
                <a:latin typeface="Arial"/>
                <a:ea typeface="Arial"/>
                <a:cs typeface="Arial"/>
              </a:defRPr>
            </a:pPr>
            <a:r>
              <a:rPr sz="1875" b="0">
                <a:solidFill>
                  <a:srgbClr val="092B3D"/>
                </a:solidFill>
                <a:latin typeface="Arial"/>
                <a:ea typeface="Arial"/>
                <a:cs typeface="Arial"/>
              </a:rPr>
              <a:t>Dự phóng số dư và kế hoạch tiết kiệm</a:t>
            </a:r>
          </a:p>
        </p:txBody>
      </p:sp>
      <p:pic>
        <p:nvPicPr>
          <p:cNvPr id="14" name="">
            <a:extLst xmlns:a="http://schemas.openxmlformats.org/drawingml/2006/main">
              <a:ext uri="{FF2B5EF4-FFF2-40B4-BE49-F238E27FC236}">
                <a16:creationId xmlns:a16="http://schemas.microsoft.com/office/drawing/2014/main" id="{9EB42C3A-3418-4604-8E09-27D4B4EFA2FF}"/>
              </a:ext>
            </a:extLst>
          </p:cNvPr>
          <p:cNvPicPr>
            <a:picLocks xmlns:a="http://schemas.openxmlformats.org/drawingml/2006/main" noChangeAspect="1"/>
          </p:cNvPicPr>
          <p:nvPr/>
        </p:nvPicPr>
        <p:blipFill>
          <a:blip xmlns:r="http://schemas.openxmlformats.org/officeDocument/2006/relationships" xmlns:a="http://schemas.openxmlformats.org/drawingml/2006/main" r:embed="R8e091adfad2f4d8a"/>
          <a:srcRect xmlns:a="http://schemas.openxmlformats.org/drawingml/2006/main" l="20000" t="14832" r="1944" b="51512"/>
          <a:stretch xmlns:a="http://schemas.openxmlformats.org/drawingml/2006/main"/>
        </p:blipFill>
        <p:spPr>
          <a:xfrm xmlns:a="http://schemas.openxmlformats.org/drawingml/2006/main">
            <a:off x="5943600" y="1801428"/>
            <a:ext cx="5638800" cy="2959868"/>
          </a:xfrm>
          <a:prstGeom xmlns:a="http://schemas.openxmlformats.org/drawingml/2006/main" prst="rect">
            <a:avLst/>
          </a:prstGeom>
        </p:spPr>
      </p:pic>
    </p:spTree>
    <p:extLst>
      <p:ext uri="{BB962C8B-B14F-4D97-AF65-F5344CB8AC3E}">
        <p14:creationId xmlns:p14="http://schemas.microsoft.com/office/powerpoint/2010/main" val="17417767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26">
            <a:extLst xmlns:a="http://schemas.openxmlformats.org/drawingml/2006/main">
              <a:ext uri="{FF2B5EF4-FFF2-40B4-BE49-F238E27FC236}">
                <a16:creationId xmlns:a16="http://schemas.microsoft.com/office/drawing/2014/main" id="{2887DDA2-BDFF-440F-8BF5-DFC1D86E82CC}"/>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GIỚI THIỆU SẢN PHẨM</a:t>
            </a:r>
          </a:p>
        </p:txBody>
      </p:sp>
      <p:sp>
        <p:nvSpPr>
          <p:cNvPr id="2" name="slide-title">
            <a:extLst xmlns:a="http://schemas.openxmlformats.org/drawingml/2006/main">
              <a:ext uri="{FF2B5EF4-FFF2-40B4-BE49-F238E27FC236}">
                <a16:creationId xmlns:a16="http://schemas.microsoft.com/office/drawing/2014/main" id="{63733814-F88F-45A6-81DF-2D3AED68A72C}"/>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Quy trình sử dụng và lập kế hoạch</a:t>
            </a:r>
          </a:p>
        </p:txBody>
      </p:sp>
      <p:sp>
        <p:nvSpPr>
          <p:cNvPr id="3" name="text-27">
            <a:extLst xmlns:a="http://schemas.openxmlformats.org/drawingml/2006/main">
              <a:ext uri="{FF2B5EF4-FFF2-40B4-BE49-F238E27FC236}">
                <a16:creationId xmlns:a16="http://schemas.microsoft.com/office/drawing/2014/main" id="{795F165F-386B-4F8E-B57A-05C92C1FAD64}"/>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E427BED8-55D9-4665-9455-7E72A15B183E}"/>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Sau khi ghi nhận giao dịch và lịch thanh toán, người dùng xem dòng tiền sắp tới rồi thử phương án điều chỉnh. Các kết quả mô phỏng giữ nguyên giao dịch đã lưu.</a:t>
            </a:r>
          </a:p>
        </p:txBody>
      </p:sp>
      <p:sp>
        <p:nvSpPr>
          <p:cNvPr id="5" name="text-28">
            <a:extLst xmlns:a="http://schemas.openxmlformats.org/drawingml/2006/main">
              <a:ext uri="{FF2B5EF4-FFF2-40B4-BE49-F238E27FC236}">
                <a16:creationId xmlns:a16="http://schemas.microsoft.com/office/drawing/2014/main" id="{565A32FF-D469-49FA-AE49-286A077C9B12}"/>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Lê Như Đỉnh</a:t>
            </a:r>
          </a:p>
        </p:txBody>
      </p:sp>
      <p:sp>
        <p:nvSpPr>
          <p:cNvPr id="6" name="text-29">
            <a:extLst xmlns:a="http://schemas.openxmlformats.org/drawingml/2006/main">
              <a:ext uri="{FF2B5EF4-FFF2-40B4-BE49-F238E27FC236}">
                <a16:creationId xmlns:a16="http://schemas.microsoft.com/office/drawing/2014/main" id="{297957C0-ECE3-4C35-80F9-4FCF11EF6760}"/>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04 / 17</a:t>
            </a:r>
          </a:p>
        </p:txBody>
      </p:sp>
      <p:sp>
        <p:nvSpPr>
          <p:cNvPr id="7" name="text-30">
            <a:extLst xmlns:a="http://schemas.openxmlformats.org/drawingml/2006/main">
              <a:ext uri="{FF2B5EF4-FFF2-40B4-BE49-F238E27FC236}">
                <a16:creationId xmlns:a16="http://schemas.microsoft.com/office/drawing/2014/main" id="{CA59FAC1-56CA-41C0-A9CC-B4E0598858DE}"/>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Advisor hỗ trợ kế hoạch 7, 14 hoặc 30 ngày. Ảnh dữ liệu demo.</a:t>
            </a:r>
          </a:p>
        </p:txBody>
      </p:sp>
      <p:sp>
        <p:nvSpPr>
          <p:cNvPr id="8" name="text-31">
            <a:extLst xmlns:a="http://schemas.openxmlformats.org/drawingml/2006/main">
              <a:ext uri="{FF2B5EF4-FFF2-40B4-BE49-F238E27FC236}">
                <a16:creationId xmlns:a16="http://schemas.microsoft.com/office/drawing/2014/main" id="{538D07D8-583B-4DA1-8936-91F66EA9B8CF}"/>
              </a:ext>
            </a:extLst>
          </p:cNvPr>
          <p:cNvSpPr>
            <a:spLocks xmlns:a="http://schemas.openxmlformats.org/drawingml/2006/main" noGrp="1"/>
          </p:cNvSpPr>
          <p:nvPr/>
        </p:nvSpPr>
        <p:spPr>
          <a:xfrm xmlns:a="http://schemas.openxmlformats.org/drawingml/2006/main">
            <a:off x="609600" y="16859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A63"/>
                </a:solidFill>
                <a:latin typeface="Arial"/>
                <a:ea typeface="Arial"/>
                <a:cs typeface="Arial"/>
              </a:defRPr>
            </a:defPPr>
          </a:lstStyle>
          <a:p xmlns:a="http://schemas.openxmlformats.org/drawingml/2006/main">
            <a:pPr algn="l">
              <a:defRPr sz="2400" b="1">
                <a:solidFill>
                  <a:srgbClr val="008A63"/>
                </a:solidFill>
                <a:latin typeface="Arial"/>
                <a:ea typeface="Arial"/>
                <a:cs typeface="Arial"/>
              </a:defRPr>
            </a:pPr>
            <a:r>
              <a:rPr sz="2400" b="1">
                <a:solidFill>
                  <a:srgbClr val="008A63"/>
                </a:solidFill>
                <a:latin typeface="Arial"/>
                <a:ea typeface="Arial"/>
                <a:cs typeface="Arial"/>
              </a:rPr>
              <a:t>01</a:t>
            </a:r>
          </a:p>
        </p:txBody>
      </p:sp>
      <p:sp>
        <p:nvSpPr>
          <p:cNvPr id="9" name="text-32">
            <a:extLst xmlns:a="http://schemas.openxmlformats.org/drawingml/2006/main">
              <a:ext uri="{FF2B5EF4-FFF2-40B4-BE49-F238E27FC236}">
                <a16:creationId xmlns:a16="http://schemas.microsoft.com/office/drawing/2014/main" id="{B00B91B2-C279-4E03-A05C-44E9A8E41B7C}"/>
              </a:ext>
            </a:extLst>
          </p:cNvPr>
          <p:cNvSpPr>
            <a:spLocks xmlns:a="http://schemas.openxmlformats.org/drawingml/2006/main" noGrp="1"/>
          </p:cNvSpPr>
          <p:nvPr/>
        </p:nvSpPr>
        <p:spPr>
          <a:xfrm xmlns:a="http://schemas.openxmlformats.org/drawingml/2006/main">
            <a:off x="1428750" y="170497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2B3D"/>
                </a:solidFill>
                <a:latin typeface="Arial"/>
                <a:ea typeface="Arial"/>
                <a:cs typeface="Arial"/>
              </a:defRPr>
            </a:defPPr>
          </a:lstStyle>
          <a:p xmlns:a="http://schemas.openxmlformats.org/drawingml/2006/main">
            <a:pPr algn="l">
              <a:defRPr sz="2250" b="1">
                <a:solidFill>
                  <a:srgbClr val="092B3D"/>
                </a:solidFill>
                <a:latin typeface="Arial"/>
                <a:ea typeface="Arial"/>
                <a:cs typeface="Arial"/>
              </a:defRPr>
            </a:pPr>
            <a:r>
              <a:rPr sz="2250" b="1">
                <a:solidFill>
                  <a:srgbClr val="092B3D"/>
                </a:solidFill>
                <a:latin typeface="Arial"/>
                <a:ea typeface="Arial"/>
                <a:cs typeface="Arial"/>
              </a:rPr>
              <a:t>Ghi nhận ví, thu chi và lịch thanh toán</a:t>
            </a:r>
          </a:p>
        </p:txBody>
      </p:sp>
      <p:sp>
        <p:nvSpPr>
          <p:cNvPr id="10" name="text-33">
            <a:extLst xmlns:a="http://schemas.openxmlformats.org/drawingml/2006/main">
              <a:ext uri="{FF2B5EF4-FFF2-40B4-BE49-F238E27FC236}">
                <a16:creationId xmlns:a16="http://schemas.microsoft.com/office/drawing/2014/main" id="{4848A73B-BC78-443B-A3FB-ADC4AC0AE4FA}"/>
              </a:ext>
            </a:extLst>
          </p:cNvPr>
          <p:cNvSpPr>
            <a:spLocks xmlns:a="http://schemas.openxmlformats.org/drawingml/2006/main" noGrp="1"/>
          </p:cNvSpPr>
          <p:nvPr/>
        </p:nvSpPr>
        <p:spPr>
          <a:xfrm xmlns:a="http://schemas.openxmlformats.org/drawingml/2006/main">
            <a:off x="609600" y="27813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A63"/>
                </a:solidFill>
                <a:latin typeface="Arial"/>
                <a:ea typeface="Arial"/>
                <a:cs typeface="Arial"/>
              </a:defRPr>
            </a:defPPr>
          </a:lstStyle>
          <a:p xmlns:a="http://schemas.openxmlformats.org/drawingml/2006/main">
            <a:pPr algn="l">
              <a:defRPr sz="2400" b="1">
                <a:solidFill>
                  <a:srgbClr val="008A63"/>
                </a:solidFill>
                <a:latin typeface="Arial"/>
                <a:ea typeface="Arial"/>
                <a:cs typeface="Arial"/>
              </a:defRPr>
            </a:pPr>
            <a:r>
              <a:rPr sz="2400" b="1">
                <a:solidFill>
                  <a:srgbClr val="008A63"/>
                </a:solidFill>
                <a:latin typeface="Arial"/>
                <a:ea typeface="Arial"/>
                <a:cs typeface="Arial"/>
              </a:rPr>
              <a:t>02</a:t>
            </a:r>
          </a:p>
        </p:txBody>
      </p:sp>
      <p:sp>
        <p:nvSpPr>
          <p:cNvPr id="11" name="text-34">
            <a:extLst xmlns:a="http://schemas.openxmlformats.org/drawingml/2006/main">
              <a:ext uri="{FF2B5EF4-FFF2-40B4-BE49-F238E27FC236}">
                <a16:creationId xmlns:a16="http://schemas.microsoft.com/office/drawing/2014/main" id="{88ACC526-4E6C-49AA-88B6-977ABFDCFE36}"/>
              </a:ext>
            </a:extLst>
          </p:cNvPr>
          <p:cNvSpPr>
            <a:spLocks xmlns:a="http://schemas.openxmlformats.org/drawingml/2006/main" noGrp="1"/>
          </p:cNvSpPr>
          <p:nvPr/>
        </p:nvSpPr>
        <p:spPr>
          <a:xfrm xmlns:a="http://schemas.openxmlformats.org/drawingml/2006/main">
            <a:off x="1428750" y="2800350"/>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2B3D"/>
                </a:solidFill>
                <a:latin typeface="Arial"/>
                <a:ea typeface="Arial"/>
                <a:cs typeface="Arial"/>
              </a:defRPr>
            </a:defPPr>
          </a:lstStyle>
          <a:p xmlns:a="http://schemas.openxmlformats.org/drawingml/2006/main">
            <a:pPr algn="l">
              <a:defRPr sz="2250" b="1">
                <a:solidFill>
                  <a:srgbClr val="092B3D"/>
                </a:solidFill>
                <a:latin typeface="Arial"/>
                <a:ea typeface="Arial"/>
                <a:cs typeface="Arial"/>
              </a:defRPr>
            </a:pPr>
            <a:r>
              <a:rPr sz="2250" b="1">
                <a:solidFill>
                  <a:srgbClr val="092B3D"/>
                </a:solidFill>
                <a:latin typeface="Arial"/>
                <a:ea typeface="Arial"/>
                <a:cs typeface="Arial"/>
              </a:rPr>
              <a:t>Xem số dư dự kiến và ngân sách cần chú ý</a:t>
            </a:r>
          </a:p>
        </p:txBody>
      </p:sp>
      <p:sp>
        <p:nvSpPr>
          <p:cNvPr id="12" name="text-35">
            <a:extLst xmlns:a="http://schemas.openxmlformats.org/drawingml/2006/main">
              <a:ext uri="{FF2B5EF4-FFF2-40B4-BE49-F238E27FC236}">
                <a16:creationId xmlns:a16="http://schemas.microsoft.com/office/drawing/2014/main" id="{309CCAB0-0E10-47E2-B7B1-701DB99C53E6}"/>
              </a:ext>
            </a:extLst>
          </p:cNvPr>
          <p:cNvSpPr>
            <a:spLocks xmlns:a="http://schemas.openxmlformats.org/drawingml/2006/main" noGrp="1"/>
          </p:cNvSpPr>
          <p:nvPr/>
        </p:nvSpPr>
        <p:spPr>
          <a:xfrm xmlns:a="http://schemas.openxmlformats.org/drawingml/2006/main">
            <a:off x="609600" y="40767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A63"/>
                </a:solidFill>
                <a:latin typeface="Arial"/>
                <a:ea typeface="Arial"/>
                <a:cs typeface="Arial"/>
              </a:defRPr>
            </a:defPPr>
          </a:lstStyle>
          <a:p xmlns:a="http://schemas.openxmlformats.org/drawingml/2006/main">
            <a:pPr algn="l">
              <a:defRPr sz="2400" b="1">
                <a:solidFill>
                  <a:srgbClr val="008A63"/>
                </a:solidFill>
                <a:latin typeface="Arial"/>
                <a:ea typeface="Arial"/>
                <a:cs typeface="Arial"/>
              </a:defRPr>
            </a:pPr>
            <a:r>
              <a:rPr sz="2400" b="1">
                <a:solidFill>
                  <a:srgbClr val="008A63"/>
                </a:solidFill>
                <a:latin typeface="Arial"/>
                <a:ea typeface="Arial"/>
                <a:cs typeface="Arial"/>
              </a:rPr>
              <a:t>03</a:t>
            </a:r>
          </a:p>
        </p:txBody>
      </p:sp>
      <p:sp>
        <p:nvSpPr>
          <p:cNvPr id="13" name="text-36">
            <a:extLst xmlns:a="http://schemas.openxmlformats.org/drawingml/2006/main">
              <a:ext uri="{FF2B5EF4-FFF2-40B4-BE49-F238E27FC236}">
                <a16:creationId xmlns:a16="http://schemas.microsoft.com/office/drawing/2014/main" id="{2BCCC520-F13A-4B71-B6F1-1DEFCBC6626A}"/>
              </a:ext>
            </a:extLst>
          </p:cNvPr>
          <p:cNvSpPr>
            <a:spLocks xmlns:a="http://schemas.openxmlformats.org/drawingml/2006/main" noGrp="1"/>
          </p:cNvSpPr>
          <p:nvPr/>
        </p:nvSpPr>
        <p:spPr>
          <a:xfrm xmlns:a="http://schemas.openxmlformats.org/drawingml/2006/main">
            <a:off x="1428750" y="4095750"/>
            <a:ext cx="733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2B3D"/>
                </a:solidFill>
                <a:latin typeface="Arial"/>
                <a:ea typeface="Arial"/>
                <a:cs typeface="Arial"/>
              </a:defRPr>
            </a:defPPr>
          </a:lstStyle>
          <a:p xmlns:a="http://schemas.openxmlformats.org/drawingml/2006/main">
            <a:pPr algn="l">
              <a:defRPr sz="2250" b="1">
                <a:solidFill>
                  <a:srgbClr val="092B3D"/>
                </a:solidFill>
                <a:latin typeface="Arial"/>
                <a:ea typeface="Arial"/>
                <a:cs typeface="Arial"/>
              </a:defRPr>
            </a:pPr>
            <a:r>
              <a:rPr sz="2250" b="1">
                <a:solidFill>
                  <a:srgbClr val="092B3D"/>
                </a:solidFill>
                <a:latin typeface="Arial"/>
                <a:ea typeface="Arial"/>
                <a:cs typeface="Arial"/>
              </a:rPr>
              <a:t>Thử giảm chi hoặc thêm khoản mua lớn</a:t>
            </a:r>
          </a:p>
        </p:txBody>
      </p:sp>
      <p:pic>
        <p:nvPicPr>
          <p:cNvPr id="14" name="">
            <a:extLst xmlns:a="http://schemas.openxmlformats.org/drawingml/2006/main">
              <a:ext uri="{FF2B5EF4-FFF2-40B4-BE49-F238E27FC236}">
                <a16:creationId xmlns:a16="http://schemas.microsoft.com/office/drawing/2014/main" id="{4D34F03E-7234-4100-BC12-6E368C0E3070}"/>
              </a:ext>
            </a:extLst>
          </p:cNvPr>
          <p:cNvPicPr>
            <a:picLocks xmlns:a="http://schemas.openxmlformats.org/drawingml/2006/main" noChangeAspect="1"/>
          </p:cNvPicPr>
          <p:nvPr/>
        </p:nvPicPr>
        <p:blipFill>
          <a:blip xmlns:r="http://schemas.openxmlformats.org/officeDocument/2006/relationships" xmlns:a="http://schemas.openxmlformats.org/drawingml/2006/main" r:embed="R8471b3667e144fb7"/>
          <a:srcRect xmlns:a="http://schemas.openxmlformats.org/drawingml/2006/main" l="0" t="0" r="0" b="86000"/>
          <a:stretch xmlns:a="http://schemas.openxmlformats.org/drawingml/2006/main"/>
        </p:blipFill>
        <p:spPr>
          <a:xfrm xmlns:a="http://schemas.openxmlformats.org/drawingml/2006/main">
            <a:off x="9758122" y="1562100"/>
            <a:ext cx="1648305" cy="3314700"/>
          </a:xfrm>
          <a:prstGeom xmlns:a="http://schemas.openxmlformats.org/drawingml/2006/main" prst="rect">
            <a:avLst/>
          </a:prstGeom>
        </p:spPr>
      </p:pic>
    </p:spTree>
    <p:extLst>
      <p:ext uri="{BB962C8B-B14F-4D97-AF65-F5344CB8AC3E}">
        <p14:creationId xmlns:p14="http://schemas.microsoft.com/office/powerpoint/2010/main" val="2706948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7">
            <a:extLst xmlns:a="http://schemas.openxmlformats.org/drawingml/2006/main">
              <a:ext uri="{FF2B5EF4-FFF2-40B4-BE49-F238E27FC236}">
                <a16:creationId xmlns:a16="http://schemas.microsoft.com/office/drawing/2014/main" id="{59547FE8-93F5-466E-AF27-25D27B428784}"/>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KIẾN TRÚC VÀ DỮ LIỆU</a:t>
            </a:r>
          </a:p>
        </p:txBody>
      </p:sp>
      <p:sp>
        <p:nvSpPr>
          <p:cNvPr id="2" name="slide-title">
            <a:extLst xmlns:a="http://schemas.openxmlformats.org/drawingml/2006/main">
              <a:ext uri="{FF2B5EF4-FFF2-40B4-BE49-F238E27FC236}">
                <a16:creationId xmlns:a16="http://schemas.microsoft.com/office/drawing/2014/main" id="{6D7ADC41-9E7D-46CD-82B2-EC6D2836DED7}"/>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Kiến trúc hệ thống</a:t>
            </a:r>
          </a:p>
        </p:txBody>
      </p:sp>
      <p:sp>
        <p:nvSpPr>
          <p:cNvPr id="3" name="text-38">
            <a:extLst xmlns:a="http://schemas.openxmlformats.org/drawingml/2006/main">
              <a:ext uri="{FF2B5EF4-FFF2-40B4-BE49-F238E27FC236}">
                <a16:creationId xmlns:a16="http://schemas.microsoft.com/office/drawing/2014/main" id="{3BA86EC5-5348-4981-95A1-F32CE85B43BA}"/>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EBC6FC65-488F-4A9D-8572-02DB183B132D}"/>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React hiển thị giao diện. Spring Boot xử lý nghiệp vụ và quyền dữ liệu. FastAPI cung cấp phân tích AI, còn MariaDB lưu thông tin tài chính.</a:t>
            </a:r>
          </a:p>
        </p:txBody>
      </p:sp>
      <p:sp>
        <p:nvSpPr>
          <p:cNvPr id="5" name="text-39">
            <a:extLst xmlns:a="http://schemas.openxmlformats.org/drawingml/2006/main">
              <a:ext uri="{FF2B5EF4-FFF2-40B4-BE49-F238E27FC236}">
                <a16:creationId xmlns:a16="http://schemas.microsoft.com/office/drawing/2014/main" id="{F3BCC97D-B2DE-4DE0-8D49-6F3907ADDD56}"/>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Nguyễn Đức Trí</a:t>
            </a:r>
          </a:p>
        </p:txBody>
      </p:sp>
      <p:sp>
        <p:nvSpPr>
          <p:cNvPr id="6" name="text-40">
            <a:extLst xmlns:a="http://schemas.openxmlformats.org/drawingml/2006/main">
              <a:ext uri="{FF2B5EF4-FFF2-40B4-BE49-F238E27FC236}">
                <a16:creationId xmlns:a16="http://schemas.microsoft.com/office/drawing/2014/main" id="{9935E8B4-1109-4F6E-9415-303D832B117B}"/>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05 / 17</a:t>
            </a:r>
          </a:p>
        </p:txBody>
      </p:sp>
      <p:pic>
        <p:nvPicPr>
          <p:cNvPr id="7" name="">
            <a:extLst xmlns:a="http://schemas.openxmlformats.org/drawingml/2006/main">
              <a:ext uri="{FF2B5EF4-FFF2-40B4-BE49-F238E27FC236}">
                <a16:creationId xmlns:a16="http://schemas.microsoft.com/office/drawing/2014/main" id="{154D0542-65E6-4D6B-B9FD-72761BCE53E3}"/>
              </a:ext>
            </a:extLst>
          </p:cNvPr>
          <p:cNvPicPr>
            <a:picLocks xmlns:a="http://schemas.openxmlformats.org/drawingml/2006/main" noChangeAspect="1"/>
          </p:cNvPicPr>
          <p:nvPr/>
        </p:nvPicPr>
        <p:blipFill>
          <a:blip xmlns:r="http://schemas.openxmlformats.org/officeDocument/2006/relationships" xmlns:a="http://schemas.openxmlformats.org/drawingml/2006/main" r:embed="Re3ee61cd2c3c4b03"/>
          <a:srcRect xmlns:a="http://schemas.openxmlformats.org/drawingml/2006/main" l="3000" t="10000" r="3000" b="8000"/>
          <a:stretch xmlns:a="http://schemas.openxmlformats.org/drawingml/2006/main"/>
        </p:blipFill>
        <p:spPr>
          <a:xfrm xmlns:a="http://schemas.openxmlformats.org/drawingml/2006/main">
            <a:off x="2322492" y="1457325"/>
            <a:ext cx="7547015" cy="3705225"/>
          </a:xfrm>
          <a:prstGeom xmlns:a="http://schemas.openxmlformats.org/drawingml/2006/main" prst="rect">
            <a:avLst/>
          </a:prstGeom>
        </p:spPr>
      </p:pic>
    </p:spTree>
    <p:extLst>
      <p:ext uri="{BB962C8B-B14F-4D97-AF65-F5344CB8AC3E}">
        <p14:creationId xmlns:p14="http://schemas.microsoft.com/office/powerpoint/2010/main" val="14212539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1">
            <a:extLst xmlns:a="http://schemas.openxmlformats.org/drawingml/2006/main">
              <a:ext uri="{FF2B5EF4-FFF2-40B4-BE49-F238E27FC236}">
                <a16:creationId xmlns:a16="http://schemas.microsoft.com/office/drawing/2014/main" id="{A03F3D17-A5D8-42D9-ABE6-E2EB858F4412}"/>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KIẾN TRÚC VÀ DỮ LIỆU</a:t>
            </a:r>
          </a:p>
        </p:txBody>
      </p:sp>
      <p:sp>
        <p:nvSpPr>
          <p:cNvPr id="2" name="slide-title">
            <a:extLst xmlns:a="http://schemas.openxmlformats.org/drawingml/2006/main">
              <a:ext uri="{FF2B5EF4-FFF2-40B4-BE49-F238E27FC236}">
                <a16:creationId xmlns:a16="http://schemas.microsoft.com/office/drawing/2014/main" id="{BCA612EA-E8D4-4D3C-AECF-3890DF2CC060}"/>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Schema và cách quản lý số tiền</a:t>
            </a:r>
          </a:p>
        </p:txBody>
      </p:sp>
      <p:sp>
        <p:nvSpPr>
          <p:cNvPr id="3" name="text-42">
            <a:extLst xmlns:a="http://schemas.openxmlformats.org/drawingml/2006/main">
              <a:ext uri="{FF2B5EF4-FFF2-40B4-BE49-F238E27FC236}">
                <a16:creationId xmlns:a16="http://schemas.microsoft.com/office/drawing/2014/main" id="{57E7EB4D-D093-4DDE-A00B-B2734455A579}"/>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EE0A4013-9089-43FB-B6E3-285EF8349909}"/>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Schema mô tả các bảng và quan hệ dữ liệu. Hệ thống dùng số thập phân để tính tiền và kiểm tra chủ sở hữu khi đọc hoặc cập nhật.</a:t>
            </a:r>
          </a:p>
        </p:txBody>
      </p:sp>
      <p:sp>
        <p:nvSpPr>
          <p:cNvPr id="5" name="text-43">
            <a:extLst xmlns:a="http://schemas.openxmlformats.org/drawingml/2006/main">
              <a:ext uri="{FF2B5EF4-FFF2-40B4-BE49-F238E27FC236}">
                <a16:creationId xmlns:a16="http://schemas.microsoft.com/office/drawing/2014/main" id="{EECC6831-18FD-4559-972F-14A6B4690152}"/>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Nguyễn Đức Trí</a:t>
            </a:r>
          </a:p>
        </p:txBody>
      </p:sp>
      <p:sp>
        <p:nvSpPr>
          <p:cNvPr id="6" name="text-44">
            <a:extLst xmlns:a="http://schemas.openxmlformats.org/drawingml/2006/main">
              <a:ext uri="{FF2B5EF4-FFF2-40B4-BE49-F238E27FC236}">
                <a16:creationId xmlns:a16="http://schemas.microsoft.com/office/drawing/2014/main" id="{199CCEE0-229F-4584-82DB-788A51C47560}"/>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06 / 17</a:t>
            </a:r>
          </a:p>
        </p:txBody>
      </p:sp>
      <p:graphicFrame>
        <p:nvGraphicFramePr>
          <p:cNvPr id="7" name="">
            <a:extLst xmlns:a="http://schemas.openxmlformats.org/drawingml/2006/main">
              <a:ext uri="{FF2B5EF4-FFF2-40B4-BE49-F238E27FC236}">
                <a16:creationId xmlns:a16="http://schemas.microsoft.com/office/drawing/2014/main" id="{FF64ABEC-8576-4416-9A22-24FCFC458FDD}"/>
              </a:ext>
            </a:extLst>
          </p:cNvPr>
          <p:cNvGraphicFramePr/>
          <p:nvPr/>
        </p:nvGraphicFramePr>
        <p:xfrm>
          <a:off xmlns:a="http://schemas.openxmlformats.org/drawingml/2006/main" x="609600" y="1752600"/>
          <a:ext xmlns:a="http://schemas.openxmlformats.org/drawingml/2006/main" cx="10972800" cy="2876550"/>
        </p:xfrm>
        <a:graphic xmlns:a="http://schemas.openxmlformats.org/drawingml/2006/main">
          <a:graphicData uri="http://schemas.openxmlformats.org/drawingml/2006/table">
            <a:tbl>
              <a:tblPr/>
              <a:tblGrid>
                <a:gridCol w="2238375"/>
                <a:gridCol w="4000500"/>
                <a:gridCol w="4733925"/>
              </a:tblGrid>
              <a:tr h="719138">
                <a:tc>
                  <a:txBody>
                    <a:bodyPr anchor="ctr"/>
                    <a:lstStyle/>
                    <a:p>
                      <a:pPr algn="l"/>
                      <a:r>
                        <a:rPr sz="1875" b="1">
                          <a:solidFill>
                            <a:srgbClr val="FFFFFF"/>
                          </a:solidFill>
                          <a:latin typeface="Arial"/>
                          <a:ea typeface="Arial"/>
                          <a:cs typeface="Arial"/>
                        </a:rPr>
                        <a:t>Nội dung</a:t>
                      </a:r>
                    </a:p>
                  </a:txBody>
                  <a:tcPr marL="133350" marR="133350" marT="95250" marB="95250">
                    <a:lnL w="9525">
                      <a:solidFill>
                        <a:srgbClr val="DFEAE6"/>
                      </a:solidFill>
                      <a:prstDash val="solid"/>
                    </a:lnL>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1875" b="1">
                          <a:solidFill>
                            <a:srgbClr val="FFFFFF"/>
                          </a:solidFill>
                          <a:latin typeface="Arial"/>
                          <a:ea typeface="Arial"/>
                          <a:cs typeface="Arial"/>
                        </a:rPr>
                        <a:t>Cách thiết kế</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1875" b="1">
                          <a:solidFill>
                            <a:srgbClr val="FFFFFF"/>
                          </a:solidFill>
                          <a:latin typeface="Arial"/>
                          <a:ea typeface="Arial"/>
                          <a:cs typeface="Arial"/>
                        </a:rPr>
                        <a:t>Ý nghĩa</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r>
              <a:tr h="719138">
                <a:tc>
                  <a:txBody>
                    <a:bodyPr anchor="ctr"/>
                    <a:lstStyle/>
                    <a:p>
                      <a:pPr algn="l"/>
                      <a:r>
                        <a:rPr sz="1875" b="0">
                          <a:solidFill>
                            <a:srgbClr val="092B3D"/>
                          </a:solidFill>
                          <a:latin typeface="Arial"/>
                          <a:ea typeface="Arial"/>
                          <a:cs typeface="Arial"/>
                        </a:rPr>
                        <a:t>Schema</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Ví, giao dịch, ngân sách</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Tổ chức và liên kết dữ liệu</a:t>
                      </a:r>
                    </a:p>
                  </a:txBody>
                  <a:tcPr marL="133350" marR="133350" marT="95250" marB="95250">
                    <a:lnR w="9525">
                      <a:solidFill>
                        <a:srgbClr val="DFEAE6"/>
                      </a:solidFill>
                      <a:prstDash val="solid"/>
                    </a:lnR>
                    <a:lnB w="9525">
                      <a:solidFill>
                        <a:srgbClr val="DFEAE6"/>
                      </a:solidFill>
                      <a:prstDash val="solid"/>
                    </a:lnB>
                    <a:solidFill>
                      <a:srgbClr val="FFFFFF"/>
                    </a:solidFill>
                  </a:tcPr>
                </a:tc>
              </a:tr>
              <a:tr h="719138">
                <a:tc>
                  <a:txBody>
                    <a:bodyPr anchor="ctr"/>
                    <a:lstStyle/>
                    <a:p>
                      <a:pPr algn="l"/>
                      <a:r>
                        <a:rPr sz="1875" b="0">
                          <a:solidFill>
                            <a:srgbClr val="092B3D"/>
                          </a:solidFill>
                          <a:latin typeface="Arial"/>
                          <a:ea typeface="Arial"/>
                          <a:cs typeface="Arial"/>
                        </a:rPr>
                        <a:t>Số tiền</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DECIMAL và BigDecimal</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Hạn chế sai số thập phân</a:t>
                      </a:r>
                    </a:p>
                  </a:txBody>
                  <a:tcPr marL="133350" marR="133350" marT="95250" marB="95250">
                    <a:lnR w="9525">
                      <a:solidFill>
                        <a:srgbClr val="DFEAE6"/>
                      </a:solidFill>
                      <a:prstDash val="solid"/>
                    </a:lnR>
                    <a:lnB w="9525">
                      <a:solidFill>
                        <a:srgbClr val="DFEAE6"/>
                      </a:solidFill>
                      <a:prstDash val="solid"/>
                    </a:lnB>
                    <a:solidFill>
                      <a:srgbClr val="FFFFFF"/>
                    </a:solidFill>
                  </a:tcPr>
                </a:tc>
              </a:tr>
              <a:tr h="719138">
                <a:tc>
                  <a:txBody>
                    <a:bodyPr anchor="ctr"/>
                    <a:lstStyle/>
                    <a:p>
                      <a:pPr algn="l"/>
                      <a:r>
                        <a:rPr sz="1875" b="0">
                          <a:solidFill>
                            <a:srgbClr val="092B3D"/>
                          </a:solidFill>
                          <a:latin typeface="Arial"/>
                          <a:ea typeface="Arial"/>
                          <a:cs typeface="Arial"/>
                        </a:rPr>
                        <a:t>Chủ sở hữu</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Xác định từ phiên đăng nhập</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Dữ liệu riêng theo tài khoản</a:t>
                      </a:r>
                    </a:p>
                  </a:txBody>
                  <a:tcPr marL="133350" marR="133350" marT="95250" marB="95250">
                    <a:lnR w="9525">
                      <a:solidFill>
                        <a:srgbClr val="DFEAE6"/>
                      </a:solidFill>
                      <a:prstDash val="solid"/>
                    </a:lnR>
                    <a:lnB w="9525">
                      <a:solidFill>
                        <a:srgbClr val="DFEAE6"/>
                      </a:solidFill>
                      <a:prstDash val="solid"/>
                    </a:lnB>
                    <a:solidFill>
                      <a:srgbClr val="FFFFFF"/>
                    </a:solidFill>
                  </a:tcPr>
                </a:tc>
              </a:tr>
            </a:tbl>
          </a:graphicData>
        </a:graphic>
      </p:graphicFrame>
      <p:sp>
        <p:nvSpPr>
          <p:cNvPr id="8" name="text-45">
            <a:extLst xmlns:a="http://schemas.openxmlformats.org/drawingml/2006/main">
              <a:ext uri="{FF2B5EF4-FFF2-40B4-BE49-F238E27FC236}">
                <a16:creationId xmlns:a16="http://schemas.microsoft.com/office/drawing/2014/main" id="{CB891B93-FEAF-4C8C-9CEA-5222C9E954BE}"/>
              </a:ext>
            </a:extLst>
          </p:cNvPr>
          <p:cNvSpPr>
            <a:spLocks xmlns:a="http://schemas.openxmlformats.org/drawingml/2006/main" noGrp="1"/>
          </p:cNvSpPr>
          <p:nvPr/>
        </p:nvSpPr>
        <p:spPr>
          <a:xfrm xmlns:a="http://schemas.openxmlformats.org/drawingml/2006/main">
            <a:off x="609600" y="4810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8A63"/>
                </a:solidFill>
                <a:latin typeface="Arial"/>
                <a:ea typeface="Arial"/>
                <a:cs typeface="Arial"/>
              </a:defRPr>
            </a:defPPr>
          </a:lstStyle>
          <a:p xmlns:a="http://schemas.openxmlformats.org/drawingml/2006/main">
            <a:pPr algn="l">
              <a:defRPr sz="1800" b="0">
                <a:solidFill>
                  <a:srgbClr val="008A63"/>
                </a:solidFill>
                <a:latin typeface="Arial"/>
                <a:ea typeface="Arial"/>
                <a:cs typeface="Arial"/>
              </a:defRPr>
            </a:pPr>
            <a:r>
              <a:rPr sz="1800" b="0">
                <a:solidFill>
                  <a:srgbClr val="008A63"/>
                </a:solidFill>
                <a:latin typeface="Arial"/>
                <a:ea typeface="Arial"/>
                <a:cs typeface="Arial"/>
              </a:rPr>
              <a:t>Ví dụ: mỗi giao dịch thuộc một ví, mỗi ví thuộc một tài khoản</a:t>
            </a:r>
          </a:p>
        </p:txBody>
      </p:sp>
    </p:spTree>
    <p:extLst>
      <p:ext uri="{BB962C8B-B14F-4D97-AF65-F5344CB8AC3E}">
        <p14:creationId xmlns:p14="http://schemas.microsoft.com/office/powerpoint/2010/main" val="20164709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6">
            <a:extLst xmlns:a="http://schemas.openxmlformats.org/drawingml/2006/main">
              <a:ext uri="{FF2B5EF4-FFF2-40B4-BE49-F238E27FC236}">
                <a16:creationId xmlns:a16="http://schemas.microsoft.com/office/drawing/2014/main" id="{51B8D658-BE32-4256-94C5-FCD5E44211A5}"/>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KIẾN TRÚC VÀ DỮ LIỆU</a:t>
            </a:r>
          </a:p>
        </p:txBody>
      </p:sp>
      <p:sp>
        <p:nvSpPr>
          <p:cNvPr id="2" name="slide-title">
            <a:extLst xmlns:a="http://schemas.openxmlformats.org/drawingml/2006/main">
              <a:ext uri="{FF2B5EF4-FFF2-40B4-BE49-F238E27FC236}">
                <a16:creationId xmlns:a16="http://schemas.microsoft.com/office/drawing/2014/main" id="{29CBB419-7707-428D-8C77-BA6719416732}"/>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Transaction giữ dữ liệu nhất quán</a:t>
            </a:r>
          </a:p>
        </p:txBody>
      </p:sp>
      <p:sp>
        <p:nvSpPr>
          <p:cNvPr id="3" name="text-47">
            <a:extLst xmlns:a="http://schemas.openxmlformats.org/drawingml/2006/main">
              <a:ext uri="{FF2B5EF4-FFF2-40B4-BE49-F238E27FC236}">
                <a16:creationId xmlns:a16="http://schemas.microsoft.com/office/drawing/2014/main" id="{E08C306B-3E04-436A-857D-2D4CBD0744F4}"/>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0B922044-349E-4E25-9389-3FF0F67F91B6}"/>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Chuyển tiền cần trừ và cộng cùng nhau. Khi nhập file gặp lỗi, thao tác được hoàn tác. Khóa bản ghi giúp các yêu cầu đồng thời cập nhật số dư nhất quán.</a:t>
            </a:r>
          </a:p>
        </p:txBody>
      </p:sp>
      <p:sp>
        <p:nvSpPr>
          <p:cNvPr id="5" name="text-48">
            <a:extLst xmlns:a="http://schemas.openxmlformats.org/drawingml/2006/main">
              <a:ext uri="{FF2B5EF4-FFF2-40B4-BE49-F238E27FC236}">
                <a16:creationId xmlns:a16="http://schemas.microsoft.com/office/drawing/2014/main" id="{CEEFAC54-5BC5-47EA-A1C0-97DD132B4A26}"/>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Nguyễn Đức Trí</a:t>
            </a:r>
          </a:p>
        </p:txBody>
      </p:sp>
      <p:sp>
        <p:nvSpPr>
          <p:cNvPr id="6" name="text-49">
            <a:extLst xmlns:a="http://schemas.openxmlformats.org/drawingml/2006/main">
              <a:ext uri="{FF2B5EF4-FFF2-40B4-BE49-F238E27FC236}">
                <a16:creationId xmlns:a16="http://schemas.microsoft.com/office/drawing/2014/main" id="{B78597E9-CD0B-4042-998D-17C436F9306D}"/>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07 / 17</a:t>
            </a:r>
          </a:p>
        </p:txBody>
      </p:sp>
      <p:sp>
        <p:nvSpPr>
          <p:cNvPr id="7" name="text-50">
            <a:extLst xmlns:a="http://schemas.openxmlformats.org/drawingml/2006/main">
              <a:ext uri="{FF2B5EF4-FFF2-40B4-BE49-F238E27FC236}">
                <a16:creationId xmlns:a16="http://schemas.microsoft.com/office/drawing/2014/main" id="{32D3CA52-C922-4623-B87D-66A4F2C06494}"/>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Ca kiểm thử tổng hợp: hai file CSV, mỗi file 200 dòng</a:t>
            </a:r>
          </a:p>
        </p:txBody>
      </p:sp>
      <p:sp>
        <p:nvSpPr>
          <p:cNvPr id="8" name="text-51">
            <a:extLst xmlns:a="http://schemas.openxmlformats.org/drawingml/2006/main">
              <a:ext uri="{FF2B5EF4-FFF2-40B4-BE49-F238E27FC236}">
                <a16:creationId xmlns:a16="http://schemas.microsoft.com/office/drawing/2014/main" id="{849A455C-758E-4257-97E6-1924D529C88A}"/>
              </a:ext>
            </a:extLst>
          </p:cNvPr>
          <p:cNvSpPr>
            <a:spLocks xmlns:a="http://schemas.openxmlformats.org/drawingml/2006/main" noGrp="1"/>
          </p:cNvSpPr>
          <p:nvPr/>
        </p:nvSpPr>
        <p:spPr>
          <a:xfrm xmlns:a="http://schemas.openxmlformats.org/drawingml/2006/main">
            <a:off x="609600" y="1714500"/>
            <a:ext cx="5286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A63"/>
                </a:solidFill>
                <a:latin typeface="Arial"/>
                <a:ea typeface="Arial"/>
                <a:cs typeface="Arial"/>
              </a:defRPr>
            </a:defPPr>
          </a:lstStyle>
          <a:p xmlns:a="http://schemas.openxmlformats.org/drawingml/2006/main">
            <a:pPr algn="l">
              <a:defRPr sz="2325" b="1">
                <a:solidFill>
                  <a:srgbClr val="008A63"/>
                </a:solidFill>
                <a:latin typeface="Arial"/>
                <a:ea typeface="Arial"/>
                <a:cs typeface="Arial"/>
              </a:defRPr>
            </a:pPr>
            <a:r>
              <a:rPr sz="2325" b="1">
                <a:solidFill>
                  <a:srgbClr val="008A63"/>
                </a:solidFill>
                <a:latin typeface="Arial"/>
                <a:ea typeface="Arial"/>
                <a:cs typeface="Arial"/>
              </a:rPr>
              <a:t>Cùng thành công hoặc hoàn tác</a:t>
            </a:r>
          </a:p>
        </p:txBody>
      </p:sp>
      <p:sp>
        <p:nvSpPr>
          <p:cNvPr id="9" name="text-52">
            <a:extLst xmlns:a="http://schemas.openxmlformats.org/drawingml/2006/main">
              <a:ext uri="{FF2B5EF4-FFF2-40B4-BE49-F238E27FC236}">
                <a16:creationId xmlns:a16="http://schemas.microsoft.com/office/drawing/2014/main" id="{86368CFD-DCD6-400D-B0A9-2AF6C61239EC}"/>
              </a:ext>
            </a:extLst>
          </p:cNvPr>
          <p:cNvSpPr>
            <a:spLocks xmlns:a="http://schemas.openxmlformats.org/drawingml/2006/main" noGrp="1"/>
          </p:cNvSpPr>
          <p:nvPr/>
        </p:nvSpPr>
        <p:spPr>
          <a:xfrm xmlns:a="http://schemas.openxmlformats.org/drawingml/2006/main">
            <a:off x="609600" y="2600325"/>
            <a:ext cx="5286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Chuyển ví và nhập CSV chạy</a:t>
            </a:r>
          </a:p>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trong transaction</a:t>
            </a:r>
          </a:p>
        </p:txBody>
      </p:sp>
      <p:sp>
        <p:nvSpPr>
          <p:cNvPr id="10" name="text-53">
            <a:extLst xmlns:a="http://schemas.openxmlformats.org/drawingml/2006/main">
              <a:ext uri="{FF2B5EF4-FFF2-40B4-BE49-F238E27FC236}">
                <a16:creationId xmlns:a16="http://schemas.microsoft.com/office/drawing/2014/main" id="{AD83271F-1432-4551-9948-85B7E2634407}"/>
              </a:ext>
            </a:extLst>
          </p:cNvPr>
          <p:cNvSpPr>
            <a:spLocks xmlns:a="http://schemas.openxmlformats.org/drawingml/2006/main" noGrp="1"/>
          </p:cNvSpPr>
          <p:nvPr/>
        </p:nvSpPr>
        <p:spPr>
          <a:xfrm xmlns:a="http://schemas.openxmlformats.org/drawingml/2006/main">
            <a:off x="609600" y="3905250"/>
            <a:ext cx="5286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Phiên đăng nhập, CSRF</a:t>
            </a:r>
          </a:p>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và khóa bản ghi</a:t>
            </a:r>
          </a:p>
        </p:txBody>
      </p:sp>
      <p:sp>
        <p:nvSpPr>
          <p:cNvPr id="11" name="text-54">
            <a:extLst xmlns:a="http://schemas.openxmlformats.org/drawingml/2006/main">
              <a:ext uri="{FF2B5EF4-FFF2-40B4-BE49-F238E27FC236}">
                <a16:creationId xmlns:a16="http://schemas.microsoft.com/office/drawing/2014/main" id="{6397FAE4-01E4-47AC-B9AB-73927B19C908}"/>
              </a:ext>
            </a:extLst>
          </p:cNvPr>
          <p:cNvSpPr>
            <a:spLocks xmlns:a="http://schemas.openxmlformats.org/drawingml/2006/main" noGrp="1"/>
          </p:cNvSpPr>
          <p:nvPr/>
        </p:nvSpPr>
        <p:spPr>
          <a:xfrm xmlns:a="http://schemas.openxmlformats.org/drawingml/2006/main">
            <a:off x="6324600" y="1647825"/>
            <a:ext cx="5257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92B3D"/>
                </a:solidFill>
                <a:latin typeface="Arial"/>
                <a:ea typeface="Arial"/>
                <a:cs typeface="Arial"/>
              </a:defRPr>
            </a:defPPr>
          </a:lstStyle>
          <a:p xmlns:a="http://schemas.openxmlformats.org/drawingml/2006/main">
            <a:pPr algn="l">
              <a:defRPr sz="1950" b="1">
                <a:solidFill>
                  <a:srgbClr val="092B3D"/>
                </a:solidFill>
                <a:latin typeface="Arial"/>
                <a:ea typeface="Arial"/>
                <a:cs typeface="Arial"/>
              </a:defRPr>
            </a:pPr>
            <a:r>
              <a:rPr sz="1950" b="1">
                <a:solidFill>
                  <a:srgbClr val="092B3D"/>
                </a:solidFill>
                <a:latin typeface="Arial"/>
                <a:ea typeface="Arial"/>
                <a:cs typeface="Arial"/>
              </a:rPr>
              <a:t>Số giao dịch sau hai lần nhập đồng thời</a:t>
            </a:r>
          </a:p>
        </p:txBody>
      </p:sp>
      <p:graphicFrame>
        <p:nvGraphicFramePr>
          <p:cNvPr id="12" name="Chart">
            <a:extLst xmlns:a="http://schemas.openxmlformats.org/drawingml/2006/main">
              <a:ext uri="{FF2B5EF4-FFF2-40B4-BE49-F238E27FC236}">
                <a16:creationId xmlns:a16="http://schemas.microsoft.com/office/drawing/2014/main" id="{14E878AC-94AA-4F77-8E95-9D6E70A1CB3E}"/>
              </a:ext>
            </a:extLst>
          </p:cNvPr>
          <p:cNvGraphicFramePr/>
          <p:nvPr/>
        </p:nvGraphicFramePr>
        <p:xfrm>
          <a:off xmlns:a="http://schemas.openxmlformats.org/drawingml/2006/main" x="6381750" y="2362200"/>
          <a:ext xmlns:a="http://schemas.openxmlformats.org/drawingml/2006/main" cx="5143500" cy="2476500"/>
        </p:xfrm>
        <a:graphic xmlns:a="http://schemas.openxmlformats.org/drawingml/2006/main">
          <a:graphicData uri="http://schemas.openxmlformats.org/drawingml/2006/chart">
            <c:chart xmlns:r="http://schemas.openxmlformats.org/officeDocument/2006/relationships" xmlns:c="http://schemas.openxmlformats.org/drawingml/2006/chart" r:id="R309205a8c3224570"/>
          </a:graphicData>
        </a:graphic>
      </p:graphicFrame>
    </p:spTree>
    <p:extLst>
      <p:ext uri="{BB962C8B-B14F-4D97-AF65-F5344CB8AC3E}">
        <p14:creationId xmlns:p14="http://schemas.microsoft.com/office/powerpoint/2010/main" val="3241455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55">
            <a:extLst xmlns:a="http://schemas.openxmlformats.org/drawingml/2006/main">
              <a:ext uri="{FF2B5EF4-FFF2-40B4-BE49-F238E27FC236}">
                <a16:creationId xmlns:a16="http://schemas.microsoft.com/office/drawing/2014/main" id="{B9F76E81-A288-4040-9ABB-1B0F7570B22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HUẤN LUYỆN VÀ DỰ BÁO</a:t>
            </a:r>
          </a:p>
        </p:txBody>
      </p:sp>
      <p:sp>
        <p:nvSpPr>
          <p:cNvPr id="2" name="slide-title">
            <a:extLst xmlns:a="http://schemas.openxmlformats.org/drawingml/2006/main">
              <a:ext uri="{FF2B5EF4-FFF2-40B4-BE49-F238E27FC236}">
                <a16:creationId xmlns:a16="http://schemas.microsoft.com/office/drawing/2014/main" id="{E146E951-39A3-4FD5-A4A8-EC885D8D2751}"/>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Dữ liệu và cách kiểm chứng mô hình</a:t>
            </a:r>
          </a:p>
        </p:txBody>
      </p:sp>
      <p:sp>
        <p:nvSpPr>
          <p:cNvPr id="3" name="text-56">
            <a:extLst xmlns:a="http://schemas.openxmlformats.org/drawingml/2006/main">
              <a:ext uri="{FF2B5EF4-FFF2-40B4-BE49-F238E27FC236}">
                <a16:creationId xmlns:a16="http://schemas.microsoft.com/office/drawing/2014/main" id="{7BDB8356-FAEE-441E-9002-C28B0C1C709D}"/>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E488E857-9471-4E42-9FC9-B178B4CBD69C}"/>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Nhóm tách dữ liệu để huấn luyện, chọn mô hình và kiểm tra riêng. Các kết quả hiện tại đo trên dữ liệu tổng hợp, nên cần đánh giá thêm với người dùng thực.</a:t>
            </a:r>
          </a:p>
        </p:txBody>
      </p:sp>
      <p:sp>
        <p:nvSpPr>
          <p:cNvPr id="5" name="text-57">
            <a:extLst xmlns:a="http://schemas.openxmlformats.org/drawingml/2006/main">
              <a:ext uri="{FF2B5EF4-FFF2-40B4-BE49-F238E27FC236}">
                <a16:creationId xmlns:a16="http://schemas.microsoft.com/office/drawing/2014/main" id="{EAA083F4-24C1-448F-8CA1-CBC487FC5BF5}"/>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Trần Minh Nhật</a:t>
            </a:r>
          </a:p>
        </p:txBody>
      </p:sp>
      <p:sp>
        <p:nvSpPr>
          <p:cNvPr id="6" name="text-58">
            <a:extLst xmlns:a="http://schemas.openxmlformats.org/drawingml/2006/main">
              <a:ext uri="{FF2B5EF4-FFF2-40B4-BE49-F238E27FC236}">
                <a16:creationId xmlns:a16="http://schemas.microsoft.com/office/drawing/2014/main" id="{B43E43B8-DD62-4266-9FAB-6CDD35352FF8}"/>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08 / 17</a:t>
            </a:r>
          </a:p>
        </p:txBody>
      </p:sp>
      <p:sp>
        <p:nvSpPr>
          <p:cNvPr id="7" name="text-59">
            <a:extLst xmlns:a="http://schemas.openxmlformats.org/drawingml/2006/main">
              <a:ext uri="{FF2B5EF4-FFF2-40B4-BE49-F238E27FC236}">
                <a16:creationId xmlns:a16="http://schemas.microsoft.com/office/drawing/2014/main" id="{8E631A7A-5162-4FCD-A64B-1ECDE36FB2D5}"/>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Mô tả tiếng Việt: 320 câu, chia 192 học, 64 chọn cấu hình, 64 kiểm tra</a:t>
            </a:r>
          </a:p>
        </p:txBody>
      </p:sp>
      <p:sp>
        <p:nvSpPr>
          <p:cNvPr id="8" name="text-60">
            <a:extLst xmlns:a="http://schemas.openxmlformats.org/drawingml/2006/main">
              <a:ext uri="{FF2B5EF4-FFF2-40B4-BE49-F238E27FC236}">
                <a16:creationId xmlns:a16="http://schemas.microsoft.com/office/drawing/2014/main" id="{6B15BF30-D35F-49E7-BA11-13DE06E05E48}"/>
              </a:ext>
            </a:extLst>
          </p:cNvPr>
          <p:cNvSpPr>
            <a:spLocks xmlns:a="http://schemas.openxmlformats.org/drawingml/2006/main" noGrp="1"/>
          </p:cNvSpPr>
          <p:nvPr/>
        </p:nvSpPr>
        <p:spPr>
          <a:xfrm xmlns:a="http://schemas.openxmlformats.org/drawingml/2006/main">
            <a:off x="609600" y="16573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20 tài khoản, mỗi tài khoản 365 ngày dữ liệu tổng hợp</a:t>
            </a:r>
          </a:p>
        </p:txBody>
      </p:sp>
      <p:graphicFrame>
        <p:nvGraphicFramePr>
          <p:cNvPr id="9" name="">
            <a:extLst xmlns:a="http://schemas.openxmlformats.org/drawingml/2006/main">
              <a:ext uri="{FF2B5EF4-FFF2-40B4-BE49-F238E27FC236}">
                <a16:creationId xmlns:a16="http://schemas.microsoft.com/office/drawing/2014/main" id="{F5282DC4-1103-4346-A6A2-1B42C0713FA3}"/>
              </a:ext>
            </a:extLst>
          </p:cNvPr>
          <p:cNvGraphicFramePr/>
          <p:nvPr/>
        </p:nvGraphicFramePr>
        <p:xfrm>
          <a:off xmlns:a="http://schemas.openxmlformats.org/drawingml/2006/main" x="609600" y="2428875"/>
          <a:ext xmlns:a="http://schemas.openxmlformats.org/drawingml/2006/main" cx="10972800" cy="1381125"/>
        </p:xfrm>
        <a:graphic xmlns:a="http://schemas.openxmlformats.org/drawingml/2006/main">
          <a:graphicData uri="http://schemas.openxmlformats.org/drawingml/2006/table">
            <a:tbl>
              <a:tblPr/>
              <a:tblGrid>
                <a:gridCol w="3657600"/>
                <a:gridCol w="3657600"/>
                <a:gridCol w="3657600"/>
              </a:tblGrid>
              <a:tr h="690563">
                <a:tc>
                  <a:txBody>
                    <a:bodyPr anchor="ctr"/>
                    <a:lstStyle/>
                    <a:p>
                      <a:pPr algn="l"/>
                      <a:r>
                        <a:rPr sz="2325" b="1">
                          <a:solidFill>
                            <a:srgbClr val="FFFFFF"/>
                          </a:solidFill>
                          <a:latin typeface="Arial"/>
                          <a:ea typeface="Arial"/>
                          <a:cs typeface="Arial"/>
                        </a:rPr>
                        <a:t>Huấn luyện</a:t>
                      </a:r>
                    </a:p>
                  </a:txBody>
                  <a:tcPr marL="133350" marR="133350" marT="95250" marB="95250">
                    <a:lnL w="9525">
                      <a:solidFill>
                        <a:srgbClr val="DFEAE6"/>
                      </a:solidFill>
                      <a:prstDash val="solid"/>
                    </a:lnL>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2325" b="1">
                          <a:solidFill>
                            <a:srgbClr val="FFFFFF"/>
                          </a:solidFill>
                          <a:latin typeface="Arial"/>
                          <a:ea typeface="Arial"/>
                          <a:cs typeface="Arial"/>
                        </a:rPr>
                        <a:t>Chọn mô hình</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2325" b="1">
                          <a:solidFill>
                            <a:srgbClr val="FFFFFF"/>
                          </a:solidFill>
                          <a:latin typeface="Arial"/>
                          <a:ea typeface="Arial"/>
                          <a:cs typeface="Arial"/>
                        </a:rPr>
                        <a:t>Kiểm tra riêng</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r>
              <a:tr h="690563">
                <a:tc>
                  <a:txBody>
                    <a:bodyPr anchor="ctr"/>
                    <a:lstStyle/>
                    <a:p>
                      <a:pPr algn="l"/>
                      <a:r>
                        <a:rPr sz="2325" b="0">
                          <a:solidFill>
                            <a:srgbClr val="092B3D"/>
                          </a:solidFill>
                          <a:latin typeface="Arial"/>
                          <a:ea typeface="Arial"/>
                          <a:cs typeface="Arial"/>
                        </a:rPr>
                        <a:t>12 tài khoản</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2325" b="0">
                          <a:solidFill>
                            <a:srgbClr val="092B3D"/>
                          </a:solidFill>
                          <a:latin typeface="Arial"/>
                          <a:ea typeface="Arial"/>
                          <a:cs typeface="Arial"/>
                        </a:rPr>
                        <a:t>4 tài khoản</a:t>
                      </a:r>
                    </a:p>
                  </a:txBody>
                  <a:tcPr marL="133350" marR="133350" marT="95250" marB="95250">
                    <a:lnR w="9525">
                      <a:solidFill>
                        <a:srgbClr val="DFEAE6"/>
                      </a:solidFill>
                      <a:prstDash val="solid"/>
                    </a:lnR>
                    <a:lnB w="9525">
                      <a:solidFill>
                        <a:srgbClr val="DFEAE6"/>
                      </a:solidFill>
                      <a:prstDash val="solid"/>
                    </a:lnB>
                    <a:solidFill>
                      <a:srgbClr val="FFFFFF"/>
                    </a:solidFill>
                  </a:tcPr>
                </a:tc>
                <a:tc>
                  <a:txBody>
                    <a:bodyPr anchor="ctr"/>
                    <a:lstStyle/>
                    <a:p>
                      <a:pPr algn="l"/>
                      <a:r>
                        <a:rPr sz="2325" b="0">
                          <a:solidFill>
                            <a:srgbClr val="092B3D"/>
                          </a:solidFill>
                          <a:latin typeface="Arial"/>
                          <a:ea typeface="Arial"/>
                          <a:cs typeface="Arial"/>
                        </a:rPr>
                        <a:t>4 tài khoản</a:t>
                      </a:r>
                    </a:p>
                  </a:txBody>
                  <a:tcPr marL="133350" marR="133350" marT="95250" marB="95250">
                    <a:lnR w="9525">
                      <a:solidFill>
                        <a:srgbClr val="DFEAE6"/>
                      </a:solidFill>
                      <a:prstDash val="solid"/>
                    </a:lnR>
                    <a:lnB w="9525">
                      <a:solidFill>
                        <a:srgbClr val="DFEAE6"/>
                      </a:solidFill>
                      <a:prstDash val="solid"/>
                    </a:lnB>
                    <a:solidFill>
                      <a:srgbClr val="FFFFFF"/>
                    </a:solidFill>
                  </a:tcPr>
                </a:tc>
              </a:tr>
            </a:tbl>
          </a:graphicData>
        </a:graphic>
      </p:graphicFrame>
      <p:sp>
        <p:nvSpPr>
          <p:cNvPr id="10" name="text-61">
            <a:extLst xmlns:a="http://schemas.openxmlformats.org/drawingml/2006/main">
              <a:ext uri="{FF2B5EF4-FFF2-40B4-BE49-F238E27FC236}">
                <a16:creationId xmlns:a16="http://schemas.microsoft.com/office/drawing/2014/main" id="{6B409E1E-7860-4EFC-8A38-936710E04FC6}"/>
              </a:ext>
            </a:extLst>
          </p:cNvPr>
          <p:cNvSpPr>
            <a:spLocks xmlns:a="http://schemas.openxmlformats.org/drawingml/2006/main" noGrp="1"/>
          </p:cNvSpPr>
          <p:nvPr/>
        </p:nvSpPr>
        <p:spPr>
          <a:xfrm xmlns:a="http://schemas.openxmlformats.org/drawingml/2006/main">
            <a:off x="609600" y="4248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92B3D"/>
                </a:solidFill>
                <a:latin typeface="Arial"/>
                <a:ea typeface="Arial"/>
                <a:cs typeface="Arial"/>
              </a:defRPr>
            </a:defPPr>
          </a:lstStyle>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Dự báo tách theo thời gian để hạn chế học từ dữ liệu tương lai</a:t>
            </a:r>
          </a:p>
        </p:txBody>
      </p:sp>
    </p:spTree>
    <p:extLst>
      <p:ext uri="{BB962C8B-B14F-4D97-AF65-F5344CB8AC3E}">
        <p14:creationId xmlns:p14="http://schemas.microsoft.com/office/powerpoint/2010/main" val="7434940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62">
            <a:extLst xmlns:a="http://schemas.openxmlformats.org/drawingml/2006/main">
              <a:ext uri="{FF2B5EF4-FFF2-40B4-BE49-F238E27FC236}">
                <a16:creationId xmlns:a16="http://schemas.microsoft.com/office/drawing/2014/main" id="{05CB11E7-4689-411D-908F-72E0D0901C53}"/>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HUẤN LUYỆN VÀ DỰ BÁO</a:t>
            </a:r>
          </a:p>
        </p:txBody>
      </p:sp>
      <p:sp>
        <p:nvSpPr>
          <p:cNvPr id="2" name="slide-title">
            <a:extLst xmlns:a="http://schemas.openxmlformats.org/drawingml/2006/main">
              <a:ext uri="{FF2B5EF4-FFF2-40B4-BE49-F238E27FC236}">
                <a16:creationId xmlns:a16="http://schemas.microsoft.com/office/drawing/2014/main" id="{E8CAA7D1-EBB1-46F8-B8C6-4A2AAC20ED06}"/>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Random Forest dự báo chi tiêu</a:t>
            </a:r>
          </a:p>
        </p:txBody>
      </p:sp>
      <p:sp>
        <p:nvSpPr>
          <p:cNvPr id="3" name="text-63">
            <a:extLst xmlns:a="http://schemas.openxmlformats.org/drawingml/2006/main">
              <a:ext uri="{FF2B5EF4-FFF2-40B4-BE49-F238E27FC236}">
                <a16:creationId xmlns:a16="http://schemas.microsoft.com/office/drawing/2014/main" id="{CA80557E-EA4A-4FC9-85F3-AD3ACA28A8E8}"/>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8431E5FA-A293-4FAC-945B-4F71D8588E15}"/>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Random Forest kết hợp dự đoán của nhiều cây. Trong bài đánh giá 30 ngày trên dữ liệu tổng hợp, mô hình có sai số trung bình thấp hơn hai phương án so sánh.</a:t>
            </a:r>
          </a:p>
        </p:txBody>
      </p:sp>
      <p:sp>
        <p:nvSpPr>
          <p:cNvPr id="5" name="text-64">
            <a:extLst xmlns:a="http://schemas.openxmlformats.org/drawingml/2006/main">
              <a:ext uri="{FF2B5EF4-FFF2-40B4-BE49-F238E27FC236}">
                <a16:creationId xmlns:a16="http://schemas.microsoft.com/office/drawing/2014/main" id="{57BA23B9-0B74-406D-B389-DC3BC1DA6D0F}"/>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Trần Minh Nhật</a:t>
            </a:r>
          </a:p>
        </p:txBody>
      </p:sp>
      <p:sp>
        <p:nvSpPr>
          <p:cNvPr id="6" name="text-65">
            <a:extLst xmlns:a="http://schemas.openxmlformats.org/drawingml/2006/main">
              <a:ext uri="{FF2B5EF4-FFF2-40B4-BE49-F238E27FC236}">
                <a16:creationId xmlns:a16="http://schemas.microsoft.com/office/drawing/2014/main" id="{0EB803A2-5602-4DDC-B4DD-267CEDFBA87E}"/>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09 / 17</a:t>
            </a:r>
          </a:p>
        </p:txBody>
      </p:sp>
      <p:sp>
        <p:nvSpPr>
          <p:cNvPr id="7" name="text-66">
            <a:extLst xmlns:a="http://schemas.openxmlformats.org/drawingml/2006/main">
              <a:ext uri="{FF2B5EF4-FFF2-40B4-BE49-F238E27FC236}">
                <a16:creationId xmlns:a16="http://schemas.microsoft.com/office/drawing/2014/main" id="{DE5AB5C9-DD9C-477F-9678-BCFBC745093F}"/>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MAE cho từng ngày trong bài dự báo 30 ngày. Dữ liệu test tổng hợp.</a:t>
            </a:r>
          </a:p>
        </p:txBody>
      </p:sp>
      <p:pic>
        <p:nvPicPr>
          <p:cNvPr id="8" name="">
            <a:extLst xmlns:a="http://schemas.openxmlformats.org/drawingml/2006/main">
              <a:ext uri="{FF2B5EF4-FFF2-40B4-BE49-F238E27FC236}">
                <a16:creationId xmlns:a16="http://schemas.microsoft.com/office/drawing/2014/main" id="{F5C67F27-D39C-406E-8385-692768CE938D}"/>
              </a:ext>
            </a:extLst>
          </p:cNvPr>
          <p:cNvPicPr>
            <a:picLocks xmlns:a="http://schemas.openxmlformats.org/drawingml/2006/main" noChangeAspect="1"/>
          </p:cNvPicPr>
          <p:nvPr/>
        </p:nvPicPr>
        <p:blipFill>
          <a:blip xmlns:r="http://schemas.openxmlformats.org/officeDocument/2006/relationships" xmlns:a="http://schemas.openxmlformats.org/drawingml/2006/main" r:embed="Rb8ec54cbc8464610"/>
          <a:stretch xmlns:a="http://schemas.openxmlformats.org/drawingml/2006/main"/>
        </p:blipFill>
        <p:spPr>
          <a:xfrm xmlns:a="http://schemas.openxmlformats.org/drawingml/2006/main">
            <a:off x="802337" y="1657350"/>
            <a:ext cx="4434176" cy="2495550"/>
          </a:xfrm>
          <a:prstGeom xmlns:a="http://schemas.openxmlformats.org/drawingml/2006/main" prst="rect">
            <a:avLst/>
          </a:prstGeom>
        </p:spPr>
      </p:pic>
      <p:sp>
        <p:nvSpPr>
          <p:cNvPr id="9" name="text-67">
            <a:extLst xmlns:a="http://schemas.openxmlformats.org/drawingml/2006/main">
              <a:ext uri="{FF2B5EF4-FFF2-40B4-BE49-F238E27FC236}">
                <a16:creationId xmlns:a16="http://schemas.microsoft.com/office/drawing/2014/main" id="{ED1363F9-540E-4F57-BEFE-8DED3C2E91AA}"/>
              </a:ext>
            </a:extLst>
          </p:cNvPr>
          <p:cNvSpPr>
            <a:spLocks xmlns:a="http://schemas.openxmlformats.org/drawingml/2006/main" noGrp="1"/>
          </p:cNvSpPr>
          <p:nvPr/>
        </p:nvSpPr>
        <p:spPr>
          <a:xfrm xmlns:a="http://schemas.openxmlformats.org/drawingml/2006/main">
            <a:off x="609600" y="4248150"/>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100 cây, độ sâu 5</a:t>
            </a:r>
          </a:p>
        </p:txBody>
      </p:sp>
      <p:sp>
        <p:nvSpPr>
          <p:cNvPr id="10" name="text-68">
            <a:extLst xmlns:a="http://schemas.openxmlformats.org/drawingml/2006/main">
              <a:ext uri="{FF2B5EF4-FFF2-40B4-BE49-F238E27FC236}">
                <a16:creationId xmlns:a16="http://schemas.microsoft.com/office/drawing/2014/main" id="{47B3A950-79A4-4A47-AD4E-28CCEA4DD26C}"/>
              </a:ext>
            </a:extLst>
          </p:cNvPr>
          <p:cNvSpPr>
            <a:spLocks xmlns:a="http://schemas.openxmlformats.org/drawingml/2006/main" noGrp="1"/>
          </p:cNvSpPr>
          <p:nvPr/>
        </p:nvSpPr>
        <p:spPr>
          <a:xfrm xmlns:a="http://schemas.openxmlformats.org/drawingml/2006/main">
            <a:off x="609600" y="46863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92B3D"/>
                </a:solidFill>
                <a:latin typeface="Arial"/>
                <a:ea typeface="Arial"/>
                <a:cs typeface="Arial"/>
              </a:defRPr>
            </a:defPPr>
          </a:lstStyle>
          <a:p xmlns:a="http://schemas.openxmlformats.org/drawingml/2006/main">
            <a:pPr algn="l">
              <a:defRPr sz="1800" b="0">
                <a:solidFill>
                  <a:srgbClr val="092B3D"/>
                </a:solidFill>
                <a:latin typeface="Arial"/>
                <a:ea typeface="Arial"/>
                <a:cs typeface="Arial"/>
              </a:defRPr>
            </a:pPr>
            <a:r>
              <a:rPr sz="1800" b="0">
                <a:solidFill>
                  <a:srgbClr val="092B3D"/>
                </a:solidFill>
                <a:latin typeface="Arial"/>
                <a:ea typeface="Arial"/>
                <a:cs typeface="Arial"/>
              </a:rPr>
              <a:t>Học từ lịch sử và nhịp chi gần đây</a:t>
            </a:r>
          </a:p>
        </p:txBody>
      </p:sp>
      <p:sp>
        <p:nvSpPr>
          <p:cNvPr id="11" name="text-69">
            <a:extLst xmlns:a="http://schemas.openxmlformats.org/drawingml/2006/main">
              <a:ext uri="{FF2B5EF4-FFF2-40B4-BE49-F238E27FC236}">
                <a16:creationId xmlns:a16="http://schemas.microsoft.com/office/drawing/2014/main" id="{38A21E91-8FB1-4D9B-BCE4-9F5469E85BA5}"/>
              </a:ext>
            </a:extLst>
          </p:cNvPr>
          <p:cNvSpPr>
            <a:spLocks xmlns:a="http://schemas.openxmlformats.org/drawingml/2006/main" noGrp="1"/>
          </p:cNvSpPr>
          <p:nvPr/>
        </p:nvSpPr>
        <p:spPr>
          <a:xfrm xmlns:a="http://schemas.openxmlformats.org/drawingml/2006/main">
            <a:off x="6191250" y="1609725"/>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92B3D"/>
                </a:solidFill>
                <a:latin typeface="Arial"/>
                <a:ea typeface="Arial"/>
                <a:cs typeface="Arial"/>
              </a:defRPr>
            </a:defPPr>
          </a:lstStyle>
          <a:p xmlns:a="http://schemas.openxmlformats.org/drawingml/2006/main">
            <a:pPr algn="l">
              <a:defRPr sz="2175" b="1">
                <a:solidFill>
                  <a:srgbClr val="092B3D"/>
                </a:solidFill>
                <a:latin typeface="Arial"/>
                <a:ea typeface="Arial"/>
                <a:cs typeface="Arial"/>
              </a:defRPr>
            </a:pPr>
            <a:r>
              <a:rPr sz="2175" b="1">
                <a:solidFill>
                  <a:srgbClr val="092B3D"/>
                </a:solidFill>
                <a:latin typeface="Arial"/>
                <a:ea typeface="Arial"/>
                <a:cs typeface="Arial"/>
              </a:rPr>
              <a:t>Sai số MAE</a:t>
            </a:r>
          </a:p>
        </p:txBody>
      </p:sp>
      <p:sp>
        <p:nvSpPr>
          <p:cNvPr id="12" name="text-70">
            <a:extLst xmlns:a="http://schemas.openxmlformats.org/drawingml/2006/main">
              <a:ext uri="{FF2B5EF4-FFF2-40B4-BE49-F238E27FC236}">
                <a16:creationId xmlns:a16="http://schemas.microsoft.com/office/drawing/2014/main" id="{A3CFA47A-A33D-4F97-ADE3-E918D6803F1B}"/>
              </a:ext>
            </a:extLst>
          </p:cNvPr>
          <p:cNvSpPr>
            <a:spLocks xmlns:a="http://schemas.openxmlformats.org/drawingml/2006/main" noGrp="1"/>
          </p:cNvSpPr>
          <p:nvPr/>
        </p:nvSpPr>
        <p:spPr>
          <a:xfrm xmlns:a="http://schemas.openxmlformats.org/drawingml/2006/main">
            <a:off x="6191250" y="20478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B78"/>
                </a:solidFill>
                <a:latin typeface="Arial"/>
                <a:ea typeface="Arial"/>
                <a:cs typeface="Arial"/>
              </a:defRPr>
            </a:defPPr>
          </a:lstStyle>
          <a:p xmlns:a="http://schemas.openxmlformats.org/drawingml/2006/main">
            <a:pPr algn="l">
              <a:defRPr sz="1650" b="0">
                <a:solidFill>
                  <a:srgbClr val="526B78"/>
                </a:solidFill>
                <a:latin typeface="Arial"/>
                <a:ea typeface="Arial"/>
                <a:cs typeface="Arial"/>
              </a:defRPr>
            </a:pPr>
            <a:r>
              <a:rPr sz="1650" b="0">
                <a:solidFill>
                  <a:srgbClr val="526B78"/>
                </a:solidFill>
                <a:latin typeface="Arial"/>
                <a:ea typeface="Arial"/>
                <a:cs typeface="Arial"/>
              </a:rPr>
              <a:t>nghìn đồng/ngày, thấp hơn tốt hơn</a:t>
            </a:r>
          </a:p>
        </p:txBody>
      </p:sp>
      <p:graphicFrame>
        <p:nvGraphicFramePr>
          <p:cNvPr id="13" name="Chart">
            <a:extLst xmlns:a="http://schemas.openxmlformats.org/drawingml/2006/main">
              <a:ext uri="{FF2B5EF4-FFF2-40B4-BE49-F238E27FC236}">
                <a16:creationId xmlns:a16="http://schemas.microsoft.com/office/drawing/2014/main" id="{1140DE4A-6D11-4730-9521-B25A9634DF81}"/>
              </a:ext>
            </a:extLst>
          </p:cNvPr>
          <p:cNvGraphicFramePr/>
          <p:nvPr/>
        </p:nvGraphicFramePr>
        <p:xfrm>
          <a:off xmlns:a="http://schemas.openxmlformats.org/drawingml/2006/main" x="6191250" y="2552700"/>
          <a:ext xmlns:a="http://schemas.openxmlformats.org/drawingml/2006/main" cx="5391150" cy="2324100"/>
        </p:xfrm>
        <a:graphic xmlns:a="http://schemas.openxmlformats.org/drawingml/2006/main">
          <a:graphicData uri="http://schemas.openxmlformats.org/drawingml/2006/chart">
            <c:chart xmlns:r="http://schemas.openxmlformats.org/officeDocument/2006/relationships" xmlns:c="http://schemas.openxmlformats.org/drawingml/2006/chart" r:id="R09363be0acc348c1"/>
          </a:graphicData>
        </a:graphic>
      </p:graphicFrame>
    </p:spTree>
    <p:extLst>
      <p:ext uri="{BB962C8B-B14F-4D97-AF65-F5344CB8AC3E}">
        <p14:creationId xmlns:p14="http://schemas.microsoft.com/office/powerpoint/2010/main" val="20954369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71">
            <a:extLst xmlns:a="http://schemas.openxmlformats.org/drawingml/2006/main">
              <a:ext uri="{FF2B5EF4-FFF2-40B4-BE49-F238E27FC236}">
                <a16:creationId xmlns:a16="http://schemas.microsoft.com/office/drawing/2014/main" id="{E20EC94E-55B8-40F1-85B2-A6615B830C03}"/>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HUẤN LUYỆN VÀ DỰ BÁO</a:t>
            </a:r>
          </a:p>
        </p:txBody>
      </p:sp>
      <p:sp>
        <p:nvSpPr>
          <p:cNvPr id="2" name="slide-title">
            <a:extLst xmlns:a="http://schemas.openxmlformats.org/drawingml/2006/main">
              <a:ext uri="{FF2B5EF4-FFF2-40B4-BE49-F238E27FC236}">
                <a16:creationId xmlns:a16="http://schemas.microsoft.com/office/drawing/2014/main" id="{3CCCF29E-F732-4542-B8D7-374B61183C6B}"/>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Dự báo hỗ trợ lập kế hoạch dòng tiền</a:t>
            </a:r>
          </a:p>
        </p:txBody>
      </p:sp>
      <p:sp>
        <p:nvSpPr>
          <p:cNvPr id="3" name="text-72">
            <a:extLst xmlns:a="http://schemas.openxmlformats.org/drawingml/2006/main">
              <a:ext uri="{FF2B5EF4-FFF2-40B4-BE49-F238E27FC236}">
                <a16:creationId xmlns:a16="http://schemas.microsoft.com/office/drawing/2014/main" id="{DE106407-8C31-4F6E-A1EB-90A26721CAD1}"/>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E2802EEA-E180-4BA5-8E6C-969E2DEB0060}"/>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Dự báo chi tiêu kết hợp với số dư và khoản thu đã khai báo để lập dòng tiền. Người dùng thử giảm chi, rồi so sánh kết quả trước khi quyết định.</a:t>
            </a:r>
          </a:p>
        </p:txBody>
      </p:sp>
      <p:sp>
        <p:nvSpPr>
          <p:cNvPr id="5" name="text-73">
            <a:extLst xmlns:a="http://schemas.openxmlformats.org/drawingml/2006/main">
              <a:ext uri="{FF2B5EF4-FFF2-40B4-BE49-F238E27FC236}">
                <a16:creationId xmlns:a16="http://schemas.microsoft.com/office/drawing/2014/main" id="{AB8E8D50-4F74-4872-B2AC-6175A992ECF1}"/>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Trần Minh Nhật</a:t>
            </a:r>
          </a:p>
        </p:txBody>
      </p:sp>
      <p:sp>
        <p:nvSpPr>
          <p:cNvPr id="6" name="text-74">
            <a:extLst xmlns:a="http://schemas.openxmlformats.org/drawingml/2006/main">
              <a:ext uri="{FF2B5EF4-FFF2-40B4-BE49-F238E27FC236}">
                <a16:creationId xmlns:a16="http://schemas.microsoft.com/office/drawing/2014/main" id="{ABAAB127-BB21-4E21-8BFA-FF366708481C}"/>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10 / 17</a:t>
            </a:r>
          </a:p>
        </p:txBody>
      </p:sp>
      <p:sp>
        <p:nvSpPr>
          <p:cNvPr id="7" name="text-75">
            <a:extLst xmlns:a="http://schemas.openxmlformats.org/drawingml/2006/main">
              <a:ext uri="{FF2B5EF4-FFF2-40B4-BE49-F238E27FC236}">
                <a16:creationId xmlns:a16="http://schemas.microsoft.com/office/drawing/2014/main" id="{0FB0F5D7-4E44-408A-B791-5A9113D21D15}"/>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Ảnh dữ liệu demo. Mô phỏng và ngân sách sử dụng các phép tính theo quy tắc.</a:t>
            </a:r>
          </a:p>
        </p:txBody>
      </p:sp>
      <p:sp>
        <p:nvSpPr>
          <p:cNvPr id="8" name="text-76">
            <a:extLst xmlns:a="http://schemas.openxmlformats.org/drawingml/2006/main">
              <a:ext uri="{FF2B5EF4-FFF2-40B4-BE49-F238E27FC236}">
                <a16:creationId xmlns:a16="http://schemas.microsoft.com/office/drawing/2014/main" id="{945CE89F-1095-46A5-AF12-AA92B35A33DE}"/>
              </a:ext>
            </a:extLst>
          </p:cNvPr>
          <p:cNvSpPr>
            <a:spLocks xmlns:a="http://schemas.openxmlformats.org/drawingml/2006/main" noGrp="1"/>
          </p:cNvSpPr>
          <p:nvPr/>
        </p:nvSpPr>
        <p:spPr>
          <a:xfrm xmlns:a="http://schemas.openxmlformats.org/drawingml/2006/main">
            <a:off x="609600" y="1533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8A63"/>
                </a:solidFill>
                <a:latin typeface="Arial"/>
                <a:ea typeface="Arial"/>
                <a:cs typeface="Arial"/>
              </a:defRPr>
            </a:defPPr>
          </a:lstStyle>
          <a:p xmlns:a="http://schemas.openxmlformats.org/drawingml/2006/main">
            <a:pPr algn="l">
              <a:defRPr sz="2175" b="1">
                <a:solidFill>
                  <a:srgbClr val="008A63"/>
                </a:solidFill>
                <a:latin typeface="Arial"/>
                <a:ea typeface="Arial"/>
                <a:cs typeface="Arial"/>
              </a:defRPr>
            </a:pPr>
            <a:r>
              <a:rPr sz="2175" b="1">
                <a:solidFill>
                  <a:srgbClr val="008A63"/>
                </a:solidFill>
                <a:latin typeface="Arial"/>
                <a:ea typeface="Arial"/>
                <a:cs typeface="Arial"/>
              </a:rPr>
              <a:t>Số dư hiện tại + thu khai báo - chi dự phóng</a:t>
            </a:r>
          </a:p>
        </p:txBody>
      </p:sp>
      <p:pic>
        <p:nvPicPr>
          <p:cNvPr id="9" name="">
            <a:extLst xmlns:a="http://schemas.openxmlformats.org/drawingml/2006/main">
              <a:ext uri="{FF2B5EF4-FFF2-40B4-BE49-F238E27FC236}">
                <a16:creationId xmlns:a16="http://schemas.microsoft.com/office/drawing/2014/main" id="{217E0332-E9F7-42FC-895B-583008DCB197}"/>
              </a:ext>
            </a:extLst>
          </p:cNvPr>
          <p:cNvPicPr>
            <a:picLocks xmlns:a="http://schemas.openxmlformats.org/drawingml/2006/main" noChangeAspect="1"/>
          </p:cNvPicPr>
          <p:nvPr/>
        </p:nvPicPr>
        <p:blipFill>
          <a:blip xmlns:r="http://schemas.openxmlformats.org/officeDocument/2006/relationships" xmlns:a="http://schemas.openxmlformats.org/drawingml/2006/main" r:embed="Rc2df71a2bdc64ab4"/>
          <a:srcRect xmlns:a="http://schemas.openxmlformats.org/drawingml/2006/main" l="21667" t="19278" r="33333" b="71128"/>
          <a:stretch xmlns:a="http://schemas.openxmlformats.org/drawingml/2006/main"/>
        </p:blipFill>
        <p:spPr>
          <a:xfrm xmlns:a="http://schemas.openxmlformats.org/drawingml/2006/main">
            <a:off x="1137805" y="2095500"/>
            <a:ext cx="5611091" cy="2762250"/>
          </a:xfrm>
          <a:prstGeom xmlns:a="http://schemas.openxmlformats.org/drawingml/2006/main" prst="rect">
            <a:avLst/>
          </a:prstGeom>
        </p:spPr>
      </p:pic>
      <p:sp>
        <p:nvSpPr>
          <p:cNvPr id="10" name="text-77">
            <a:extLst xmlns:a="http://schemas.openxmlformats.org/drawingml/2006/main">
              <a:ext uri="{FF2B5EF4-FFF2-40B4-BE49-F238E27FC236}">
                <a16:creationId xmlns:a16="http://schemas.microsoft.com/office/drawing/2014/main" id="{4DADE9F2-1B96-448E-9778-6E11A585DA16}"/>
              </a:ext>
            </a:extLst>
          </p:cNvPr>
          <p:cNvSpPr>
            <a:spLocks xmlns:a="http://schemas.openxmlformats.org/drawingml/2006/main" noGrp="1"/>
          </p:cNvSpPr>
          <p:nvPr/>
        </p:nvSpPr>
        <p:spPr>
          <a:xfrm xmlns:a="http://schemas.openxmlformats.org/drawingml/2006/main">
            <a:off x="7772400" y="21336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8A63"/>
                </a:solidFill>
                <a:latin typeface="Arial"/>
                <a:ea typeface="Arial"/>
                <a:cs typeface="Arial"/>
              </a:defRPr>
            </a:defPPr>
          </a:lstStyle>
          <a:p xmlns:a="http://schemas.openxmlformats.org/drawingml/2006/main">
            <a:pPr algn="l">
              <a:defRPr sz="2250" b="1">
                <a:solidFill>
                  <a:srgbClr val="008A63"/>
                </a:solidFill>
                <a:latin typeface="Arial"/>
                <a:ea typeface="Arial"/>
                <a:cs typeface="Arial"/>
              </a:defRPr>
            </a:pPr>
            <a:r>
              <a:rPr sz="2250" b="1">
                <a:solidFill>
                  <a:srgbClr val="008A63"/>
                </a:solidFill>
                <a:latin typeface="Arial"/>
                <a:ea typeface="Arial"/>
                <a:cs typeface="Arial"/>
              </a:rPr>
              <a:t>Thử một phương án</a:t>
            </a:r>
          </a:p>
        </p:txBody>
      </p:sp>
      <p:sp>
        <p:nvSpPr>
          <p:cNvPr id="11" name="text-78">
            <a:extLst xmlns:a="http://schemas.openxmlformats.org/drawingml/2006/main">
              <a:ext uri="{FF2B5EF4-FFF2-40B4-BE49-F238E27FC236}">
                <a16:creationId xmlns:a16="http://schemas.microsoft.com/office/drawing/2014/main" id="{802AD311-2232-4649-B89C-7E88B6E583D4}"/>
              </a:ext>
            </a:extLst>
          </p:cNvPr>
          <p:cNvSpPr>
            <a:spLocks xmlns:a="http://schemas.openxmlformats.org/drawingml/2006/main" noGrp="1"/>
          </p:cNvSpPr>
          <p:nvPr/>
        </p:nvSpPr>
        <p:spPr>
          <a:xfrm xmlns:a="http://schemas.openxmlformats.org/drawingml/2006/main">
            <a:off x="7772400" y="28765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Giảm chi linh hoạt</a:t>
            </a:r>
          </a:p>
        </p:txBody>
      </p:sp>
      <p:sp>
        <p:nvSpPr>
          <p:cNvPr id="12" name="text-79">
            <a:extLst xmlns:a="http://schemas.openxmlformats.org/drawingml/2006/main">
              <a:ext uri="{FF2B5EF4-FFF2-40B4-BE49-F238E27FC236}">
                <a16:creationId xmlns:a16="http://schemas.microsoft.com/office/drawing/2014/main" id="{0EE598F3-BF12-41D7-9E72-5CF42C79094B}"/>
              </a:ext>
            </a:extLst>
          </p:cNvPr>
          <p:cNvSpPr>
            <a:spLocks xmlns:a="http://schemas.openxmlformats.org/drawingml/2006/main" noGrp="1"/>
          </p:cNvSpPr>
          <p:nvPr/>
        </p:nvSpPr>
        <p:spPr>
          <a:xfrm xmlns:a="http://schemas.openxmlformats.org/drawingml/2006/main">
            <a:off x="7772400" y="3476625"/>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Thêm khoản thu hoặc mua sắm</a:t>
            </a:r>
          </a:p>
        </p:txBody>
      </p:sp>
      <p:sp>
        <p:nvSpPr>
          <p:cNvPr id="13" name="text-80">
            <a:extLst xmlns:a="http://schemas.openxmlformats.org/drawingml/2006/main">
              <a:ext uri="{FF2B5EF4-FFF2-40B4-BE49-F238E27FC236}">
                <a16:creationId xmlns:a16="http://schemas.microsoft.com/office/drawing/2014/main" id="{71DF86DA-0220-42A0-AA57-EC9DC196DFF0}"/>
              </a:ext>
            </a:extLst>
          </p:cNvPr>
          <p:cNvSpPr>
            <a:spLocks xmlns:a="http://schemas.openxmlformats.org/drawingml/2006/main" noGrp="1"/>
          </p:cNvSpPr>
          <p:nvPr/>
        </p:nvSpPr>
        <p:spPr>
          <a:xfrm xmlns:a="http://schemas.openxmlformats.org/drawingml/2006/main">
            <a:off x="7772400" y="4333875"/>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Đặt số dư muốn giữ lại</a:t>
            </a:r>
          </a:p>
        </p:txBody>
      </p:sp>
    </p:spTree>
    <p:extLst>
      <p:ext uri="{BB962C8B-B14F-4D97-AF65-F5344CB8AC3E}">
        <p14:creationId xmlns:p14="http://schemas.microsoft.com/office/powerpoint/2010/main" val="15909184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81">
            <a:extLst xmlns:a="http://schemas.openxmlformats.org/drawingml/2006/main">
              <a:ext uri="{FF2B5EF4-FFF2-40B4-BE49-F238E27FC236}">
                <a16:creationId xmlns:a16="http://schemas.microsoft.com/office/drawing/2014/main" id="{71479700-901A-454B-ACF4-5F6702B11743}"/>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PHÁT HIỆN VÀ PHÂN LOẠI</a:t>
            </a:r>
          </a:p>
        </p:txBody>
      </p:sp>
      <p:sp>
        <p:nvSpPr>
          <p:cNvPr id="2" name="slide-title">
            <a:extLst xmlns:a="http://schemas.openxmlformats.org/drawingml/2006/main">
              <a:ext uri="{FF2B5EF4-FFF2-40B4-BE49-F238E27FC236}">
                <a16:creationId xmlns:a16="http://schemas.microsoft.com/office/drawing/2014/main" id="{90D192B9-9B16-4775-85AF-B4E4A533274E}"/>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Isolation Forest phát hiện bất thường</a:t>
            </a:r>
          </a:p>
        </p:txBody>
      </p:sp>
      <p:sp>
        <p:nvSpPr>
          <p:cNvPr id="3" name="text-82">
            <a:extLst xmlns:a="http://schemas.openxmlformats.org/drawingml/2006/main">
              <a:ext uri="{FF2B5EF4-FFF2-40B4-BE49-F238E27FC236}">
                <a16:creationId xmlns:a16="http://schemas.microsoft.com/office/drawing/2014/main" id="{D5DFD058-4180-42B0-AC6E-894E01323FCB}"/>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3667B9F6-F616-4165-843E-4960C1AEB64D}"/>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Khoản chi khác thói quen có thể hợp lệ hoặc nhập nhầm. Isolation Forest giúp ưu tiên giao dịch cần xem lại để người dùng kiểm tra và xác nhận nguyên nhân.</a:t>
            </a:r>
          </a:p>
        </p:txBody>
      </p:sp>
      <p:sp>
        <p:nvSpPr>
          <p:cNvPr id="5" name="text-83">
            <a:extLst xmlns:a="http://schemas.openxmlformats.org/drawingml/2006/main">
              <a:ext uri="{FF2B5EF4-FFF2-40B4-BE49-F238E27FC236}">
                <a16:creationId xmlns:a16="http://schemas.microsoft.com/office/drawing/2014/main" id="{93A81D64-638B-4D3A-9BB0-5BE110F37361}"/>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Lý Tú Nguyên</a:t>
            </a:r>
          </a:p>
        </p:txBody>
      </p:sp>
      <p:sp>
        <p:nvSpPr>
          <p:cNvPr id="6" name="text-84">
            <a:extLst xmlns:a="http://schemas.openxmlformats.org/drawingml/2006/main">
              <a:ext uri="{FF2B5EF4-FFF2-40B4-BE49-F238E27FC236}">
                <a16:creationId xmlns:a16="http://schemas.microsoft.com/office/drawing/2014/main" id="{8B1F2278-3E88-492F-A0E1-B1B320D47149}"/>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11 / 17</a:t>
            </a:r>
          </a:p>
        </p:txBody>
      </p:sp>
      <p:sp>
        <p:nvSpPr>
          <p:cNvPr id="7" name="text-85">
            <a:extLst xmlns:a="http://schemas.openxmlformats.org/drawingml/2006/main">
              <a:ext uri="{FF2B5EF4-FFF2-40B4-BE49-F238E27FC236}">
                <a16:creationId xmlns:a16="http://schemas.microsoft.com/office/drawing/2014/main" id="{A85ABB80-2F11-4D40-B9B1-F4CC82ED8ED9}"/>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Test tổng hợp: Precision 50,00%, Recall 60,42%. Cảnh báo cần người dùng xác nhận.</a:t>
            </a:r>
          </a:p>
        </p:txBody>
      </p:sp>
      <p:sp>
        <p:nvSpPr>
          <p:cNvPr id="8" name="text-86">
            <a:extLst xmlns:a="http://schemas.openxmlformats.org/drawingml/2006/main">
              <a:ext uri="{FF2B5EF4-FFF2-40B4-BE49-F238E27FC236}">
                <a16:creationId xmlns:a16="http://schemas.microsoft.com/office/drawing/2014/main" id="{9738102E-83F8-475D-B855-9DAD31CDF2B6}"/>
              </a:ext>
            </a:extLst>
          </p:cNvPr>
          <p:cNvSpPr>
            <a:spLocks xmlns:a="http://schemas.openxmlformats.org/drawingml/2006/main" noGrp="1"/>
          </p:cNvSpPr>
          <p:nvPr/>
        </p:nvSpPr>
        <p:spPr>
          <a:xfrm xmlns:a="http://schemas.openxmlformats.org/drawingml/2006/main">
            <a:off x="609600" y="1714500"/>
            <a:ext cx="4524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A63"/>
                </a:solidFill>
                <a:latin typeface="Arial"/>
                <a:ea typeface="Arial"/>
                <a:cs typeface="Arial"/>
              </a:defRPr>
            </a:defPPr>
          </a:lstStyle>
          <a:p xmlns:a="http://schemas.openxmlformats.org/drawingml/2006/main">
            <a:pPr algn="l">
              <a:defRPr sz="2400" b="1">
                <a:solidFill>
                  <a:srgbClr val="008A63"/>
                </a:solidFill>
                <a:latin typeface="Arial"/>
                <a:ea typeface="Arial"/>
                <a:cs typeface="Arial"/>
              </a:defRPr>
            </a:pPr>
            <a:r>
              <a:rPr sz="2400" b="1">
                <a:solidFill>
                  <a:srgbClr val="008A63"/>
                </a:solidFill>
                <a:latin typeface="Arial"/>
                <a:ea typeface="Arial"/>
                <a:cs typeface="Arial"/>
              </a:rPr>
              <a:t>Điểm khác biệt thường</a:t>
            </a:r>
          </a:p>
          <a:p xmlns:a="http://schemas.openxmlformats.org/drawingml/2006/main">
            <a:pPr algn="l">
              <a:defRPr sz="2400" b="1">
                <a:solidFill>
                  <a:srgbClr val="008A63"/>
                </a:solidFill>
                <a:latin typeface="Arial"/>
                <a:ea typeface="Arial"/>
                <a:cs typeface="Arial"/>
              </a:defRPr>
            </a:pPr>
            <a:r>
              <a:rPr sz="2400" b="1">
                <a:solidFill>
                  <a:srgbClr val="008A63"/>
                </a:solidFill>
                <a:latin typeface="Arial"/>
                <a:ea typeface="Arial"/>
                <a:cs typeface="Arial"/>
              </a:rPr>
              <a:t>được tách riêng sớm hơn</a:t>
            </a:r>
          </a:p>
        </p:txBody>
      </p:sp>
      <p:sp>
        <p:nvSpPr>
          <p:cNvPr id="9" name="text-87">
            <a:extLst xmlns:a="http://schemas.openxmlformats.org/drawingml/2006/main">
              <a:ext uri="{FF2B5EF4-FFF2-40B4-BE49-F238E27FC236}">
                <a16:creationId xmlns:a16="http://schemas.microsoft.com/office/drawing/2014/main" id="{60FF4791-F829-4735-B15F-B590ECB3C963}"/>
              </a:ext>
            </a:extLst>
          </p:cNvPr>
          <p:cNvSpPr>
            <a:spLocks xmlns:a="http://schemas.openxmlformats.org/drawingml/2006/main" noGrp="1"/>
          </p:cNvSpPr>
          <p:nvPr/>
        </p:nvSpPr>
        <p:spPr>
          <a:xfrm xmlns:a="http://schemas.openxmlformats.org/drawingml/2006/main">
            <a:off x="609600" y="2895600"/>
            <a:ext cx="4524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200 cây phân tích số tiền,</a:t>
            </a:r>
          </a:p>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thời gian và lịch sử giao dịch</a:t>
            </a:r>
          </a:p>
        </p:txBody>
      </p:sp>
      <p:sp>
        <p:nvSpPr>
          <p:cNvPr id="10" name="text-88">
            <a:extLst xmlns:a="http://schemas.openxmlformats.org/drawingml/2006/main">
              <a:ext uri="{FF2B5EF4-FFF2-40B4-BE49-F238E27FC236}">
                <a16:creationId xmlns:a16="http://schemas.microsoft.com/office/drawing/2014/main" id="{415A0B04-AA63-4FE6-8E3E-2DB7A33F2CC6}"/>
              </a:ext>
            </a:extLst>
          </p:cNvPr>
          <p:cNvSpPr>
            <a:spLocks xmlns:a="http://schemas.openxmlformats.org/drawingml/2006/main" noGrp="1"/>
          </p:cNvSpPr>
          <p:nvPr/>
        </p:nvSpPr>
        <p:spPr>
          <a:xfrm xmlns:a="http://schemas.openxmlformats.org/drawingml/2006/main">
            <a:off x="609600" y="4105275"/>
            <a:ext cx="4524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B78"/>
                </a:solidFill>
                <a:latin typeface="Arial"/>
                <a:ea typeface="Arial"/>
                <a:cs typeface="Arial"/>
              </a:defRPr>
            </a:defPPr>
          </a:lstStyle>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Ví dụ: khoản chi lớn hơn</a:t>
            </a:r>
          </a:p>
          <a:p xmlns:a="http://schemas.openxmlformats.org/drawingml/2006/main">
            <a:pPr algn="l">
              <a:defRPr sz="1950" b="0">
                <a:solidFill>
                  <a:srgbClr val="526B78"/>
                </a:solidFill>
                <a:latin typeface="Arial"/>
                <a:ea typeface="Arial"/>
                <a:cs typeface="Arial"/>
              </a:defRPr>
            </a:pPr>
            <a:r>
              <a:rPr sz="1950" b="0">
                <a:solidFill>
                  <a:srgbClr val="526B78"/>
                </a:solidFill>
                <a:latin typeface="Arial"/>
                <a:ea typeface="Arial"/>
                <a:cs typeface="Arial"/>
              </a:rPr>
              <a:t>nhiều so với thói quen</a:t>
            </a:r>
          </a:p>
        </p:txBody>
      </p:sp>
      <p:pic>
        <p:nvPicPr>
          <p:cNvPr id="11" name="">
            <a:extLst xmlns:a="http://schemas.openxmlformats.org/drawingml/2006/main">
              <a:ext uri="{FF2B5EF4-FFF2-40B4-BE49-F238E27FC236}">
                <a16:creationId xmlns:a16="http://schemas.microsoft.com/office/drawing/2014/main" id="{2E7E2236-649A-4F9F-AC53-A663F4B138A0}"/>
              </a:ext>
            </a:extLst>
          </p:cNvPr>
          <p:cNvPicPr>
            <a:picLocks xmlns:a="http://schemas.openxmlformats.org/drawingml/2006/main" noChangeAspect="1"/>
          </p:cNvPicPr>
          <p:nvPr/>
        </p:nvPicPr>
        <p:blipFill>
          <a:blip xmlns:r="http://schemas.openxmlformats.org/officeDocument/2006/relationships" xmlns:a="http://schemas.openxmlformats.org/drawingml/2006/main" r:embed="R190bd0c32a4241f9"/>
          <a:stretch xmlns:a="http://schemas.openxmlformats.org/drawingml/2006/main"/>
        </p:blipFill>
        <p:spPr>
          <a:xfrm xmlns:a="http://schemas.openxmlformats.org/drawingml/2006/main">
            <a:off x="5888889" y="1800225"/>
            <a:ext cx="5195771" cy="2924175"/>
          </a:xfrm>
          <a:prstGeom xmlns:a="http://schemas.openxmlformats.org/drawingml/2006/main" prst="rect">
            <a:avLst/>
          </a:prstGeom>
        </p:spPr>
      </p:pic>
    </p:spTree>
    <p:extLst>
      <p:ext uri="{BB962C8B-B14F-4D97-AF65-F5344CB8AC3E}">
        <p14:creationId xmlns:p14="http://schemas.microsoft.com/office/powerpoint/2010/main" val="3200146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9">
            <a:extLst xmlns:a="http://schemas.openxmlformats.org/drawingml/2006/main">
              <a:ext uri="{FF2B5EF4-FFF2-40B4-BE49-F238E27FC236}">
                <a16:creationId xmlns:a16="http://schemas.microsoft.com/office/drawing/2014/main" id="{23A9AEF6-6776-440B-9CD9-96C3B3F48ABB}"/>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PHÁT HIỆN VÀ PHÂN LOẠI</a:t>
            </a:r>
          </a:p>
        </p:txBody>
      </p:sp>
      <p:sp>
        <p:nvSpPr>
          <p:cNvPr id="2" name="slide-title">
            <a:extLst xmlns:a="http://schemas.openxmlformats.org/drawingml/2006/main">
              <a:ext uri="{FF2B5EF4-FFF2-40B4-BE49-F238E27FC236}">
                <a16:creationId xmlns:a16="http://schemas.microsoft.com/office/drawing/2014/main" id="{428BACE2-B0A6-4143-BF41-82771975EB8D}"/>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Gợi ý danh mục từ mô tả giao dịch</a:t>
            </a:r>
          </a:p>
        </p:txBody>
      </p:sp>
      <p:sp>
        <p:nvSpPr>
          <p:cNvPr id="3" name="text-90">
            <a:extLst xmlns:a="http://schemas.openxmlformats.org/drawingml/2006/main">
              <a:ext uri="{FF2B5EF4-FFF2-40B4-BE49-F238E27FC236}">
                <a16:creationId xmlns:a16="http://schemas.microsoft.com/office/drawing/2014/main" id="{6133135E-634A-467D-A59F-D995A3E881A0}"/>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0D559046-BA47-40DE-B7DA-B5239DD3D39D}"/>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Với mô tả như mua cơm trưa, hệ thống gợi ý danh mục ăn uống. Người dùng kiểm tra và có thể sửa gợi ý trước khi lưu giao dịch.</a:t>
            </a:r>
          </a:p>
        </p:txBody>
      </p:sp>
      <p:sp>
        <p:nvSpPr>
          <p:cNvPr id="5" name="text-91">
            <a:extLst xmlns:a="http://schemas.openxmlformats.org/drawingml/2006/main">
              <a:ext uri="{FF2B5EF4-FFF2-40B4-BE49-F238E27FC236}">
                <a16:creationId xmlns:a16="http://schemas.microsoft.com/office/drawing/2014/main" id="{80A77B00-56D5-46CD-94AF-9FB72A695DC1}"/>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Lý Tú Nguyên</a:t>
            </a:r>
          </a:p>
        </p:txBody>
      </p:sp>
      <p:sp>
        <p:nvSpPr>
          <p:cNvPr id="6" name="text-92">
            <a:extLst xmlns:a="http://schemas.openxmlformats.org/drawingml/2006/main">
              <a:ext uri="{FF2B5EF4-FFF2-40B4-BE49-F238E27FC236}">
                <a16:creationId xmlns:a16="http://schemas.microsoft.com/office/drawing/2014/main" id="{A902A080-2B91-40AB-87C9-CE2674AE520F}"/>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12 / 17</a:t>
            </a:r>
          </a:p>
        </p:txBody>
      </p:sp>
      <p:sp>
        <p:nvSpPr>
          <p:cNvPr id="7" name="text-93">
            <a:extLst xmlns:a="http://schemas.openxmlformats.org/drawingml/2006/main">
              <a:ext uri="{FF2B5EF4-FFF2-40B4-BE49-F238E27FC236}">
                <a16:creationId xmlns:a16="http://schemas.microsoft.com/office/drawing/2014/main" id="{7666D393-B877-4713-BD9F-06104C5B7C6A}"/>
              </a:ext>
            </a:extLst>
          </p:cNvPr>
          <p:cNvSpPr>
            <a:spLocks xmlns:a="http://schemas.openxmlformats.org/drawingml/2006/main" noGrp="1"/>
          </p:cNvSpPr>
          <p:nvPr/>
        </p:nvSpPr>
        <p:spPr>
          <a:xfrm xmlns:a="http://schemas.openxmlformats.org/drawingml/2006/main">
            <a:off x="609600" y="15525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8A63"/>
                </a:solidFill>
                <a:latin typeface="Arial"/>
                <a:ea typeface="Arial"/>
                <a:cs typeface="Arial"/>
              </a:defRPr>
            </a:defPPr>
          </a:lstStyle>
          <a:p xmlns:a="http://schemas.openxmlformats.org/drawingml/2006/main">
            <a:pPr algn="l">
              <a:defRPr sz="2025" b="1">
                <a:solidFill>
                  <a:srgbClr val="008A63"/>
                </a:solidFill>
                <a:latin typeface="Arial"/>
                <a:ea typeface="Arial"/>
                <a:cs typeface="Arial"/>
              </a:defRPr>
            </a:pPr>
            <a:r>
              <a:rPr sz="2025" b="1">
                <a:solidFill>
                  <a:srgbClr val="008A63"/>
                </a:solidFill>
                <a:latin typeface="Arial"/>
                <a:ea typeface="Arial"/>
                <a:cs typeface="Arial"/>
              </a:rPr>
              <a:t>TF-IDF biểu diễn từ thành số. Logistic Regression chọn danh mục.</a:t>
            </a:r>
          </a:p>
        </p:txBody>
      </p:sp>
      <p:pic>
        <p:nvPicPr>
          <p:cNvPr id="8" name="">
            <a:extLst xmlns:a="http://schemas.openxmlformats.org/drawingml/2006/main">
              <a:ext uri="{FF2B5EF4-FFF2-40B4-BE49-F238E27FC236}">
                <a16:creationId xmlns:a16="http://schemas.microsoft.com/office/drawing/2014/main" id="{69B795DE-0CBF-426B-8E0E-C4B232BE1309}"/>
              </a:ext>
            </a:extLst>
          </p:cNvPr>
          <p:cNvPicPr>
            <a:picLocks xmlns:a="http://schemas.openxmlformats.org/drawingml/2006/main" noChangeAspect="1"/>
          </p:cNvPicPr>
          <p:nvPr/>
        </p:nvPicPr>
        <p:blipFill>
          <a:blip xmlns:r="http://schemas.openxmlformats.org/officeDocument/2006/relationships" xmlns:a="http://schemas.openxmlformats.org/drawingml/2006/main" r:embed="Rdc9818c122964196"/>
          <a:srcRect xmlns:a="http://schemas.openxmlformats.org/drawingml/2006/main" l="1000" t="20000" r="500" b="20500"/>
          <a:stretch xmlns:a="http://schemas.openxmlformats.org/drawingml/2006/main"/>
        </p:blipFill>
        <p:spPr>
          <a:xfrm xmlns:a="http://schemas.openxmlformats.org/drawingml/2006/main">
            <a:off x="1613184" y="2028825"/>
            <a:ext cx="8965631" cy="3048000"/>
          </a:xfrm>
          <a:prstGeom xmlns:a="http://schemas.openxmlformats.org/drawingml/2006/main" prst="rect">
            <a:avLst/>
          </a:prstGeom>
        </p:spPr>
      </p:pic>
    </p:spTree>
    <p:extLst>
      <p:ext uri="{BB962C8B-B14F-4D97-AF65-F5344CB8AC3E}">
        <p14:creationId xmlns:p14="http://schemas.microsoft.com/office/powerpoint/2010/main" val="1539001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94">
            <a:extLst xmlns:a="http://schemas.openxmlformats.org/drawingml/2006/main">
              <a:ext uri="{FF2B5EF4-FFF2-40B4-BE49-F238E27FC236}">
                <a16:creationId xmlns:a16="http://schemas.microsoft.com/office/drawing/2014/main" id="{32E59702-308A-4DC1-BABE-06E229C5551C}"/>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PHÁT HIỆN VÀ PHÂN LOẠI</a:t>
            </a:r>
          </a:p>
        </p:txBody>
      </p:sp>
      <p:sp>
        <p:nvSpPr>
          <p:cNvPr id="2" name="slide-title">
            <a:extLst xmlns:a="http://schemas.openxmlformats.org/drawingml/2006/main">
              <a:ext uri="{FF2B5EF4-FFF2-40B4-BE49-F238E27FC236}">
                <a16:creationId xmlns:a16="http://schemas.microsoft.com/office/drawing/2014/main" id="{1922311C-CB37-4EF4-988F-0254F37CBB5C}"/>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Kết quả phân loại và giới hạn dữ liệu</a:t>
            </a:r>
          </a:p>
        </p:txBody>
      </p:sp>
      <p:sp>
        <p:nvSpPr>
          <p:cNvPr id="3" name="text-95">
            <a:extLst xmlns:a="http://schemas.openxmlformats.org/drawingml/2006/main">
              <a:ext uri="{FF2B5EF4-FFF2-40B4-BE49-F238E27FC236}">
                <a16:creationId xmlns:a16="http://schemas.microsoft.com/office/drawing/2014/main" id="{4CC689AE-28BA-4310-86DB-06C3C90E36B0}"/>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BE52BD2F-5639-4B14-ADBA-1E7377670936}"/>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Độ chính xác phân loại đạt khoảng 89% trên tập kiểm tra nhỏ. Kết quả từng danh mục giúp nhóm nhìn rõ chỗ còn nhầm và xác định dữ liệu cần bổ sung.</a:t>
            </a:r>
          </a:p>
        </p:txBody>
      </p:sp>
      <p:sp>
        <p:nvSpPr>
          <p:cNvPr id="5" name="text-96">
            <a:extLst xmlns:a="http://schemas.openxmlformats.org/drawingml/2006/main">
              <a:ext uri="{FF2B5EF4-FFF2-40B4-BE49-F238E27FC236}">
                <a16:creationId xmlns:a16="http://schemas.microsoft.com/office/drawing/2014/main" id="{BE57C789-09C0-4DE4-8E76-BC9C2C4D870A}"/>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Lý Tú Nguyên</a:t>
            </a:r>
          </a:p>
        </p:txBody>
      </p:sp>
      <p:sp>
        <p:nvSpPr>
          <p:cNvPr id="6" name="text-97">
            <a:extLst xmlns:a="http://schemas.openxmlformats.org/drawingml/2006/main">
              <a:ext uri="{FF2B5EF4-FFF2-40B4-BE49-F238E27FC236}">
                <a16:creationId xmlns:a16="http://schemas.microsoft.com/office/drawing/2014/main" id="{3AB3D262-0388-4FA0-91D5-BF99BF0370FF}"/>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13 / 17</a:t>
            </a:r>
          </a:p>
        </p:txBody>
      </p:sp>
      <p:sp>
        <p:nvSpPr>
          <p:cNvPr id="7" name="text-98">
            <a:extLst xmlns:a="http://schemas.openxmlformats.org/drawingml/2006/main">
              <a:ext uri="{FF2B5EF4-FFF2-40B4-BE49-F238E27FC236}">
                <a16:creationId xmlns:a16="http://schemas.microsoft.com/office/drawing/2014/main" id="{3094616E-90EA-47C7-9C78-ED38CBD4215B}"/>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64 câu test biên soạn, 8 câu mỗi nhóm. Một lỗi thay đổi 12,5 điểm phần trăm của nhóm.</a:t>
            </a:r>
          </a:p>
        </p:txBody>
      </p:sp>
      <p:sp>
        <p:nvSpPr>
          <p:cNvPr id="8" name="text-99">
            <a:extLst xmlns:a="http://schemas.openxmlformats.org/drawingml/2006/main">
              <a:ext uri="{FF2B5EF4-FFF2-40B4-BE49-F238E27FC236}">
                <a16:creationId xmlns:a16="http://schemas.microsoft.com/office/drawing/2014/main" id="{CC1B77AA-E684-4191-966B-B45E04559C90}"/>
              </a:ext>
            </a:extLst>
          </p:cNvPr>
          <p:cNvSpPr>
            <a:spLocks xmlns:a="http://schemas.openxmlformats.org/drawingml/2006/main" noGrp="1"/>
          </p:cNvSpPr>
          <p:nvPr/>
        </p:nvSpPr>
        <p:spPr>
          <a:xfrm xmlns:a="http://schemas.openxmlformats.org/drawingml/2006/main">
            <a:off x="609600" y="176212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008A63"/>
                </a:solidFill>
                <a:latin typeface="Arial"/>
                <a:ea typeface="Arial"/>
                <a:cs typeface="Arial"/>
              </a:defRPr>
            </a:defPPr>
          </a:lstStyle>
          <a:p xmlns:a="http://schemas.openxmlformats.org/drawingml/2006/main">
            <a:pPr algn="l">
              <a:defRPr sz="5700" b="1">
                <a:solidFill>
                  <a:srgbClr val="008A63"/>
                </a:solidFill>
                <a:latin typeface="Arial"/>
                <a:ea typeface="Arial"/>
                <a:cs typeface="Arial"/>
              </a:defRPr>
            </a:pPr>
            <a:r>
              <a:rPr sz="5700" b="1">
                <a:solidFill>
                  <a:srgbClr val="008A63"/>
                </a:solidFill>
                <a:latin typeface="Arial"/>
                <a:ea typeface="Arial"/>
                <a:cs typeface="Arial"/>
              </a:rPr>
              <a:t>89,06%</a:t>
            </a:r>
          </a:p>
        </p:txBody>
      </p:sp>
      <p:sp>
        <p:nvSpPr>
          <p:cNvPr id="9" name="text-100">
            <a:extLst xmlns:a="http://schemas.openxmlformats.org/drawingml/2006/main">
              <a:ext uri="{FF2B5EF4-FFF2-40B4-BE49-F238E27FC236}">
                <a16:creationId xmlns:a16="http://schemas.microsoft.com/office/drawing/2014/main" id="{B3283067-A662-492C-8E86-F39D033066AE}"/>
              </a:ext>
            </a:extLst>
          </p:cNvPr>
          <p:cNvSpPr>
            <a:spLocks xmlns:a="http://schemas.openxmlformats.org/drawingml/2006/main" noGrp="1"/>
          </p:cNvSpPr>
          <p:nvPr/>
        </p:nvSpPr>
        <p:spPr>
          <a:xfrm xmlns:a="http://schemas.openxmlformats.org/drawingml/2006/main">
            <a:off x="609600" y="2809875"/>
            <a:ext cx="4514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92B3D"/>
                </a:solidFill>
                <a:latin typeface="Arial"/>
                <a:ea typeface="Arial"/>
                <a:cs typeface="Arial"/>
              </a:defRPr>
            </a:defPPr>
          </a:lstStyle>
          <a:p xmlns:a="http://schemas.openxmlformats.org/drawingml/2006/main">
            <a:pPr algn="l">
              <a:defRPr sz="2100" b="1">
                <a:solidFill>
                  <a:srgbClr val="092B3D"/>
                </a:solidFill>
                <a:latin typeface="Arial"/>
                <a:ea typeface="Arial"/>
                <a:cs typeface="Arial"/>
              </a:defRPr>
            </a:pPr>
            <a:r>
              <a:rPr sz="2100" b="1">
                <a:solidFill>
                  <a:srgbClr val="092B3D"/>
                </a:solidFill>
                <a:latin typeface="Arial"/>
                <a:ea typeface="Arial"/>
                <a:cs typeface="Arial"/>
              </a:rPr>
              <a:t>độ chính xác trên 64 câu test</a:t>
            </a:r>
          </a:p>
        </p:txBody>
      </p:sp>
      <p:sp>
        <p:nvSpPr>
          <p:cNvPr id="10" name="text-101">
            <a:extLst xmlns:a="http://schemas.openxmlformats.org/drawingml/2006/main">
              <a:ext uri="{FF2B5EF4-FFF2-40B4-BE49-F238E27FC236}">
                <a16:creationId xmlns:a16="http://schemas.microsoft.com/office/drawing/2014/main" id="{35B07CC5-6B73-4875-9E76-8BC259E37389}"/>
              </a:ext>
            </a:extLst>
          </p:cNvPr>
          <p:cNvSpPr>
            <a:spLocks xmlns:a="http://schemas.openxmlformats.org/drawingml/2006/main" noGrp="1"/>
          </p:cNvSpPr>
          <p:nvPr/>
        </p:nvSpPr>
        <p:spPr>
          <a:xfrm xmlns:a="http://schemas.openxmlformats.org/drawingml/2006/main">
            <a:off x="609600" y="3714750"/>
            <a:ext cx="4514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92B3D"/>
                </a:solidFill>
                <a:latin typeface="Arial"/>
                <a:ea typeface="Arial"/>
                <a:cs typeface="Arial"/>
              </a:defRPr>
            </a:defPPr>
          </a:lstStyle>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Nhà ở và ăn uống:</a:t>
            </a:r>
          </a:p>
          <a:p xmlns:a="http://schemas.openxmlformats.org/drawingml/2006/main">
            <a:pPr algn="l">
              <a:defRPr sz="2100" b="0">
                <a:solidFill>
                  <a:srgbClr val="092B3D"/>
                </a:solidFill>
                <a:latin typeface="Arial"/>
                <a:ea typeface="Arial"/>
                <a:cs typeface="Arial"/>
              </a:defRPr>
            </a:pPr>
            <a:r>
              <a:rPr sz="2100" b="0">
                <a:solidFill>
                  <a:srgbClr val="092B3D"/>
                </a:solidFill>
                <a:latin typeface="Arial"/>
                <a:ea typeface="Arial"/>
                <a:cs typeface="Arial"/>
              </a:rPr>
              <a:t>6/8 câu phân loại đúng</a:t>
            </a:r>
          </a:p>
        </p:txBody>
      </p:sp>
      <p:sp>
        <p:nvSpPr>
          <p:cNvPr id="11" name="text-102">
            <a:extLst xmlns:a="http://schemas.openxmlformats.org/drawingml/2006/main">
              <a:ext uri="{FF2B5EF4-FFF2-40B4-BE49-F238E27FC236}">
                <a16:creationId xmlns:a16="http://schemas.microsoft.com/office/drawing/2014/main" id="{7F069BA2-CB4F-4306-8CCC-3D2E1D6C7D2D}"/>
              </a:ext>
            </a:extLst>
          </p:cNvPr>
          <p:cNvSpPr>
            <a:spLocks xmlns:a="http://schemas.openxmlformats.org/drawingml/2006/main" noGrp="1"/>
          </p:cNvSpPr>
          <p:nvPr/>
        </p:nvSpPr>
        <p:spPr>
          <a:xfrm xmlns:a="http://schemas.openxmlformats.org/drawingml/2006/main">
            <a:off x="5524500" y="1609725"/>
            <a:ext cx="6057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92B3D"/>
                </a:solidFill>
                <a:latin typeface="Arial"/>
                <a:ea typeface="Arial"/>
                <a:cs typeface="Arial"/>
              </a:defRPr>
            </a:defPPr>
          </a:lstStyle>
          <a:p xmlns:a="http://schemas.openxmlformats.org/drawingml/2006/main">
            <a:pPr algn="l">
              <a:defRPr sz="2025" b="1">
                <a:solidFill>
                  <a:srgbClr val="092B3D"/>
                </a:solidFill>
                <a:latin typeface="Arial"/>
                <a:ea typeface="Arial"/>
                <a:cs typeface="Arial"/>
              </a:defRPr>
            </a:pPr>
            <a:r>
              <a:rPr sz="2025" b="1">
                <a:solidFill>
                  <a:srgbClr val="092B3D"/>
                </a:solidFill>
                <a:latin typeface="Arial"/>
                <a:ea typeface="Arial"/>
                <a:cs typeface="Arial"/>
              </a:rPr>
              <a:t>Tỷ lệ đúng theo từng nhóm (%)</a:t>
            </a:r>
          </a:p>
        </p:txBody>
      </p:sp>
      <p:graphicFrame>
        <p:nvGraphicFramePr>
          <p:cNvPr id="12" name="Chart">
            <a:extLst xmlns:a="http://schemas.openxmlformats.org/drawingml/2006/main">
              <a:ext uri="{FF2B5EF4-FFF2-40B4-BE49-F238E27FC236}">
                <a16:creationId xmlns:a16="http://schemas.microsoft.com/office/drawing/2014/main" id="{D98BFDA1-3001-4DE2-A808-97F4BD8D9744}"/>
              </a:ext>
            </a:extLst>
          </p:cNvPr>
          <p:cNvGraphicFramePr/>
          <p:nvPr/>
        </p:nvGraphicFramePr>
        <p:xfrm>
          <a:off xmlns:a="http://schemas.openxmlformats.org/drawingml/2006/main" x="5524500" y="2143125"/>
          <a:ext xmlns:a="http://schemas.openxmlformats.org/drawingml/2006/main" cx="6057900" cy="2743200"/>
        </p:xfrm>
        <a:graphic xmlns:a="http://schemas.openxmlformats.org/drawingml/2006/main">
          <a:graphicData uri="http://schemas.openxmlformats.org/drawingml/2006/chart">
            <c:chart xmlns:r="http://schemas.openxmlformats.org/officeDocument/2006/relationships" xmlns:c="http://schemas.openxmlformats.org/drawingml/2006/chart" r:id="Ra667a3008e304509"/>
          </a:graphicData>
        </a:graphic>
      </p:graphicFrame>
    </p:spTree>
    <p:extLst>
      <p:ext uri="{BB962C8B-B14F-4D97-AF65-F5344CB8AC3E}">
        <p14:creationId xmlns:p14="http://schemas.microsoft.com/office/powerpoint/2010/main" val="3452068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03">
            <a:extLst xmlns:a="http://schemas.openxmlformats.org/drawingml/2006/main">
              <a:ext uri="{FF2B5EF4-FFF2-40B4-BE49-F238E27FC236}">
                <a16:creationId xmlns:a16="http://schemas.microsoft.com/office/drawing/2014/main" id="{B0B9019A-021C-4C78-8E11-10C6D34F0D87}"/>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CHATBOT VÀ KIỂM CHỨNG</a:t>
            </a:r>
          </a:p>
        </p:txBody>
      </p:sp>
      <p:sp>
        <p:nvSpPr>
          <p:cNvPr id="2" name="slide-title">
            <a:extLst xmlns:a="http://schemas.openxmlformats.org/drawingml/2006/main">
              <a:ext uri="{FF2B5EF4-FFF2-40B4-BE49-F238E27FC236}">
                <a16:creationId xmlns:a16="http://schemas.microsoft.com/office/drawing/2014/main" id="{C6D95E44-7E59-4CCC-9E06-49B48E13CD8D}"/>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Chatbot với QLoRA và số liệu có nguồn</a:t>
            </a:r>
          </a:p>
        </p:txBody>
      </p:sp>
      <p:sp>
        <p:nvSpPr>
          <p:cNvPr id="3" name="text-104">
            <a:extLst xmlns:a="http://schemas.openxmlformats.org/drawingml/2006/main">
              <a:ext uri="{FF2B5EF4-FFF2-40B4-BE49-F238E27FC236}">
                <a16:creationId xmlns:a16="http://schemas.microsoft.com/office/drawing/2014/main" id="{BA910278-34E1-486B-852D-8AEA1ADC8F51}"/>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70BFB3D6-7E25-404F-BB9A-52E326116A1F}"/>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Chatbot hỗ trợ giải thích, còn số tiền lấy từ dữ liệu đã xác minh. Bản phát hành kết hợp tinh chỉnh QLoRA, tài liệu tham chiếu và cơ chế kiểm tra số liệu.</a:t>
            </a:r>
          </a:p>
        </p:txBody>
      </p:sp>
      <p:sp>
        <p:nvSpPr>
          <p:cNvPr id="5" name="text-105">
            <a:extLst xmlns:a="http://schemas.openxmlformats.org/drawingml/2006/main">
              <a:ext uri="{FF2B5EF4-FFF2-40B4-BE49-F238E27FC236}">
                <a16:creationId xmlns:a16="http://schemas.microsoft.com/office/drawing/2014/main" id="{3B8340CA-0F38-4A76-9875-9EDCC294419B}"/>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Nguyễn Tùng Lâm</a:t>
            </a:r>
          </a:p>
        </p:txBody>
      </p:sp>
      <p:sp>
        <p:nvSpPr>
          <p:cNvPr id="6" name="text-106">
            <a:extLst xmlns:a="http://schemas.openxmlformats.org/drawingml/2006/main">
              <a:ext uri="{FF2B5EF4-FFF2-40B4-BE49-F238E27FC236}">
                <a16:creationId xmlns:a16="http://schemas.microsoft.com/office/drawing/2014/main" id="{34427811-C51E-4439-862A-4E25A5754029}"/>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14 / 17</a:t>
            </a:r>
          </a:p>
        </p:txBody>
      </p:sp>
      <p:sp>
        <p:nvSpPr>
          <p:cNvPr id="7" name="text-107">
            <a:extLst xmlns:a="http://schemas.openxmlformats.org/drawingml/2006/main">
              <a:ext uri="{FF2B5EF4-FFF2-40B4-BE49-F238E27FC236}">
                <a16:creationId xmlns:a16="http://schemas.microsoft.com/office/drawing/2014/main" id="{15B4CE33-1889-488E-B61E-0DE6199B315E}"/>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QLoRA hoàn tất theo báo cáo 14/10/2026. Bộ hội thoại giả lập nhỏ cần đánh giá thêm.</a:t>
            </a:r>
          </a:p>
        </p:txBody>
      </p:sp>
      <p:sp>
        <p:nvSpPr>
          <p:cNvPr id="8" name="text-108">
            <a:extLst xmlns:a="http://schemas.openxmlformats.org/drawingml/2006/main">
              <a:ext uri="{FF2B5EF4-FFF2-40B4-BE49-F238E27FC236}">
                <a16:creationId xmlns:a16="http://schemas.microsoft.com/office/drawing/2014/main" id="{999A13D0-1641-476B-B4E0-9C2AF21D3D0D}"/>
              </a:ext>
            </a:extLst>
          </p:cNvPr>
          <p:cNvSpPr>
            <a:spLocks xmlns:a="http://schemas.openxmlformats.org/drawingml/2006/main" noGrp="1"/>
          </p:cNvSpPr>
          <p:nvPr/>
        </p:nvSpPr>
        <p:spPr>
          <a:xfrm xmlns:a="http://schemas.openxmlformats.org/drawingml/2006/main">
            <a:off x="609600" y="1762125"/>
            <a:ext cx="409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008A63"/>
                </a:solidFill>
                <a:latin typeface="Arial"/>
                <a:ea typeface="Arial"/>
                <a:cs typeface="Arial"/>
              </a:defRPr>
            </a:defPPr>
          </a:lstStyle>
          <a:p xmlns:a="http://schemas.openxmlformats.org/drawingml/2006/main">
            <a:pPr algn="l">
              <a:defRPr sz="3525" b="1">
                <a:solidFill>
                  <a:srgbClr val="008A63"/>
                </a:solidFill>
                <a:latin typeface="Arial"/>
                <a:ea typeface="Arial"/>
                <a:cs typeface="Arial"/>
              </a:defRPr>
            </a:pPr>
            <a:r>
              <a:rPr sz="3525" b="1">
                <a:solidFill>
                  <a:srgbClr val="008A63"/>
                </a:solidFill>
                <a:latin typeface="Arial"/>
                <a:ea typeface="Arial"/>
                <a:cs typeface="Arial"/>
              </a:rPr>
              <a:t>Qwen3 1.7B</a:t>
            </a:r>
          </a:p>
        </p:txBody>
      </p:sp>
      <p:sp>
        <p:nvSpPr>
          <p:cNvPr id="9" name="text-109">
            <a:extLst xmlns:a="http://schemas.openxmlformats.org/drawingml/2006/main">
              <a:ext uri="{FF2B5EF4-FFF2-40B4-BE49-F238E27FC236}">
                <a16:creationId xmlns:a16="http://schemas.microsoft.com/office/drawing/2014/main" id="{38D350FD-A1BE-40C7-9479-4D42420353F7}"/>
              </a:ext>
            </a:extLst>
          </p:cNvPr>
          <p:cNvSpPr>
            <a:spLocks xmlns:a="http://schemas.openxmlformats.org/drawingml/2006/main" noGrp="1"/>
          </p:cNvSpPr>
          <p:nvPr/>
        </p:nvSpPr>
        <p:spPr>
          <a:xfrm xmlns:a="http://schemas.openxmlformats.org/drawingml/2006/main">
            <a:off x="609600" y="24955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2B3D"/>
                </a:solidFill>
                <a:latin typeface="Arial"/>
                <a:ea typeface="Arial"/>
                <a:cs typeface="Arial"/>
              </a:defRPr>
            </a:defPPr>
          </a:lstStyle>
          <a:p xmlns:a="http://schemas.openxmlformats.org/drawingml/2006/main">
            <a:pPr algn="l">
              <a:defRPr sz="2250" b="1">
                <a:solidFill>
                  <a:srgbClr val="092B3D"/>
                </a:solidFill>
                <a:latin typeface="Arial"/>
                <a:ea typeface="Arial"/>
                <a:cs typeface="Arial"/>
              </a:defRPr>
            </a:pPr>
            <a:r>
              <a:rPr sz="2250" b="1">
                <a:solidFill>
                  <a:srgbClr val="092B3D"/>
                </a:solidFill>
                <a:latin typeface="Arial"/>
                <a:ea typeface="Arial"/>
                <a:cs typeface="Arial"/>
              </a:rPr>
              <a:t>Đã tinh chỉnh QLoRA</a:t>
            </a:r>
          </a:p>
        </p:txBody>
      </p:sp>
      <p:sp>
        <p:nvSpPr>
          <p:cNvPr id="10" name="text-110">
            <a:extLst xmlns:a="http://schemas.openxmlformats.org/drawingml/2006/main">
              <a:ext uri="{FF2B5EF4-FFF2-40B4-BE49-F238E27FC236}">
                <a16:creationId xmlns:a16="http://schemas.microsoft.com/office/drawing/2014/main" id="{765A7D85-DADB-43DC-96E1-D3A032A44BC0}"/>
              </a:ext>
            </a:extLst>
          </p:cNvPr>
          <p:cNvSpPr>
            <a:spLocks xmlns:a="http://schemas.openxmlformats.org/drawingml/2006/main" noGrp="1"/>
          </p:cNvSpPr>
          <p:nvPr/>
        </p:nvSpPr>
        <p:spPr>
          <a:xfrm xmlns:a="http://schemas.openxmlformats.org/drawingml/2006/main">
            <a:off x="609600" y="34099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92B3D"/>
                </a:solidFill>
                <a:latin typeface="Arial"/>
                <a:ea typeface="Arial"/>
                <a:cs typeface="Arial"/>
              </a:defRPr>
            </a:defPPr>
          </a:lstStyle>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Học thêm ít tham số</a:t>
            </a:r>
          </a:p>
          <a:p xmlns:a="http://schemas.openxmlformats.org/drawingml/2006/main">
            <a:pPr algn="l">
              <a:defRPr sz="2025" b="0">
                <a:solidFill>
                  <a:srgbClr val="092B3D"/>
                </a:solidFill>
                <a:latin typeface="Arial"/>
                <a:ea typeface="Arial"/>
                <a:cs typeface="Arial"/>
              </a:defRPr>
            </a:pPr>
            <a:r>
              <a:rPr sz="2025" b="0">
                <a:solidFill>
                  <a:srgbClr val="092B3D"/>
                </a:solidFill>
                <a:latin typeface="Arial"/>
                <a:ea typeface="Arial"/>
                <a:cs typeface="Arial"/>
              </a:rPr>
              <a:t>trên mô hình 4-bit</a:t>
            </a:r>
          </a:p>
        </p:txBody>
      </p:sp>
      <p:graphicFrame>
        <p:nvGraphicFramePr>
          <p:cNvPr id="11" name="">
            <a:extLst xmlns:a="http://schemas.openxmlformats.org/drawingml/2006/main">
              <a:ext uri="{FF2B5EF4-FFF2-40B4-BE49-F238E27FC236}">
                <a16:creationId xmlns:a16="http://schemas.microsoft.com/office/drawing/2014/main" id="{2C774E29-99BE-4073-901E-23EA1F510963}"/>
              </a:ext>
            </a:extLst>
          </p:cNvPr>
          <p:cNvGraphicFramePr/>
          <p:nvPr/>
        </p:nvGraphicFramePr>
        <p:xfrm>
          <a:off xmlns:a="http://schemas.openxmlformats.org/drawingml/2006/main" x="4953000" y="1743075"/>
          <a:ext xmlns:a="http://schemas.openxmlformats.org/drawingml/2006/main" cx="6629400" cy="2886075"/>
        </p:xfrm>
        <a:graphic xmlns:a="http://schemas.openxmlformats.org/drawingml/2006/main">
          <a:graphicData uri="http://schemas.openxmlformats.org/drawingml/2006/table">
            <a:tbl>
              <a:tblPr/>
              <a:tblGrid>
                <a:gridCol w="2381250"/>
                <a:gridCol w="4248150"/>
              </a:tblGrid>
              <a:tr h="721519">
                <a:tc>
                  <a:txBody>
                    <a:bodyPr anchor="ctr"/>
                    <a:lstStyle/>
                    <a:p>
                      <a:pPr algn="l"/>
                      <a:r>
                        <a:rPr sz="1875" b="1">
                          <a:solidFill>
                            <a:srgbClr val="FFFFFF"/>
                          </a:solidFill>
                          <a:latin typeface="Arial"/>
                          <a:ea typeface="Arial"/>
                          <a:cs typeface="Arial"/>
                        </a:rPr>
                        <a:t>Câu hỏi</a:t>
                      </a:r>
                    </a:p>
                  </a:txBody>
                  <a:tcPr marL="133350" marR="133350" marT="95250" marB="95250">
                    <a:lnL w="9525">
                      <a:solidFill>
                        <a:srgbClr val="DFEAE6"/>
                      </a:solidFill>
                      <a:prstDash val="solid"/>
                    </a:lnL>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c>
                  <a:txBody>
                    <a:bodyPr anchor="ctr"/>
                    <a:lstStyle/>
                    <a:p>
                      <a:pPr algn="l"/>
                      <a:r>
                        <a:rPr sz="1875" b="1">
                          <a:solidFill>
                            <a:srgbClr val="FFFFFF"/>
                          </a:solidFill>
                          <a:latin typeface="Arial"/>
                          <a:ea typeface="Arial"/>
                          <a:cs typeface="Arial"/>
                        </a:rPr>
                        <a:t>Cách xử lý</a:t>
                      </a:r>
                    </a:p>
                  </a:txBody>
                  <a:tcPr marL="133350" marR="133350" marT="95250" marB="95250">
                    <a:lnR w="9525">
                      <a:solidFill>
                        <a:srgbClr val="DFEAE6"/>
                      </a:solidFill>
                      <a:prstDash val="solid"/>
                    </a:lnR>
                    <a:lnT w="9525">
                      <a:solidFill>
                        <a:srgbClr val="DFEAE6"/>
                      </a:solidFill>
                      <a:prstDash val="solid"/>
                    </a:lnT>
                    <a:lnB w="9525">
                      <a:solidFill>
                        <a:srgbClr val="DFEAE6"/>
                      </a:solidFill>
                      <a:prstDash val="solid"/>
                    </a:lnB>
                    <a:solidFill>
                      <a:srgbClr val="072E37"/>
                    </a:solidFill>
                  </a:tcPr>
                </a:tc>
              </a:tr>
              <a:tr h="721519">
                <a:tc>
                  <a:txBody>
                    <a:bodyPr anchor="ctr"/>
                    <a:lstStyle/>
                    <a:p>
                      <a:pPr algn="l"/>
                      <a:r>
                        <a:rPr sz="1875" b="0">
                          <a:solidFill>
                            <a:srgbClr val="092B3D"/>
                          </a:solidFill>
                          <a:latin typeface="Arial"/>
                          <a:ea typeface="Arial"/>
                          <a:cs typeface="Arial"/>
                        </a:rPr>
                        <a:t>Về tài khoản</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Số tiền và kỳ được xác minh</a:t>
                      </a:r>
                    </a:p>
                  </a:txBody>
                  <a:tcPr marL="133350" marR="133350" marT="95250" marB="95250">
                    <a:lnR w="9525">
                      <a:solidFill>
                        <a:srgbClr val="DFEAE6"/>
                      </a:solidFill>
                      <a:prstDash val="solid"/>
                    </a:lnR>
                    <a:lnB w="9525">
                      <a:solidFill>
                        <a:srgbClr val="DFEAE6"/>
                      </a:solidFill>
                      <a:prstDash val="solid"/>
                    </a:lnB>
                    <a:solidFill>
                      <a:srgbClr val="FFFFFF"/>
                    </a:solidFill>
                  </a:tcPr>
                </a:tc>
              </a:tr>
              <a:tr h="721519">
                <a:tc>
                  <a:txBody>
                    <a:bodyPr anchor="ctr"/>
                    <a:lstStyle/>
                    <a:p>
                      <a:pPr algn="l"/>
                      <a:r>
                        <a:rPr sz="1875" b="0">
                          <a:solidFill>
                            <a:srgbClr val="092B3D"/>
                          </a:solidFill>
                          <a:latin typeface="Arial"/>
                          <a:ea typeface="Arial"/>
                          <a:cs typeface="Arial"/>
                        </a:rPr>
                        <a:t>Kiến thức chung</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Qwen3 và tài liệu tham chiếu</a:t>
                      </a:r>
                    </a:p>
                  </a:txBody>
                  <a:tcPr marL="133350" marR="133350" marT="95250" marB="95250">
                    <a:lnR w="9525">
                      <a:solidFill>
                        <a:srgbClr val="DFEAE6"/>
                      </a:solidFill>
                      <a:prstDash val="solid"/>
                    </a:lnR>
                    <a:lnB w="9525">
                      <a:solidFill>
                        <a:srgbClr val="DFEAE6"/>
                      </a:solidFill>
                      <a:prstDash val="solid"/>
                    </a:lnB>
                    <a:solidFill>
                      <a:srgbClr val="FFFFFF"/>
                    </a:solidFill>
                  </a:tcPr>
                </a:tc>
              </a:tr>
              <a:tr h="721519">
                <a:tc>
                  <a:txBody>
                    <a:bodyPr anchor="ctr"/>
                    <a:lstStyle/>
                    <a:p>
                      <a:pPr algn="l"/>
                      <a:r>
                        <a:rPr sz="1875" b="0">
                          <a:solidFill>
                            <a:srgbClr val="092B3D"/>
                          </a:solidFill>
                          <a:latin typeface="Arial"/>
                          <a:ea typeface="Arial"/>
                          <a:cs typeface="Arial"/>
                        </a:rPr>
                        <a:t>Hội thoại</a:t>
                      </a:r>
                    </a:p>
                  </a:txBody>
                  <a:tcPr marL="133350" marR="133350" marT="95250" marB="95250">
                    <a:lnL w="9525">
                      <a:solidFill>
                        <a:srgbClr val="DFEAE6"/>
                      </a:solidFill>
                      <a:prstDash val="solid"/>
                    </a:lnL>
                    <a:lnR w="9525">
                      <a:solidFill>
                        <a:srgbClr val="DFEAE6"/>
                      </a:solidFill>
                      <a:prstDash val="solid"/>
                    </a:lnR>
                    <a:lnB w="9525">
                      <a:solidFill>
                        <a:srgbClr val="DFEAE6"/>
                      </a:solidFill>
                      <a:prstDash val="solid"/>
                    </a:lnB>
                    <a:solidFill>
                      <a:srgbClr val="FFFFFF"/>
                    </a:solidFill>
                  </a:tcPr>
                </a:tc>
                <a:tc>
                  <a:txBody>
                    <a:bodyPr anchor="ctr"/>
                    <a:lstStyle/>
                    <a:p>
                      <a:pPr algn="l"/>
                      <a:r>
                        <a:rPr sz="1875" b="0">
                          <a:solidFill>
                            <a:srgbClr val="092B3D"/>
                          </a:solidFill>
                          <a:latin typeface="Arial"/>
                          <a:ea typeface="Arial"/>
                          <a:cs typeface="Arial"/>
                        </a:rPr>
                        <a:t>Lưu riêng theo tài khoản</a:t>
                      </a:r>
                    </a:p>
                  </a:txBody>
                  <a:tcPr marL="133350" marR="133350" marT="95250" marB="95250">
                    <a:lnR w="9525">
                      <a:solidFill>
                        <a:srgbClr val="DFEAE6"/>
                      </a:solidFill>
                      <a:prstDash val="solid"/>
                    </a:lnR>
                    <a:lnB w="9525">
                      <a:solidFill>
                        <a:srgbClr val="DFEAE6"/>
                      </a:solidFill>
                      <a:prstDash val="solid"/>
                    </a:lnB>
                    <a:solidFill>
                      <a:srgbClr val="FFFFFF"/>
                    </a:solidFill>
                  </a:tcPr>
                </a:tc>
              </a:tr>
            </a:tbl>
          </a:graphicData>
        </a:graphic>
      </p:graphicFrame>
    </p:spTree>
    <p:extLst>
      <p:ext uri="{BB962C8B-B14F-4D97-AF65-F5344CB8AC3E}">
        <p14:creationId xmlns:p14="http://schemas.microsoft.com/office/powerpoint/2010/main" val="174124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11">
            <a:extLst xmlns:a="http://schemas.openxmlformats.org/drawingml/2006/main">
              <a:ext uri="{FF2B5EF4-FFF2-40B4-BE49-F238E27FC236}">
                <a16:creationId xmlns:a16="http://schemas.microsoft.com/office/drawing/2014/main" id="{C7379F50-2E5D-4BBA-9574-0148CD6E05CE}"/>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8A63"/>
                </a:solidFill>
                <a:latin typeface="Arial"/>
                <a:ea typeface="Arial"/>
                <a:cs typeface="Arial"/>
              </a:defRPr>
            </a:defPPr>
          </a:lstStyle>
          <a:p xmlns:a="http://schemas.openxmlformats.org/drawingml/2006/main">
            <a:pPr algn="l">
              <a:defRPr sz="1350" b="1">
                <a:solidFill>
                  <a:srgbClr val="008A63"/>
                </a:solidFill>
                <a:latin typeface="Arial"/>
                <a:ea typeface="Arial"/>
                <a:cs typeface="Arial"/>
              </a:defRPr>
            </a:pPr>
            <a:r>
              <a:rPr sz="1350" b="1">
                <a:solidFill>
                  <a:srgbClr val="008A63"/>
                </a:solidFill>
                <a:latin typeface="Arial"/>
                <a:ea typeface="Arial"/>
                <a:cs typeface="Arial"/>
              </a:rPr>
              <a:t>CHATBOT VÀ KIỂM CHỨNG</a:t>
            </a:r>
          </a:p>
        </p:txBody>
      </p:sp>
      <p:sp>
        <p:nvSpPr>
          <p:cNvPr id="2" name="slide-title">
            <a:extLst xmlns:a="http://schemas.openxmlformats.org/drawingml/2006/main">
              <a:ext uri="{FF2B5EF4-FFF2-40B4-BE49-F238E27FC236}">
                <a16:creationId xmlns:a16="http://schemas.microsoft.com/office/drawing/2014/main" id="{2F262FD6-63D4-4948-9C91-3BCB10ACCA85}"/>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92B3D"/>
                </a:solidFill>
                <a:latin typeface="Arial"/>
                <a:ea typeface="Arial"/>
                <a:cs typeface="Arial"/>
              </a:defRPr>
            </a:defPPr>
          </a:lstStyle>
          <a:p xmlns:a="http://schemas.openxmlformats.org/drawingml/2006/main">
            <a:pPr algn="l">
              <a:defRPr sz="3300" b="1">
                <a:solidFill>
                  <a:srgbClr val="092B3D"/>
                </a:solidFill>
                <a:latin typeface="Arial"/>
                <a:ea typeface="Arial"/>
                <a:cs typeface="Arial"/>
              </a:defRPr>
            </a:pPr>
            <a:r>
              <a:rPr sz="3300" b="1">
                <a:solidFill>
                  <a:srgbClr val="092B3D"/>
                </a:solidFill>
                <a:latin typeface="Arial"/>
                <a:ea typeface="Arial"/>
                <a:cs typeface="Arial"/>
              </a:rPr>
              <a:t>Ví dụ câu trả lời kèm nguồn dữ liệu</a:t>
            </a:r>
          </a:p>
        </p:txBody>
      </p:sp>
      <p:sp>
        <p:nvSpPr>
          <p:cNvPr id="3" name="text-112">
            <a:extLst xmlns:a="http://schemas.openxmlformats.org/drawingml/2006/main">
              <a:ext uri="{FF2B5EF4-FFF2-40B4-BE49-F238E27FC236}">
                <a16:creationId xmlns:a16="http://schemas.microsoft.com/office/drawing/2014/main" id="{476295C7-D20E-4B35-A347-64A2B7CCEB49}"/>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8A63"/>
                </a:solidFill>
                <a:latin typeface="Arial"/>
                <a:ea typeface="Arial"/>
                <a:cs typeface="Arial"/>
              </a:defRPr>
            </a:defPPr>
          </a:lstStyle>
          <a:p xmlns:a="http://schemas.openxmlformats.org/drawingml/2006/main">
            <a:pPr algn="l">
              <a:defRPr sz="1275" b="1">
                <a:solidFill>
                  <a:srgbClr val="008A63"/>
                </a:solidFill>
                <a:latin typeface="Arial"/>
                <a:ea typeface="Arial"/>
                <a:cs typeface="Arial"/>
              </a:defRPr>
            </a:pPr>
            <a:r>
              <a:rPr sz="1275" b="1">
                <a:solidFill>
                  <a:srgbClr val="008A63"/>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9DD17978-D9F4-40EB-A9DA-21AAA8BC0380}"/>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B78"/>
                </a:solidFill>
                <a:latin typeface="Arial"/>
                <a:ea typeface="Arial"/>
                <a:cs typeface="Arial"/>
              </a:defRPr>
            </a:defPPr>
          </a:lstStyle>
          <a:p xmlns:a="http://schemas.openxmlformats.org/drawingml/2006/main">
            <a:pPr algn="l">
              <a:defRPr sz="1725" b="0">
                <a:solidFill>
                  <a:srgbClr val="526B78"/>
                </a:solidFill>
                <a:latin typeface="Arial"/>
                <a:ea typeface="Arial"/>
                <a:cs typeface="Arial"/>
              </a:defRPr>
            </a:pPr>
            <a:r>
              <a:rPr sz="1725" b="0">
                <a:solidFill>
                  <a:srgbClr val="526B78"/>
                </a:solidFill>
                <a:latin typeface="Arial"/>
                <a:ea typeface="Arial"/>
                <a:cs typeface="Arial"/>
              </a:rPr>
              <a:t>Ví dụ demo hỏi danh mục chi nhiều nhất trong tháng. Hệ thống trả lời kèm số tiền và kỳ dữ liệu để người dùng có cơ sở kiểm tra.</a:t>
            </a:r>
          </a:p>
        </p:txBody>
      </p:sp>
      <p:sp>
        <p:nvSpPr>
          <p:cNvPr id="5" name="text-113">
            <a:extLst xmlns:a="http://schemas.openxmlformats.org/drawingml/2006/main">
              <a:ext uri="{FF2B5EF4-FFF2-40B4-BE49-F238E27FC236}">
                <a16:creationId xmlns:a16="http://schemas.microsoft.com/office/drawing/2014/main" id="{4BA9A00A-FEB7-4595-82EA-A297F54B0678}"/>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B78"/>
                </a:solidFill>
                <a:latin typeface="Arial"/>
                <a:ea typeface="Arial"/>
                <a:cs typeface="Arial"/>
              </a:defRPr>
            </a:defPPr>
          </a:lstStyle>
          <a:p xmlns:a="http://schemas.openxmlformats.org/drawingml/2006/main">
            <a:pPr algn="l">
              <a:defRPr sz="1350" b="0">
                <a:solidFill>
                  <a:srgbClr val="526B78"/>
                </a:solidFill>
                <a:latin typeface="Arial"/>
                <a:ea typeface="Arial"/>
                <a:cs typeface="Arial"/>
              </a:defRPr>
            </a:pPr>
            <a:r>
              <a:rPr sz="1350" b="0">
                <a:solidFill>
                  <a:srgbClr val="526B78"/>
                </a:solidFill>
                <a:latin typeface="Arial"/>
                <a:ea typeface="Arial"/>
                <a:cs typeface="Arial"/>
              </a:rPr>
              <a:t>Nguyễn Tùng Lâm</a:t>
            </a:r>
          </a:p>
        </p:txBody>
      </p:sp>
      <p:sp>
        <p:nvSpPr>
          <p:cNvPr id="6" name="text-114">
            <a:extLst xmlns:a="http://schemas.openxmlformats.org/drawingml/2006/main">
              <a:ext uri="{FF2B5EF4-FFF2-40B4-BE49-F238E27FC236}">
                <a16:creationId xmlns:a16="http://schemas.microsoft.com/office/drawing/2014/main" id="{5EDD70AA-D5A3-47E6-B200-08B928AF3EFB}"/>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008A63"/>
                </a:solidFill>
                <a:latin typeface="Arial"/>
                <a:ea typeface="Arial"/>
                <a:cs typeface="Arial"/>
              </a:defRPr>
            </a:defPPr>
          </a:lstStyle>
          <a:p xmlns:a="http://schemas.openxmlformats.org/drawingml/2006/main">
            <a:pPr algn="r">
              <a:defRPr sz="1350" b="1">
                <a:solidFill>
                  <a:srgbClr val="008A63"/>
                </a:solidFill>
                <a:latin typeface="Arial"/>
                <a:ea typeface="Arial"/>
                <a:cs typeface="Arial"/>
              </a:defRPr>
            </a:pPr>
            <a:r>
              <a:rPr sz="1350" b="1">
                <a:solidFill>
                  <a:srgbClr val="008A63"/>
                </a:solidFill>
                <a:latin typeface="Arial"/>
                <a:ea typeface="Arial"/>
                <a:cs typeface="Arial"/>
              </a:rPr>
              <a:t>15 / 17</a:t>
            </a:r>
          </a:p>
        </p:txBody>
      </p:sp>
      <p:sp>
        <p:nvSpPr>
          <p:cNvPr id="7" name="text-115">
            <a:extLst xmlns:a="http://schemas.openxmlformats.org/drawingml/2006/main">
              <a:ext uri="{FF2B5EF4-FFF2-40B4-BE49-F238E27FC236}">
                <a16:creationId xmlns:a16="http://schemas.microsoft.com/office/drawing/2014/main" id="{500D3669-CA67-4A5B-AADD-422D04F8C7F8}"/>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B78"/>
                </a:solidFill>
                <a:latin typeface="Arial"/>
                <a:ea typeface="Arial"/>
                <a:cs typeface="Arial"/>
              </a:defRPr>
            </a:defPPr>
          </a:lstStyle>
          <a:p xmlns:a="http://schemas.openxmlformats.org/drawingml/2006/main">
            <a:pPr algn="l">
              <a:defRPr sz="1275" b="0">
                <a:solidFill>
                  <a:srgbClr val="526B78"/>
                </a:solidFill>
                <a:latin typeface="Arial"/>
                <a:ea typeface="Arial"/>
                <a:cs typeface="Arial"/>
              </a:defRPr>
            </a:pPr>
            <a:r>
              <a:rPr sz="1275" b="0">
                <a:solidFill>
                  <a:srgbClr val="526B78"/>
                </a:solidFill>
                <a:latin typeface="Arial"/>
                <a:ea typeface="Arial"/>
                <a:cs typeface="Arial"/>
              </a:rPr>
              <a:t>Ví dụ tài khoản kiểm thử, tháng 10/2026. Số liệu trong ảnh được giữ nguyên.</a:t>
            </a:r>
          </a:p>
        </p:txBody>
      </p:sp>
      <p:sp>
        <p:nvSpPr>
          <p:cNvPr id="8" name="text-116">
            <a:extLst xmlns:a="http://schemas.openxmlformats.org/drawingml/2006/main">
              <a:ext uri="{FF2B5EF4-FFF2-40B4-BE49-F238E27FC236}">
                <a16:creationId xmlns:a16="http://schemas.microsoft.com/office/drawing/2014/main" id="{01C5A5BE-682D-4CEA-89A7-48F788B2B639}"/>
              </a:ext>
            </a:extLst>
          </p:cNvPr>
          <p:cNvSpPr>
            <a:spLocks xmlns:a="http://schemas.openxmlformats.org/drawingml/2006/main" noGrp="1"/>
          </p:cNvSpPr>
          <p:nvPr/>
        </p:nvSpPr>
        <p:spPr>
          <a:xfrm xmlns:a="http://schemas.openxmlformats.org/drawingml/2006/main">
            <a:off x="609600" y="1771650"/>
            <a:ext cx="4381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92B3D"/>
                </a:solidFill>
                <a:latin typeface="Arial"/>
                <a:ea typeface="Arial"/>
                <a:cs typeface="Arial"/>
              </a:defRPr>
            </a:defPPr>
          </a:lstStyle>
          <a:p xmlns:a="http://schemas.openxmlformats.org/drawingml/2006/main">
            <a:pPr algn="l">
              <a:defRPr sz="2700" b="1">
                <a:solidFill>
                  <a:srgbClr val="092B3D"/>
                </a:solidFill>
                <a:latin typeface="Arial"/>
                <a:ea typeface="Arial"/>
                <a:cs typeface="Arial"/>
              </a:defRPr>
            </a:pPr>
            <a:r>
              <a:rPr sz="2700" b="1">
                <a:solidFill>
                  <a:srgbClr val="092B3D"/>
                </a:solidFill>
                <a:latin typeface="Arial"/>
                <a:ea typeface="Arial"/>
                <a:cs typeface="Arial"/>
              </a:rPr>
              <a:t>“Tháng này chi nhiều</a:t>
            </a:r>
          </a:p>
          <a:p xmlns:a="http://schemas.openxmlformats.org/drawingml/2006/main">
            <a:pPr algn="l">
              <a:defRPr sz="2700" b="1">
                <a:solidFill>
                  <a:srgbClr val="092B3D"/>
                </a:solidFill>
                <a:latin typeface="Arial"/>
                <a:ea typeface="Arial"/>
                <a:cs typeface="Arial"/>
              </a:defRPr>
            </a:pPr>
            <a:r>
              <a:rPr sz="2700" b="1">
                <a:solidFill>
                  <a:srgbClr val="092B3D"/>
                </a:solidFill>
                <a:latin typeface="Arial"/>
                <a:ea typeface="Arial"/>
                <a:cs typeface="Arial"/>
              </a:rPr>
              <a:t>nhất ở đâu?”</a:t>
            </a:r>
          </a:p>
        </p:txBody>
      </p:sp>
      <p:sp>
        <p:nvSpPr>
          <p:cNvPr id="9" name="text-117">
            <a:extLst xmlns:a="http://schemas.openxmlformats.org/drawingml/2006/main">
              <a:ext uri="{FF2B5EF4-FFF2-40B4-BE49-F238E27FC236}">
                <a16:creationId xmlns:a16="http://schemas.microsoft.com/office/drawing/2014/main" id="{E952B6C7-BC5C-48BF-B97A-1CA44944F68A}"/>
              </a:ext>
            </a:extLst>
          </p:cNvPr>
          <p:cNvSpPr>
            <a:spLocks xmlns:a="http://schemas.openxmlformats.org/drawingml/2006/main" noGrp="1"/>
          </p:cNvSpPr>
          <p:nvPr/>
        </p:nvSpPr>
        <p:spPr>
          <a:xfrm xmlns:a="http://schemas.openxmlformats.org/drawingml/2006/main">
            <a:off x="609600" y="3105150"/>
            <a:ext cx="4095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A63"/>
                </a:solidFill>
                <a:latin typeface="Arial"/>
                <a:ea typeface="Arial"/>
                <a:cs typeface="Arial"/>
              </a:defRPr>
            </a:defPPr>
          </a:lstStyle>
          <a:p xmlns:a="http://schemas.openxmlformats.org/drawingml/2006/main">
            <a:pPr algn="l">
              <a:defRPr sz="2325" b="1">
                <a:solidFill>
                  <a:srgbClr val="008A63"/>
                </a:solidFill>
                <a:latin typeface="Arial"/>
                <a:ea typeface="Arial"/>
                <a:cs typeface="Arial"/>
              </a:defRPr>
            </a:pPr>
            <a:r>
              <a:rPr sz="2325" b="1">
                <a:solidFill>
                  <a:srgbClr val="008A63"/>
                </a:solidFill>
                <a:latin typeface="Arial"/>
                <a:ea typeface="Arial"/>
                <a:cs typeface="Arial"/>
              </a:rPr>
              <a:t>Ăn uống</a:t>
            </a:r>
          </a:p>
        </p:txBody>
      </p:sp>
      <p:sp>
        <p:nvSpPr>
          <p:cNvPr id="10" name="text-118">
            <a:extLst xmlns:a="http://schemas.openxmlformats.org/drawingml/2006/main">
              <a:ext uri="{FF2B5EF4-FFF2-40B4-BE49-F238E27FC236}">
                <a16:creationId xmlns:a16="http://schemas.microsoft.com/office/drawing/2014/main" id="{32284D07-6EC6-4A04-8628-73F95F0DB6DD}"/>
              </a:ext>
            </a:extLst>
          </p:cNvPr>
          <p:cNvSpPr>
            <a:spLocks xmlns:a="http://schemas.openxmlformats.org/drawingml/2006/main" noGrp="1"/>
          </p:cNvSpPr>
          <p:nvPr/>
        </p:nvSpPr>
        <p:spPr>
          <a:xfrm xmlns:a="http://schemas.openxmlformats.org/drawingml/2006/main">
            <a:off x="609600" y="3752850"/>
            <a:ext cx="4381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92B3D"/>
                </a:solidFill>
                <a:latin typeface="Arial"/>
                <a:ea typeface="Arial"/>
                <a:cs typeface="Arial"/>
              </a:defRPr>
            </a:defPPr>
          </a:lstStyle>
          <a:p xmlns:a="http://schemas.openxmlformats.org/drawingml/2006/main">
            <a:pPr algn="l">
              <a:defRPr sz="3900" b="1">
                <a:solidFill>
                  <a:srgbClr val="092B3D"/>
                </a:solidFill>
                <a:latin typeface="Arial"/>
                <a:ea typeface="Arial"/>
                <a:cs typeface="Arial"/>
              </a:defRPr>
            </a:pPr>
            <a:r>
              <a:rPr sz="3900" b="1">
                <a:solidFill>
                  <a:srgbClr val="092B3D"/>
                </a:solidFill>
                <a:latin typeface="Arial"/>
                <a:ea typeface="Arial"/>
                <a:cs typeface="Arial"/>
              </a:rPr>
              <a:t>250.000 đ</a:t>
            </a:r>
          </a:p>
        </p:txBody>
      </p:sp>
      <p:pic>
        <p:nvPicPr>
          <p:cNvPr id="11" name="">
            <a:extLst xmlns:a="http://schemas.openxmlformats.org/drawingml/2006/main">
              <a:ext uri="{FF2B5EF4-FFF2-40B4-BE49-F238E27FC236}">
                <a16:creationId xmlns:a16="http://schemas.microsoft.com/office/drawing/2014/main" id="{35335291-0DF0-4665-8504-11FB2A610D29}"/>
              </a:ext>
            </a:extLst>
          </p:cNvPr>
          <p:cNvPicPr>
            <a:picLocks xmlns:a="http://schemas.openxmlformats.org/drawingml/2006/main" noChangeAspect="1"/>
          </p:cNvPicPr>
          <p:nvPr/>
        </p:nvPicPr>
        <p:blipFill>
          <a:blip xmlns:r="http://schemas.openxmlformats.org/officeDocument/2006/relationships" xmlns:a="http://schemas.openxmlformats.org/drawingml/2006/main" r:embed="Rf5f7466fafac4d7e"/>
          <a:srcRect xmlns:a="http://schemas.openxmlformats.org/drawingml/2006/main" l="39300" t="32100" r="3500" b="29100"/>
          <a:stretch xmlns:a="http://schemas.openxmlformats.org/drawingml/2006/main"/>
        </p:blipFill>
        <p:spPr>
          <a:xfrm xmlns:a="http://schemas.openxmlformats.org/drawingml/2006/main">
            <a:off x="5382409" y="1733550"/>
            <a:ext cx="6018233" cy="2990850"/>
          </a:xfrm>
          <a:prstGeom xmlns:a="http://schemas.openxmlformats.org/drawingml/2006/main" prst="rect">
            <a:avLst/>
          </a:prstGeom>
        </p:spPr>
      </p:pic>
    </p:spTree>
    <p:extLst>
      <p:ext uri="{BB962C8B-B14F-4D97-AF65-F5344CB8AC3E}">
        <p14:creationId xmlns:p14="http://schemas.microsoft.com/office/powerpoint/2010/main" val="518192150"/>
      </p:ext>
    </p:extLst>
  </p:cSld>
</p:sld>
</file>

<file path=ppt/slides/slide16.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15" name="text-119">
            <a:extLst xmlns:a="http://schemas.openxmlformats.org/drawingml/2006/main">
              <a:ext uri="{FF2B5EF4-FFF2-40B4-BE49-F238E27FC236}">
                <a16:creationId xmlns:a16="http://schemas.microsoft.com/office/drawing/2014/main" id="{8A46A3D2-10A2-4556-B644-8AD35CA369A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2D5A1"/>
                </a:solidFill>
                <a:latin typeface="Arial"/>
                <a:ea typeface="Arial"/>
                <a:cs typeface="Arial"/>
              </a:defRPr>
            </a:defPPr>
          </a:lstStyle>
          <a:p xmlns:a="http://schemas.openxmlformats.org/drawingml/2006/main">
            <a:pPr algn="l">
              <a:defRPr sz="1350" b="1">
                <a:solidFill>
                  <a:srgbClr val="52D5A1"/>
                </a:solidFill>
                <a:latin typeface="Arial"/>
                <a:ea typeface="Arial"/>
                <a:cs typeface="Arial"/>
              </a:defRPr>
            </a:pPr>
            <a:r>
              <a:rPr sz="1350" b="1">
                <a:solidFill>
                  <a:srgbClr val="52D5A1"/>
                </a:solidFill>
                <a:latin typeface="Arial"/>
                <a:ea typeface="Arial"/>
                <a:cs typeface="Arial"/>
              </a:rPr>
              <a:t>CHATBOT VÀ KIỂM CHỨNG</a:t>
            </a:r>
          </a:p>
        </p:txBody>
      </p:sp>
      <p:sp>
        <p:nvSpPr>
          <p:cNvPr id="2" name="slide-title">
            <a:extLst xmlns:a="http://schemas.openxmlformats.org/drawingml/2006/main">
              <a:ext uri="{FF2B5EF4-FFF2-40B4-BE49-F238E27FC236}">
                <a16:creationId xmlns:a16="http://schemas.microsoft.com/office/drawing/2014/main" id="{C5F73941-A0C7-41AC-9254-33C07141CDEC}"/>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Kiểm chứng và hướng hoàn thiện</a:t>
            </a:r>
          </a:p>
        </p:txBody>
      </p:sp>
      <p:sp>
        <p:nvSpPr>
          <p:cNvPr id="3" name="text-120">
            <a:extLst xmlns:a="http://schemas.openxmlformats.org/drawingml/2006/main">
              <a:ext uri="{FF2B5EF4-FFF2-40B4-BE49-F238E27FC236}">
                <a16:creationId xmlns:a16="http://schemas.microsoft.com/office/drawing/2014/main" id="{759047EB-3AB2-4CAF-BD4F-2B3C4E4CE95C}"/>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2D5A1"/>
                </a:solidFill>
                <a:latin typeface="Arial"/>
                <a:ea typeface="Arial"/>
                <a:cs typeface="Arial"/>
              </a:defRPr>
            </a:defPPr>
          </a:lstStyle>
          <a:p xmlns:a="http://schemas.openxmlformats.org/drawingml/2006/main">
            <a:pPr algn="l">
              <a:defRPr sz="1275" b="1">
                <a:solidFill>
                  <a:srgbClr val="52D5A1"/>
                </a:solidFill>
                <a:latin typeface="Arial"/>
                <a:ea typeface="Arial"/>
                <a:cs typeface="Arial"/>
              </a:defRPr>
            </a:pPr>
            <a:r>
              <a:rPr sz="1275" b="1">
                <a:solidFill>
                  <a:srgbClr val="52D5A1"/>
                </a:solidFill>
                <a:latin typeface="Arial"/>
                <a:ea typeface="Arial"/>
                <a:cs typeface="Arial"/>
              </a:rPr>
              <a:t>LỜI THUYẾT TRÌNH</a:t>
            </a:r>
          </a:p>
        </p:txBody>
      </p:sp>
      <p:sp>
        <p:nvSpPr>
          <p:cNvPr id="4" name="visible-narration">
            <a:extLst xmlns:a="http://schemas.openxmlformats.org/drawingml/2006/main">
              <a:ext uri="{FF2B5EF4-FFF2-40B4-BE49-F238E27FC236}">
                <a16:creationId xmlns:a16="http://schemas.microsoft.com/office/drawing/2014/main" id="{916A1CA5-2FD5-42CD-9B4D-7EB7C364538A}"/>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E7DD"/>
                </a:solidFill>
                <a:latin typeface="Arial"/>
                <a:ea typeface="Arial"/>
                <a:cs typeface="Arial"/>
              </a:defRPr>
            </a:defPPr>
          </a:lstStyle>
          <a:p xmlns:a="http://schemas.openxmlformats.org/drawingml/2006/main">
            <a:pPr algn="l">
              <a:defRPr sz="1725" b="0">
                <a:solidFill>
                  <a:srgbClr val="CBE7DD"/>
                </a:solidFill>
                <a:latin typeface="Arial"/>
                <a:ea typeface="Arial"/>
                <a:cs typeface="Arial"/>
              </a:defRPr>
            </a:pPr>
            <a:r>
              <a:rPr sz="1725" b="0">
                <a:solidFill>
                  <a:srgbClr val="CBE7DD"/>
                </a:solidFill>
                <a:latin typeface="Arial"/>
                <a:ea typeface="Arial"/>
                <a:cs typeface="Arial"/>
              </a:rPr>
              <a:t>Nhóm kiểm tra phép tính, phân quyền và thao tác trên giao diện. Dữ liệu tổng hợp và việc chưa đánh giá với người dùng thực là những giới hạn cần tiếp tục mở rộng.</a:t>
            </a:r>
          </a:p>
        </p:txBody>
      </p:sp>
      <p:sp>
        <p:nvSpPr>
          <p:cNvPr id="5" name="text-121">
            <a:extLst xmlns:a="http://schemas.openxmlformats.org/drawingml/2006/main">
              <a:ext uri="{FF2B5EF4-FFF2-40B4-BE49-F238E27FC236}">
                <a16:creationId xmlns:a16="http://schemas.microsoft.com/office/drawing/2014/main" id="{C9C0038C-D9B0-49FB-BEA9-0F92140C70AE}"/>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BE7DD"/>
                </a:solidFill>
                <a:latin typeface="Arial"/>
                <a:ea typeface="Arial"/>
                <a:cs typeface="Arial"/>
              </a:defRPr>
            </a:defPPr>
          </a:lstStyle>
          <a:p xmlns:a="http://schemas.openxmlformats.org/drawingml/2006/main">
            <a:pPr algn="l">
              <a:defRPr sz="1350" b="0">
                <a:solidFill>
                  <a:srgbClr val="CBE7DD"/>
                </a:solidFill>
                <a:latin typeface="Arial"/>
                <a:ea typeface="Arial"/>
                <a:cs typeface="Arial"/>
              </a:defRPr>
            </a:pPr>
            <a:r>
              <a:rPr sz="1350" b="0">
                <a:solidFill>
                  <a:srgbClr val="CBE7DD"/>
                </a:solidFill>
                <a:latin typeface="Arial"/>
                <a:ea typeface="Arial"/>
                <a:cs typeface="Arial"/>
              </a:rPr>
              <a:t>Nguyễn Tùng Lâm</a:t>
            </a:r>
          </a:p>
        </p:txBody>
      </p:sp>
      <p:sp>
        <p:nvSpPr>
          <p:cNvPr id="6" name="text-122">
            <a:extLst xmlns:a="http://schemas.openxmlformats.org/drawingml/2006/main">
              <a:ext uri="{FF2B5EF4-FFF2-40B4-BE49-F238E27FC236}">
                <a16:creationId xmlns:a16="http://schemas.microsoft.com/office/drawing/2014/main" id="{B4710F7D-5F1E-449D-B6DE-75C774451B7C}"/>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2D5A1"/>
                </a:solidFill>
                <a:latin typeface="Arial"/>
                <a:ea typeface="Arial"/>
                <a:cs typeface="Arial"/>
              </a:defRPr>
            </a:defPPr>
          </a:lstStyle>
          <a:p xmlns:a="http://schemas.openxmlformats.org/drawingml/2006/main">
            <a:pPr algn="r">
              <a:defRPr sz="1350" b="1">
                <a:solidFill>
                  <a:srgbClr val="52D5A1"/>
                </a:solidFill>
                <a:latin typeface="Arial"/>
                <a:ea typeface="Arial"/>
                <a:cs typeface="Arial"/>
              </a:defRPr>
            </a:pPr>
            <a:r>
              <a:rPr sz="1350" b="1">
                <a:solidFill>
                  <a:srgbClr val="52D5A1"/>
                </a:solidFill>
                <a:latin typeface="Arial"/>
                <a:ea typeface="Arial"/>
                <a:cs typeface="Arial"/>
              </a:rPr>
              <a:t>16 / 17</a:t>
            </a:r>
          </a:p>
        </p:txBody>
      </p:sp>
      <p:sp>
        <p:nvSpPr>
          <p:cNvPr id="7" name="text-123">
            <a:extLst xmlns:a="http://schemas.openxmlformats.org/drawingml/2006/main">
              <a:ext uri="{FF2B5EF4-FFF2-40B4-BE49-F238E27FC236}">
                <a16:creationId xmlns:a16="http://schemas.microsoft.com/office/drawing/2014/main" id="{79A05DAD-25BB-4076-B7E4-683A604E4634}"/>
              </a:ext>
            </a:extLst>
          </p:cNvPr>
          <p:cNvSpPr>
            <a:spLocks xmlns:a="http://schemas.openxmlformats.org/drawingml/2006/main" noGrp="1"/>
          </p:cNvSpPr>
          <p:nvPr/>
        </p:nvSpPr>
        <p:spPr>
          <a:xfrm xmlns:a="http://schemas.openxmlformats.org/drawingml/2006/main">
            <a:off x="609600" y="49720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CBE7DD"/>
                </a:solidFill>
                <a:latin typeface="Arial"/>
                <a:ea typeface="Arial"/>
                <a:cs typeface="Arial"/>
              </a:defRPr>
            </a:defPPr>
          </a:lstStyle>
          <a:p xmlns:a="http://schemas.openxmlformats.org/drawingml/2006/main">
            <a:pPr algn="l">
              <a:defRPr sz="1275" b="0">
                <a:solidFill>
                  <a:srgbClr val="CBE7DD"/>
                </a:solidFill>
                <a:latin typeface="Arial"/>
                <a:ea typeface="Arial"/>
                <a:cs typeface="Arial"/>
              </a:defRPr>
            </a:pPr>
            <a:r>
              <a:rPr sz="1275" b="0">
                <a:solidFill>
                  <a:srgbClr val="CBE7DD"/>
                </a:solidFill>
                <a:latin typeface="Arial"/>
                <a:ea typeface="Arial"/>
                <a:cs typeface="Arial"/>
              </a:rPr>
              <a:t>Mốc ghi nhận: 14/10/2026. Một luồng Chrome Advisor được kiểm tra riêng.</a:t>
            </a:r>
          </a:p>
        </p:txBody>
      </p:sp>
      <p:sp>
        <p:nvSpPr>
          <p:cNvPr id="8" name="text-124">
            <a:extLst xmlns:a="http://schemas.openxmlformats.org/drawingml/2006/main">
              <a:ext uri="{FF2B5EF4-FFF2-40B4-BE49-F238E27FC236}">
                <a16:creationId xmlns:a16="http://schemas.microsoft.com/office/drawing/2014/main" id="{5B3068A6-4642-432B-A506-C810AF655FD6}"/>
              </a:ext>
            </a:extLst>
          </p:cNvPr>
          <p:cNvSpPr>
            <a:spLocks xmlns:a="http://schemas.openxmlformats.org/drawingml/2006/main" noGrp="1"/>
          </p:cNvSpPr>
          <p:nvPr/>
        </p:nvSpPr>
        <p:spPr>
          <a:xfrm xmlns:a="http://schemas.openxmlformats.org/drawingml/2006/main">
            <a:off x="609600" y="1704975"/>
            <a:ext cx="304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52D5A1"/>
                </a:solidFill>
                <a:latin typeface="Arial"/>
                <a:ea typeface="Arial"/>
                <a:cs typeface="Arial"/>
              </a:defRPr>
            </a:defPPr>
          </a:lstStyle>
          <a:p xmlns:a="http://schemas.openxmlformats.org/drawingml/2006/main">
            <a:pPr algn="l">
              <a:defRPr sz="6600" b="1">
                <a:solidFill>
                  <a:srgbClr val="52D5A1"/>
                </a:solidFill>
                <a:latin typeface="Arial"/>
                <a:ea typeface="Arial"/>
                <a:cs typeface="Arial"/>
              </a:defRPr>
            </a:pPr>
            <a:r>
              <a:rPr sz="6600" b="1">
                <a:solidFill>
                  <a:srgbClr val="52D5A1"/>
                </a:solidFill>
                <a:latin typeface="Arial"/>
                <a:ea typeface="Arial"/>
                <a:cs typeface="Arial"/>
              </a:rPr>
              <a:t>159</a:t>
            </a:r>
          </a:p>
        </p:txBody>
      </p:sp>
      <p:sp>
        <p:nvSpPr>
          <p:cNvPr id="9" name="text-125">
            <a:extLst xmlns:a="http://schemas.openxmlformats.org/drawingml/2006/main">
              <a:ext uri="{FF2B5EF4-FFF2-40B4-BE49-F238E27FC236}">
                <a16:creationId xmlns:a16="http://schemas.microsoft.com/office/drawing/2014/main" id="{473BD719-2802-4011-AAFC-819853A88FDB}"/>
              </a:ext>
            </a:extLst>
          </p:cNvPr>
          <p:cNvSpPr>
            <a:spLocks xmlns:a="http://schemas.openxmlformats.org/drawingml/2006/main" noGrp="1"/>
          </p:cNvSpPr>
          <p:nvPr/>
        </p:nvSpPr>
        <p:spPr>
          <a:xfrm xmlns:a="http://schemas.openxmlformats.org/drawingml/2006/main">
            <a:off x="609600" y="2943225"/>
            <a:ext cx="304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ca thuộc ba bộ</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kiểm thử tự động</a:t>
            </a:r>
          </a:p>
        </p:txBody>
      </p:sp>
      <p:sp>
        <p:nvSpPr>
          <p:cNvPr id="10" name="text-126">
            <a:extLst xmlns:a="http://schemas.openxmlformats.org/drawingml/2006/main">
              <a:ext uri="{FF2B5EF4-FFF2-40B4-BE49-F238E27FC236}">
                <a16:creationId xmlns:a16="http://schemas.microsoft.com/office/drawing/2014/main" id="{46179CB8-92B0-4F1A-9D4B-4936D8450E78}"/>
              </a:ext>
            </a:extLst>
          </p:cNvPr>
          <p:cNvSpPr>
            <a:spLocks xmlns:a="http://schemas.openxmlformats.org/drawingml/2006/main" noGrp="1"/>
          </p:cNvSpPr>
          <p:nvPr/>
        </p:nvSpPr>
        <p:spPr>
          <a:xfrm xmlns:a="http://schemas.openxmlformats.org/drawingml/2006/main">
            <a:off x="609600" y="4191000"/>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E7DD"/>
                </a:solidFill>
                <a:latin typeface="Arial"/>
                <a:ea typeface="Arial"/>
                <a:cs typeface="Arial"/>
              </a:defRPr>
            </a:defPPr>
          </a:lstStyle>
          <a:p xmlns:a="http://schemas.openxmlformats.org/drawingml/2006/main">
            <a:pPr algn="l">
              <a:defRPr sz="1875" b="0">
                <a:solidFill>
                  <a:srgbClr val="CBE7DD"/>
                </a:solidFill>
                <a:latin typeface="Arial"/>
                <a:ea typeface="Arial"/>
                <a:cs typeface="Arial"/>
              </a:defRPr>
            </a:pPr>
            <a:r>
              <a:rPr sz="1875" b="0">
                <a:solidFill>
                  <a:srgbClr val="CBE7DD"/>
                </a:solidFill>
                <a:latin typeface="Arial"/>
                <a:ea typeface="Arial"/>
                <a:cs typeface="Arial"/>
              </a:rPr>
              <a:t>Desktop và di động</a:t>
            </a:r>
          </a:p>
          <a:p xmlns:a="http://schemas.openxmlformats.org/drawingml/2006/main">
            <a:pPr algn="l">
              <a:defRPr sz="1875" b="0">
                <a:solidFill>
                  <a:srgbClr val="CBE7DD"/>
                </a:solidFill>
                <a:latin typeface="Arial"/>
                <a:ea typeface="Arial"/>
                <a:cs typeface="Arial"/>
              </a:defRPr>
            </a:pPr>
            <a:r>
              <a:rPr sz="1875" b="0">
                <a:solidFill>
                  <a:srgbClr val="CBE7DD"/>
                </a:solidFill>
                <a:latin typeface="Arial"/>
                <a:ea typeface="Arial"/>
                <a:cs typeface="Arial"/>
              </a:rPr>
              <a:t>Giao diện sáng và tối</a:t>
            </a:r>
          </a:p>
        </p:txBody>
      </p:sp>
      <p:graphicFrame>
        <p:nvGraphicFramePr>
          <p:cNvPr id="11" name="Chart">
            <a:extLst xmlns:a="http://schemas.openxmlformats.org/drawingml/2006/main">
              <a:ext uri="{FF2B5EF4-FFF2-40B4-BE49-F238E27FC236}">
                <a16:creationId xmlns:a16="http://schemas.microsoft.com/office/drawing/2014/main" id="{FA92A50B-A33A-4B02-B3B8-CA03BA5B577B}"/>
              </a:ext>
            </a:extLst>
          </p:cNvPr>
          <p:cNvGraphicFramePr/>
          <p:nvPr/>
        </p:nvGraphicFramePr>
        <p:xfrm>
          <a:off xmlns:a="http://schemas.openxmlformats.org/drawingml/2006/main" x="4143375" y="1838325"/>
          <a:ext xmlns:a="http://schemas.openxmlformats.org/drawingml/2006/main" cx="4476750" cy="2876550"/>
        </p:xfrm>
        <a:graphic xmlns:a="http://schemas.openxmlformats.org/drawingml/2006/main">
          <a:graphicData uri="http://schemas.openxmlformats.org/drawingml/2006/chart">
            <c:chart xmlns:r="http://schemas.openxmlformats.org/officeDocument/2006/relationships" xmlns:c="http://schemas.openxmlformats.org/drawingml/2006/chart" r:id="Rda940b53a24c4c98"/>
          </a:graphicData>
        </a:graphic>
      </p:graphicFrame>
      <p:sp>
        <p:nvSpPr>
          <p:cNvPr id="12" name="text-127">
            <a:extLst xmlns:a="http://schemas.openxmlformats.org/drawingml/2006/main">
              <a:ext uri="{FF2B5EF4-FFF2-40B4-BE49-F238E27FC236}">
                <a16:creationId xmlns:a16="http://schemas.microsoft.com/office/drawing/2014/main" id="{CF96F241-6002-4D62-9C0C-C12D3B88BCA4}"/>
              </a:ext>
            </a:extLst>
          </p:cNvPr>
          <p:cNvSpPr>
            <a:spLocks xmlns:a="http://schemas.openxmlformats.org/drawingml/2006/main" noGrp="1"/>
          </p:cNvSpPr>
          <p:nvPr/>
        </p:nvSpPr>
        <p:spPr>
          <a:xfrm xmlns:a="http://schemas.openxmlformats.org/drawingml/2006/main">
            <a:off x="9048750" y="18097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2D5A1"/>
                </a:solidFill>
                <a:latin typeface="Arial"/>
                <a:ea typeface="Arial"/>
                <a:cs typeface="Arial"/>
              </a:defRPr>
            </a:defPPr>
          </a:lstStyle>
          <a:p xmlns:a="http://schemas.openxmlformats.org/drawingml/2006/main">
            <a:pPr algn="l">
              <a:defRPr sz="2175" b="1">
                <a:solidFill>
                  <a:srgbClr val="52D5A1"/>
                </a:solidFill>
                <a:latin typeface="Arial"/>
                <a:ea typeface="Arial"/>
                <a:cs typeface="Arial"/>
              </a:defRPr>
            </a:pPr>
            <a:r>
              <a:rPr sz="2175" b="1">
                <a:solidFill>
                  <a:srgbClr val="52D5A1"/>
                </a:solidFill>
                <a:latin typeface="Arial"/>
                <a:ea typeface="Arial"/>
                <a:cs typeface="Arial"/>
              </a:rPr>
              <a:t>Cần mở rộng</a:t>
            </a:r>
          </a:p>
        </p:txBody>
      </p:sp>
      <p:sp>
        <p:nvSpPr>
          <p:cNvPr id="13" name="text-128">
            <a:extLst xmlns:a="http://schemas.openxmlformats.org/drawingml/2006/main">
              <a:ext uri="{FF2B5EF4-FFF2-40B4-BE49-F238E27FC236}">
                <a16:creationId xmlns:a16="http://schemas.microsoft.com/office/drawing/2014/main" id="{046D4CE8-5EAC-4B23-AF5D-F9647E408162}"/>
              </a:ext>
            </a:extLst>
          </p:cNvPr>
          <p:cNvSpPr>
            <a:spLocks xmlns:a="http://schemas.openxmlformats.org/drawingml/2006/main" noGrp="1"/>
          </p:cNvSpPr>
          <p:nvPr/>
        </p:nvSpPr>
        <p:spPr>
          <a:xfrm xmlns:a="http://schemas.openxmlformats.org/drawingml/2006/main">
            <a:off x="9048750" y="2533650"/>
            <a:ext cx="2533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Dữ liệu thực có</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sự cho phép</a:t>
            </a:r>
          </a:p>
        </p:txBody>
      </p:sp>
      <p:sp>
        <p:nvSpPr>
          <p:cNvPr id="14" name="text-129">
            <a:extLst xmlns:a="http://schemas.openxmlformats.org/drawingml/2006/main">
              <a:ext uri="{FF2B5EF4-FFF2-40B4-BE49-F238E27FC236}">
                <a16:creationId xmlns:a16="http://schemas.microsoft.com/office/drawing/2014/main" id="{97DE20F8-C5BC-44D8-A06E-26D2F6371512}"/>
              </a:ext>
            </a:extLst>
          </p:cNvPr>
          <p:cNvSpPr>
            <a:spLocks xmlns:a="http://schemas.openxmlformats.org/drawingml/2006/main" noGrp="1"/>
          </p:cNvSpPr>
          <p:nvPr/>
        </p:nvSpPr>
        <p:spPr>
          <a:xfrm xmlns:a="http://schemas.openxmlformats.org/drawingml/2006/main">
            <a:off x="9048750" y="3657600"/>
            <a:ext cx="2533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Đánh giá tư vấn</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và tải hệ thống</a:t>
            </a:r>
          </a:p>
        </p:txBody>
      </p:sp>
    </p:spTree>
    <p:extLst>
      <p:ext uri="{BB962C8B-B14F-4D97-AF65-F5344CB8AC3E}">
        <p14:creationId xmlns:p14="http://schemas.microsoft.com/office/powerpoint/2010/main" val="1962881489"/>
      </p:ext>
    </p:extLst>
  </p:cSld>
</p:sld>
</file>

<file path=ppt/slides/slide17.xml><?xml version="1.0" encoding="utf-8"?>
<p:sld xmlns:p="http://schemas.openxmlformats.org/presentationml/2006/main">
  <p:cSld>
    <p:bg>
      <p:bgPr>
        <a:solidFill xmlns:a="http://schemas.openxmlformats.org/drawingml/2006/main">
          <a:srgbClr val="072E37"/>
        </a:solidFill>
      </p:bgPr>
    </p:bg>
    <p:spTree>
      <p:nvGrpSpPr>
        <p:cNvPr id="1" name=""/>
        <p:cNvGrpSpPr/>
        <p:nvPr/>
      </p:nvGrpSpPr>
      <p:grpSpPr>
        <a:xfrm xmlns:a="http://schemas.openxmlformats.org/drawingml/2006/main"/>
      </p:grpSpPr>
      <p:sp>
        <p:nvSpPr>
          <p:cNvPr id="8" name="text-130">
            <a:extLst xmlns:a="http://schemas.openxmlformats.org/drawingml/2006/main">
              <a:ext uri="{FF2B5EF4-FFF2-40B4-BE49-F238E27FC236}">
                <a16:creationId xmlns:a16="http://schemas.microsoft.com/office/drawing/2014/main" id="{5CED6806-4856-4F46-8D07-9D345D7ED1B0}"/>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2D5A1"/>
                </a:solidFill>
                <a:latin typeface="Arial"/>
                <a:ea typeface="Arial"/>
                <a:cs typeface="Arial"/>
              </a:defRPr>
            </a:defPPr>
          </a:lstStyle>
          <a:p xmlns:a="http://schemas.openxmlformats.org/drawingml/2006/main">
            <a:pPr algn="l">
              <a:defRPr sz="1350" b="1">
                <a:solidFill>
                  <a:srgbClr val="52D5A1"/>
                </a:solidFill>
                <a:latin typeface="Arial"/>
                <a:ea typeface="Arial"/>
                <a:cs typeface="Arial"/>
              </a:defRPr>
            </a:pPr>
            <a:r>
              <a:rPr sz="1350" b="1">
                <a:solidFill>
                  <a:srgbClr val="52D5A1"/>
                </a:solidFill>
                <a:latin typeface="Arial"/>
                <a:ea typeface="Arial"/>
                <a:cs typeface="Arial"/>
              </a:rPr>
              <a:t>FINSIGHT AI</a:t>
            </a:r>
          </a:p>
        </p:txBody>
      </p:sp>
      <p:sp>
        <p:nvSpPr>
          <p:cNvPr id="2" name="text-131">
            <a:extLst xmlns:a="http://schemas.openxmlformats.org/drawingml/2006/main">
              <a:ext uri="{FF2B5EF4-FFF2-40B4-BE49-F238E27FC236}">
                <a16:creationId xmlns:a16="http://schemas.microsoft.com/office/drawing/2014/main" id="{2281F4B2-C860-478A-9FB5-A93900447BDE}"/>
              </a:ext>
            </a:extLst>
          </p:cNvPr>
          <p:cNvSpPr>
            <a:spLocks xmlns:a="http://schemas.openxmlformats.org/drawingml/2006/main" noGrp="1"/>
          </p:cNvSpPr>
          <p:nvPr/>
        </p:nvSpPr>
        <p:spPr>
          <a:xfrm xmlns:a="http://schemas.openxmlformats.org/drawingml/2006/main">
            <a:off x="609600" y="52768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52D5A1"/>
                </a:solidFill>
                <a:latin typeface="Arial"/>
                <a:ea typeface="Arial"/>
                <a:cs typeface="Arial"/>
              </a:defRPr>
            </a:defPPr>
          </a:lstStyle>
          <a:p xmlns:a="http://schemas.openxmlformats.org/drawingml/2006/main">
            <a:pPr algn="l">
              <a:defRPr sz="1275" b="1">
                <a:solidFill>
                  <a:srgbClr val="52D5A1"/>
                </a:solidFill>
                <a:latin typeface="Arial"/>
                <a:ea typeface="Arial"/>
                <a:cs typeface="Arial"/>
              </a:defRPr>
            </a:pPr>
            <a:r>
              <a:rPr sz="1275" b="1">
                <a:solidFill>
                  <a:srgbClr val="52D5A1"/>
                </a:solidFill>
                <a:latin typeface="Arial"/>
                <a:ea typeface="Arial"/>
                <a:cs typeface="Arial"/>
              </a:rPr>
              <a:t>LỜI THUYẾT TRÌNH</a:t>
            </a:r>
          </a:p>
        </p:txBody>
      </p:sp>
      <p:sp>
        <p:nvSpPr>
          <p:cNvPr id="3" name="visible-narration">
            <a:extLst xmlns:a="http://schemas.openxmlformats.org/drawingml/2006/main">
              <a:ext uri="{FF2B5EF4-FFF2-40B4-BE49-F238E27FC236}">
                <a16:creationId xmlns:a16="http://schemas.microsoft.com/office/drawing/2014/main" id="{A05236E0-7987-49C4-84B1-200F53331153}"/>
              </a:ext>
            </a:extLst>
          </p:cNvPr>
          <p:cNvSpPr>
            <a:spLocks xmlns:a="http://schemas.openxmlformats.org/drawingml/2006/main" noGrp="1"/>
          </p:cNvSpPr>
          <p:nvPr/>
        </p:nvSpPr>
        <p:spPr>
          <a:xfrm xmlns:a="http://schemas.openxmlformats.org/drawingml/2006/main">
            <a:off x="609600" y="5572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E7DD"/>
                </a:solidFill>
                <a:latin typeface="Arial"/>
                <a:ea typeface="Arial"/>
                <a:cs typeface="Arial"/>
              </a:defRPr>
            </a:defPPr>
          </a:lstStyle>
          <a:p xmlns:a="http://schemas.openxmlformats.org/drawingml/2006/main">
            <a:pPr algn="l">
              <a:defRPr sz="1725" b="0">
                <a:solidFill>
                  <a:srgbClr val="CBE7DD"/>
                </a:solidFill>
                <a:latin typeface="Arial"/>
                <a:ea typeface="Arial"/>
                <a:cs typeface="Arial"/>
              </a:defRPr>
            </a:pPr>
            <a:r>
              <a:rPr sz="1725" b="0">
                <a:solidFill>
                  <a:srgbClr val="CBE7DD"/>
                </a:solidFill>
                <a:latin typeface="Arial"/>
                <a:ea typeface="Arial"/>
                <a:cs typeface="Arial"/>
              </a:rPr>
              <a:t>Nhóm xin cảm ơn thầy cô và các bạn đã lắng nghe. Chúng em mong nhận được câu hỏi và góp ý để tiếp tục hoàn thiện FinSight AI.</a:t>
            </a:r>
          </a:p>
        </p:txBody>
      </p:sp>
      <p:sp>
        <p:nvSpPr>
          <p:cNvPr id="4" name="text-132">
            <a:extLst xmlns:a="http://schemas.openxmlformats.org/drawingml/2006/main">
              <a:ext uri="{FF2B5EF4-FFF2-40B4-BE49-F238E27FC236}">
                <a16:creationId xmlns:a16="http://schemas.microsoft.com/office/drawing/2014/main" id="{F96F17CC-E92A-49D8-8EF0-75155AC4FA35}"/>
              </a:ext>
            </a:extLst>
          </p:cNvPr>
          <p:cNvSpPr>
            <a:spLocks xmlns:a="http://schemas.openxmlformats.org/drawingml/2006/main" noGrp="1"/>
          </p:cNvSpPr>
          <p:nvPr/>
        </p:nvSpPr>
        <p:spPr>
          <a:xfrm xmlns:a="http://schemas.openxmlformats.org/drawingml/2006/main">
            <a:off x="609600" y="651510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BE7DD"/>
                </a:solidFill>
                <a:latin typeface="Arial"/>
                <a:ea typeface="Arial"/>
                <a:cs typeface="Arial"/>
              </a:defRPr>
            </a:defPPr>
          </a:lstStyle>
          <a:p xmlns:a="http://schemas.openxmlformats.org/drawingml/2006/main">
            <a:pPr algn="l">
              <a:defRPr sz="1350" b="0">
                <a:solidFill>
                  <a:srgbClr val="CBE7DD"/>
                </a:solidFill>
                <a:latin typeface="Arial"/>
                <a:ea typeface="Arial"/>
                <a:cs typeface="Arial"/>
              </a:defRPr>
            </a:pPr>
            <a:r>
              <a:rPr sz="1350" b="0">
                <a:solidFill>
                  <a:srgbClr val="CBE7DD"/>
                </a:solidFill>
                <a:latin typeface="Arial"/>
                <a:ea typeface="Arial"/>
                <a:cs typeface="Arial"/>
              </a:rPr>
              <a:t>Nhóm thực hiện FinSight AI</a:t>
            </a:r>
          </a:p>
        </p:txBody>
      </p:sp>
      <p:sp>
        <p:nvSpPr>
          <p:cNvPr id="5" name="text-133">
            <a:extLst xmlns:a="http://schemas.openxmlformats.org/drawingml/2006/main">
              <a:ext uri="{FF2B5EF4-FFF2-40B4-BE49-F238E27FC236}">
                <a16:creationId xmlns:a16="http://schemas.microsoft.com/office/drawing/2014/main" id="{2088E400-1209-4E32-95EE-DCD33D5712F8}"/>
              </a:ext>
            </a:extLst>
          </p:cNvPr>
          <p:cNvSpPr>
            <a:spLocks xmlns:a="http://schemas.openxmlformats.org/drawingml/2006/main" noGrp="1"/>
          </p:cNvSpPr>
          <p:nvPr/>
        </p:nvSpPr>
        <p:spPr>
          <a:xfrm xmlns:a="http://schemas.openxmlformats.org/drawingml/2006/main">
            <a:off x="10429875" y="6515100"/>
            <a:ext cx="1152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2D5A1"/>
                </a:solidFill>
                <a:latin typeface="Arial"/>
                <a:ea typeface="Arial"/>
                <a:cs typeface="Arial"/>
              </a:defRPr>
            </a:defPPr>
          </a:lstStyle>
          <a:p xmlns:a="http://schemas.openxmlformats.org/drawingml/2006/main">
            <a:pPr algn="r">
              <a:defRPr sz="1350" b="1">
                <a:solidFill>
                  <a:srgbClr val="52D5A1"/>
                </a:solidFill>
                <a:latin typeface="Arial"/>
                <a:ea typeface="Arial"/>
                <a:cs typeface="Arial"/>
              </a:defRPr>
            </a:pPr>
            <a:r>
              <a:rPr sz="1350" b="1">
                <a:solidFill>
                  <a:srgbClr val="52D5A1"/>
                </a:solidFill>
                <a:latin typeface="Arial"/>
                <a:ea typeface="Arial"/>
                <a:cs typeface="Arial"/>
              </a:rPr>
              <a:t>17 / 17</a:t>
            </a:r>
          </a:p>
        </p:txBody>
      </p:sp>
      <p:sp>
        <p:nvSpPr>
          <p:cNvPr id="6" name="text-134">
            <a:extLst xmlns:a="http://schemas.openxmlformats.org/drawingml/2006/main">
              <a:ext uri="{FF2B5EF4-FFF2-40B4-BE49-F238E27FC236}">
                <a16:creationId xmlns:a16="http://schemas.microsoft.com/office/drawing/2014/main" id="{520FCBE9-74C6-4979-A9C8-3F9F6B5AC642}"/>
              </a:ext>
            </a:extLst>
          </p:cNvPr>
          <p:cNvSpPr>
            <a:spLocks xmlns:a="http://schemas.openxmlformats.org/drawingml/2006/main" noGrp="1"/>
          </p:cNvSpPr>
          <p:nvPr/>
        </p:nvSpPr>
        <p:spPr>
          <a:xfrm xmlns:a="http://schemas.openxmlformats.org/drawingml/2006/main">
            <a:off x="1219200" y="1914525"/>
            <a:ext cx="97536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875" b="1">
                <a:solidFill>
                  <a:srgbClr val="FFFFFF"/>
                </a:solidFill>
                <a:latin typeface="Arial"/>
                <a:ea typeface="Arial"/>
                <a:cs typeface="Arial"/>
              </a:defRPr>
            </a:defPPr>
          </a:lstStyle>
          <a:p xmlns:a="http://schemas.openxmlformats.org/drawingml/2006/main">
            <a:pPr algn="ctr">
              <a:defRPr sz="4875" b="1">
                <a:solidFill>
                  <a:srgbClr val="FFFFFF"/>
                </a:solidFill>
                <a:latin typeface="Arial"/>
                <a:ea typeface="Arial"/>
                <a:cs typeface="Arial"/>
              </a:defRPr>
            </a:pPr>
            <a:r>
              <a:rPr sz="4875" b="1">
                <a:solidFill>
                  <a:srgbClr val="FFFFFF"/>
                </a:solidFill>
                <a:latin typeface="Arial"/>
                <a:ea typeface="Arial"/>
                <a:cs typeface="Arial"/>
              </a:rPr>
              <a:t>Cảm ơn thầy cô</a:t>
            </a:r>
          </a:p>
          <a:p xmlns:a="http://schemas.openxmlformats.org/drawingml/2006/main">
            <a:pPr algn="ctr">
              <a:defRPr sz="4875" b="1">
                <a:solidFill>
                  <a:srgbClr val="FFFFFF"/>
                </a:solidFill>
                <a:latin typeface="Arial"/>
                <a:ea typeface="Arial"/>
                <a:cs typeface="Arial"/>
              </a:defRPr>
            </a:pPr>
            <a:r>
              <a:rPr sz="4875" b="1">
                <a:solidFill>
                  <a:srgbClr val="FFFFFF"/>
                </a:solidFill>
                <a:latin typeface="Arial"/>
                <a:ea typeface="Arial"/>
                <a:cs typeface="Arial"/>
              </a:rPr>
              <a:t>và các bạn</a:t>
            </a:r>
          </a:p>
        </p:txBody>
      </p:sp>
      <p:sp>
        <p:nvSpPr>
          <p:cNvPr id="7" name="text-135">
            <a:extLst xmlns:a="http://schemas.openxmlformats.org/drawingml/2006/main">
              <a:ext uri="{FF2B5EF4-FFF2-40B4-BE49-F238E27FC236}">
                <a16:creationId xmlns:a16="http://schemas.microsoft.com/office/drawing/2014/main" id="{D9EF30EC-5123-4A4E-ADDE-F154A9043701}"/>
              </a:ext>
            </a:extLst>
          </p:cNvPr>
          <p:cNvSpPr>
            <a:spLocks xmlns:a="http://schemas.openxmlformats.org/drawingml/2006/main" noGrp="1"/>
          </p:cNvSpPr>
          <p:nvPr/>
        </p:nvSpPr>
        <p:spPr>
          <a:xfrm xmlns:a="http://schemas.openxmlformats.org/drawingml/2006/main">
            <a:off x="1219200" y="4029075"/>
            <a:ext cx="975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0">
                <a:solidFill>
                  <a:srgbClr val="52D5A1"/>
                </a:solidFill>
                <a:latin typeface="Arial"/>
                <a:ea typeface="Arial"/>
                <a:cs typeface="Arial"/>
              </a:defRPr>
            </a:defPPr>
          </a:lstStyle>
          <a:p xmlns:a="http://schemas.openxmlformats.org/drawingml/2006/main">
            <a:pPr algn="ctr">
              <a:defRPr sz="2325" b="0">
                <a:solidFill>
                  <a:srgbClr val="52D5A1"/>
                </a:solidFill>
                <a:latin typeface="Arial"/>
                <a:ea typeface="Arial"/>
                <a:cs typeface="Arial"/>
              </a:defRPr>
            </a:pPr>
            <a:r>
              <a:rPr sz="2325" b="0">
                <a:solidFill>
                  <a:srgbClr val="52D5A1"/>
                </a:solidFill>
                <a:latin typeface="Arial"/>
                <a:ea typeface="Arial"/>
                <a:cs typeface="Arial"/>
              </a:rPr>
              <a:t>Nhóm xin nhận câu hỏi và góp ý</a:t>
            </a:r>
          </a:p>
        </p:txBody>
      </p:sp>
    </p:spTree>
    <p:extLst>
      <p:ext uri="{BB962C8B-B14F-4D97-AF65-F5344CB8AC3E}">
        <p14:creationId xmlns:p14="http://schemas.microsoft.com/office/powerpoint/2010/main" val="1566874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2026-10-21T05:10:39.0980000Z</dcterms:created>
  <dcterms:modified xsi:type="dcterms:W3CDTF">2026-10-21T05:10:39.0980000Z</dcterms:modified>
</coreProperties>
</file>